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notesMasterIdLst>
    <p:notesMasterId r:id="rId4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notesMaster" Target="notesMasters/notesMaster1.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00000"/>
          </a:solidFill>
          <a:ln/>
        </p:spPr>
      </p:sp>
      <p:sp>
        <p:nvSpPr>
          <p:cNvPr id="3" name="Shape 1"/>
          <p:cNvSpPr/>
          <p:nvPr/>
        </p:nvSpPr>
        <p:spPr>
          <a:xfrm>
            <a:off x="0" y="4480560"/>
            <a:ext cx="9144000" cy="667512"/>
          </a:xfrm>
          <a:prstGeom prst="rect">
            <a:avLst/>
          </a:prstGeom>
          <a:solidFill>
            <a:srgbClr val="16241C"/>
          </a:solidFill>
          <a:ln w="12700">
            <a:solidFill>
              <a:srgbClr val="16241C"/>
            </a:solidFill>
            <a:prstDash val="solid"/>
          </a:ln>
        </p:spPr>
      </p:sp>
      <p:sp>
        <p:nvSpPr>
          <p:cNvPr id="4" name="Text 2"/>
          <p:cNvSpPr/>
          <p:nvPr/>
        </p:nvSpPr>
        <p:spPr>
          <a:xfrm>
            <a:off x="502920" y="1371600"/>
            <a:ext cx="8138160" cy="640080"/>
          </a:xfrm>
          <a:prstGeom prst="rect">
            <a:avLst/>
          </a:prstGeom>
          <a:noFill/>
          <a:ln/>
        </p:spPr>
        <p:txBody>
          <a:bodyPr wrap="square" rtlCol="0" anchor="ctr"/>
          <a:lstStyle/>
          <a:p>
            <a:pPr indent="0" marL="0">
              <a:buNone/>
            </a:pPr>
            <a:r>
              <a:rPr lang="en-US" sz="4000" spc="300" kern="0" dirty="0">
                <a:solidFill>
                  <a:srgbClr val="EDE6DA"/>
                </a:solidFill>
                <a:latin typeface="Century Gothic" pitchFamily="34" charset="0"/>
                <a:ea typeface="Century Gothic" pitchFamily="34" charset="-122"/>
                <a:cs typeface="Century Gothic" pitchFamily="34" charset="-120"/>
              </a:rPr>
              <a:t>L&amp;K WELLNESS</a:t>
            </a:r>
            <a:endParaRPr lang="en-US" sz="4000" dirty="0"/>
          </a:p>
        </p:txBody>
      </p:sp>
      <p:sp>
        <p:nvSpPr>
          <p:cNvPr id="5" name="Shape 3"/>
          <p:cNvSpPr/>
          <p:nvPr/>
        </p:nvSpPr>
        <p:spPr>
          <a:xfrm>
            <a:off x="502920" y="2121408"/>
            <a:ext cx="822960" cy="41148"/>
          </a:xfrm>
          <a:prstGeom prst="rect">
            <a:avLst/>
          </a:prstGeom>
          <a:solidFill>
            <a:srgbClr val="C08D7C"/>
          </a:solidFill>
          <a:ln w="12700">
            <a:solidFill>
              <a:srgbClr val="C08D7C"/>
            </a:solidFill>
            <a:prstDash val="solid"/>
          </a:ln>
        </p:spPr>
      </p:sp>
      <p:sp>
        <p:nvSpPr>
          <p:cNvPr id="6" name="Text 4"/>
          <p:cNvSpPr/>
          <p:nvPr/>
        </p:nvSpPr>
        <p:spPr>
          <a:xfrm>
            <a:off x="502920" y="2331720"/>
            <a:ext cx="8138160" cy="411480"/>
          </a:xfrm>
          <a:prstGeom prst="rect">
            <a:avLst/>
          </a:prstGeom>
          <a:noFill/>
          <a:ln/>
        </p:spPr>
        <p:txBody>
          <a:bodyPr wrap="square" rtlCol="0" anchor="ctr"/>
          <a:lstStyle/>
          <a:p>
            <a:pPr indent="0" marL="0">
              <a:buNone/>
            </a:pPr>
            <a:r>
              <a:rPr lang="en-US" sz="2000" dirty="0">
                <a:solidFill>
                  <a:srgbClr val="EDE6DA"/>
                </a:solidFill>
                <a:latin typeface="Century Gothic" pitchFamily="34" charset="0"/>
                <a:ea typeface="Century Gothic" pitchFamily="34" charset="-122"/>
                <a:cs typeface="Century Gothic" pitchFamily="34" charset="-120"/>
              </a:rPr>
              <a:t>A licensed clinic inside a private club.</a:t>
            </a:r>
            <a:endParaRPr lang="en-US" sz="2000" dirty="0"/>
          </a:p>
        </p:txBody>
      </p:sp>
      <p:sp>
        <p:nvSpPr>
          <p:cNvPr id="7" name="Text 5"/>
          <p:cNvSpPr/>
          <p:nvPr/>
        </p:nvSpPr>
        <p:spPr>
          <a:xfrm>
            <a:off x="502920" y="2788920"/>
            <a:ext cx="6510528" cy="457200"/>
          </a:xfrm>
          <a:prstGeom prst="rect">
            <a:avLst/>
          </a:prstGeom>
          <a:noFill/>
          <a:ln/>
        </p:spPr>
        <p:txBody>
          <a:bodyPr wrap="square" rtlCol="0" anchor="ctr"/>
          <a:lstStyle/>
          <a:p>
            <a:pPr indent="0" marL="0">
              <a:buNone/>
            </a:pPr>
            <a:r>
              <a:rPr lang="en-US" sz="1250" dirty="0">
                <a:solidFill>
                  <a:srgbClr val="C08D7C"/>
                </a:solidFill>
                <a:latin typeface="Calibri" pitchFamily="34" charset="0"/>
                <a:ea typeface="Calibri" pitchFamily="34" charset="-122"/>
                <a:cs typeface="Calibri" pitchFamily="34" charset="-120"/>
              </a:rPr>
              <a:t>The medicine is open to everyone. The room you want to stay in is members only.</a:t>
            </a:r>
            <a:endParaRPr lang="en-US" sz="1250" dirty="0"/>
          </a:p>
        </p:txBody>
      </p:sp>
      <p:sp>
        <p:nvSpPr>
          <p:cNvPr id="8" name="Text 6"/>
          <p:cNvSpPr/>
          <p:nvPr/>
        </p:nvSpPr>
        <p:spPr>
          <a:xfrm>
            <a:off x="502920" y="3429000"/>
            <a:ext cx="8138160" cy="274320"/>
          </a:xfrm>
          <a:prstGeom prst="rect">
            <a:avLst/>
          </a:prstGeom>
          <a:noFill/>
          <a:ln/>
        </p:spPr>
        <p:txBody>
          <a:bodyPr wrap="square" rtlCol="0" anchor="ctr"/>
          <a:lstStyle/>
          <a:p>
            <a:pPr indent="0" marL="0">
              <a:buNone/>
            </a:pPr>
            <a:r>
              <a:rPr lang="en-US" sz="1050" dirty="0">
                <a:solidFill>
                  <a:srgbClr val="A8A296"/>
                </a:solidFill>
                <a:latin typeface="Calibri" pitchFamily="34" charset="0"/>
                <a:ea typeface="Calibri" pitchFamily="34" charset="-122"/>
                <a:cs typeface="Calibri" pitchFamily="34" charset="-120"/>
              </a:rPr>
              <a:t>Playa Vista, California   ·   5,825 SF   ·   Est. 2026   ·   Surgical · $2.0M private case, $5.3M project</a:t>
            </a:r>
            <a:endParaRPr lang="en-US" sz="1050" dirty="0"/>
          </a:p>
        </p:txBody>
      </p:sp>
      <p:sp>
        <p:nvSpPr>
          <p:cNvPr id="9" name="Text 7"/>
          <p:cNvSpPr/>
          <p:nvPr/>
        </p:nvSpPr>
        <p:spPr>
          <a:xfrm>
            <a:off x="502920" y="4645152"/>
            <a:ext cx="8138160" cy="274320"/>
          </a:xfrm>
          <a:prstGeom prst="rect">
            <a:avLst/>
          </a:prstGeom>
          <a:noFill/>
          <a:ln/>
        </p:spPr>
        <p:txBody>
          <a:bodyPr wrap="square" rtlCol="0" anchor="ctr"/>
          <a:lstStyle/>
          <a:p>
            <a:pPr indent="0" marL="0">
              <a:buNone/>
            </a:pPr>
            <a:r>
              <a:rPr lang="en-US" sz="800" spc="200" kern="0" dirty="0">
                <a:solidFill>
                  <a:srgbClr val="A8A296"/>
                </a:solidFill>
                <a:latin typeface="Century Gothic" pitchFamily="34" charset="0"/>
                <a:ea typeface="Century Gothic" pitchFamily="34" charset="-122"/>
                <a:cs typeface="Century Gothic" pitchFamily="34" charset="-120"/>
              </a:rPr>
              <a:t>CONFIDENTIAL  ·  INVESTOR AND SBA BRIEF  ·  FOR QUALIFIED RECIPIENTS ONLY</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THE PROBLEM</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Wellness on the Westside is fragmented.</a:t>
            </a:r>
            <a:endParaRPr lang="en-US" sz="2600" dirty="0"/>
          </a:p>
        </p:txBody>
      </p:sp>
      <p:sp>
        <p:nvSpPr>
          <p:cNvPr id="4" name="Text 2"/>
          <p:cNvSpPr/>
          <p:nvPr/>
        </p:nvSpPr>
        <p:spPr>
          <a:xfrm>
            <a:off x="502920" y="1097280"/>
            <a:ext cx="8138160" cy="457200"/>
          </a:xfrm>
          <a:prstGeom prst="rect">
            <a:avLst/>
          </a:prstGeom>
          <a:noFill/>
          <a:ln/>
        </p:spPr>
        <p:txBody>
          <a:bodyPr wrap="square" rtlCol="0" anchor="t"/>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A patient optimizing their health today visits a medspa for injectables, a recovery studio for cold plunge, a longevity clinic for labs, and a concierge doctor for hormones. Four intakes, four records, four bills. Not one of them is somewhere you would choose to spend a Saturday morning.</a:t>
            </a:r>
            <a:endParaRPr lang="en-US" sz="1150" dirty="0"/>
          </a:p>
        </p:txBody>
      </p:sp>
      <p:sp>
        <p:nvSpPr>
          <p:cNvPr id="5" name="Shape 3"/>
          <p:cNvSpPr/>
          <p:nvPr/>
        </p:nvSpPr>
        <p:spPr>
          <a:xfrm>
            <a:off x="502920" y="2286000"/>
            <a:ext cx="2602992" cy="1554480"/>
          </a:xfrm>
          <a:prstGeom prst="roundRect">
            <a:avLst>
              <a:gd name="adj" fmla="val 3529"/>
            </a:avLst>
          </a:prstGeom>
          <a:solidFill>
            <a:srgbClr val="16241C"/>
          </a:solidFill>
          <a:ln w="12700">
            <a:solidFill>
              <a:srgbClr val="2E4237"/>
            </a:solidFill>
            <a:prstDash val="solid"/>
          </a:ln>
        </p:spPr>
      </p:sp>
      <p:sp>
        <p:nvSpPr>
          <p:cNvPr id="6" name="Text 4"/>
          <p:cNvSpPr/>
          <p:nvPr/>
        </p:nvSpPr>
        <p:spPr>
          <a:xfrm>
            <a:off x="649224" y="2414016"/>
            <a:ext cx="2310384" cy="420624"/>
          </a:xfrm>
          <a:prstGeom prst="rect">
            <a:avLst/>
          </a:prstGeom>
          <a:noFill/>
          <a:ln/>
        </p:spPr>
        <p:txBody>
          <a:bodyPr wrap="square" rtlCol="0" anchor="ctr"/>
          <a:lstStyle/>
          <a:p>
            <a:pPr indent="0" marL="0">
              <a:buNone/>
            </a:pPr>
            <a:r>
              <a:rPr lang="en-US" sz="2000" dirty="0">
                <a:solidFill>
                  <a:srgbClr val="C08D7C"/>
                </a:solidFill>
                <a:latin typeface="Century Gothic" pitchFamily="34" charset="0"/>
                <a:ea typeface="Century Gothic" pitchFamily="34" charset="-122"/>
                <a:cs typeface="Century Gothic" pitchFamily="34" charset="-120"/>
              </a:rPr>
              <a:t>4+</a:t>
            </a:r>
            <a:endParaRPr lang="en-US" sz="2000" dirty="0"/>
          </a:p>
        </p:txBody>
      </p:sp>
      <p:sp>
        <p:nvSpPr>
          <p:cNvPr id="7" name="Text 5"/>
          <p:cNvSpPr/>
          <p:nvPr/>
        </p:nvSpPr>
        <p:spPr>
          <a:xfrm>
            <a:off x="649224" y="2852928"/>
            <a:ext cx="2310384" cy="859536"/>
          </a:xfrm>
          <a:prstGeom prst="rect">
            <a:avLst/>
          </a:prstGeom>
          <a:noFill/>
          <a:ln/>
        </p:spPr>
        <p:txBody>
          <a:bodyPr wrap="square" rtlCol="0" anchor="t"/>
          <a:lstStyle/>
          <a:p>
            <a:pPr indent="0" marL="0">
              <a:lnSpc>
                <a:spcPct val="115000"/>
              </a:lnSpc>
              <a:buNone/>
            </a:pPr>
            <a:r>
              <a:rPr lang="en-US" sz="900" dirty="0">
                <a:solidFill>
                  <a:srgbClr val="A8A296"/>
                </a:solidFill>
                <a:latin typeface="Calibri" pitchFamily="34" charset="0"/>
                <a:ea typeface="Calibri" pitchFamily="34" charset="-122"/>
                <a:cs typeface="Calibri" pitchFamily="34" charset="-120"/>
              </a:rPr>
              <a:t>Separate providers a patient coordinates for care that belongs in one building.</a:t>
            </a:r>
            <a:endParaRPr lang="en-US" sz="900" dirty="0"/>
          </a:p>
        </p:txBody>
      </p:sp>
      <p:sp>
        <p:nvSpPr>
          <p:cNvPr id="8" name="Shape 6"/>
          <p:cNvSpPr/>
          <p:nvPr/>
        </p:nvSpPr>
        <p:spPr>
          <a:xfrm>
            <a:off x="3270504" y="2286000"/>
            <a:ext cx="2602992" cy="1554480"/>
          </a:xfrm>
          <a:prstGeom prst="roundRect">
            <a:avLst>
              <a:gd name="adj" fmla="val 3529"/>
            </a:avLst>
          </a:prstGeom>
          <a:solidFill>
            <a:srgbClr val="16241C"/>
          </a:solidFill>
          <a:ln w="12700">
            <a:solidFill>
              <a:srgbClr val="2E4237"/>
            </a:solidFill>
            <a:prstDash val="solid"/>
          </a:ln>
        </p:spPr>
      </p:sp>
      <p:sp>
        <p:nvSpPr>
          <p:cNvPr id="9" name="Text 7"/>
          <p:cNvSpPr/>
          <p:nvPr/>
        </p:nvSpPr>
        <p:spPr>
          <a:xfrm>
            <a:off x="3416808" y="2414016"/>
            <a:ext cx="2310384" cy="420624"/>
          </a:xfrm>
          <a:prstGeom prst="rect">
            <a:avLst/>
          </a:prstGeom>
          <a:noFill/>
          <a:ln/>
        </p:spPr>
        <p:txBody>
          <a:bodyPr wrap="square" rtlCol="0" anchor="ctr"/>
          <a:lstStyle/>
          <a:p>
            <a:pPr indent="0" marL="0">
              <a:buNone/>
            </a:pPr>
            <a:r>
              <a:rPr lang="en-US" sz="2000" dirty="0">
                <a:solidFill>
                  <a:srgbClr val="C08D7C"/>
                </a:solidFill>
                <a:latin typeface="Century Gothic" pitchFamily="34" charset="0"/>
                <a:ea typeface="Century Gothic" pitchFamily="34" charset="-122"/>
                <a:cs typeface="Century Gothic" pitchFamily="34" charset="-120"/>
              </a:rPr>
              <a:t>24 of 30</a:t>
            </a:r>
            <a:endParaRPr lang="en-US" sz="2000" dirty="0"/>
          </a:p>
        </p:txBody>
      </p:sp>
      <p:sp>
        <p:nvSpPr>
          <p:cNvPr id="10" name="Text 8"/>
          <p:cNvSpPr/>
          <p:nvPr/>
        </p:nvSpPr>
        <p:spPr>
          <a:xfrm>
            <a:off x="3416808" y="2852928"/>
            <a:ext cx="2310384" cy="859536"/>
          </a:xfrm>
          <a:prstGeom prst="rect">
            <a:avLst/>
          </a:prstGeom>
          <a:noFill/>
          <a:ln/>
        </p:spPr>
        <p:txBody>
          <a:bodyPr wrap="square" rtlCol="0" anchor="t"/>
          <a:lstStyle/>
          <a:p>
            <a:pPr indent="0" marL="0">
              <a:lnSpc>
                <a:spcPct val="115000"/>
              </a:lnSpc>
              <a:buNone/>
            </a:pPr>
            <a:r>
              <a:rPr lang="en-US" sz="900" dirty="0">
                <a:solidFill>
                  <a:srgbClr val="A8A296"/>
                </a:solidFill>
                <a:latin typeface="Calibri" pitchFamily="34" charset="0"/>
                <a:ea typeface="Calibri" pitchFamily="34" charset="-122"/>
                <a:cs typeface="Calibri" pitchFamily="34" charset="-120"/>
              </a:rPr>
              <a:t>Services on the L&amp;K menu that require a physician, nurse practitioner or nurse. A recovery studio without a physician can offer 6.</a:t>
            </a:r>
            <a:endParaRPr lang="en-US" sz="900" dirty="0"/>
          </a:p>
        </p:txBody>
      </p:sp>
      <p:sp>
        <p:nvSpPr>
          <p:cNvPr id="11" name="Shape 9"/>
          <p:cNvSpPr/>
          <p:nvPr/>
        </p:nvSpPr>
        <p:spPr>
          <a:xfrm>
            <a:off x="6038088" y="2286000"/>
            <a:ext cx="2602992" cy="1554480"/>
          </a:xfrm>
          <a:prstGeom prst="roundRect">
            <a:avLst>
              <a:gd name="adj" fmla="val 3529"/>
            </a:avLst>
          </a:prstGeom>
          <a:solidFill>
            <a:srgbClr val="16241C"/>
          </a:solidFill>
          <a:ln w="12700">
            <a:solidFill>
              <a:srgbClr val="2E4237"/>
            </a:solidFill>
            <a:prstDash val="solid"/>
          </a:ln>
        </p:spPr>
      </p:sp>
      <p:sp>
        <p:nvSpPr>
          <p:cNvPr id="12" name="Text 10"/>
          <p:cNvSpPr/>
          <p:nvPr/>
        </p:nvSpPr>
        <p:spPr>
          <a:xfrm>
            <a:off x="6184392" y="2414016"/>
            <a:ext cx="2310384" cy="420624"/>
          </a:xfrm>
          <a:prstGeom prst="rect">
            <a:avLst/>
          </a:prstGeom>
          <a:noFill/>
          <a:ln/>
        </p:spPr>
        <p:txBody>
          <a:bodyPr wrap="square" rtlCol="0" anchor="ctr"/>
          <a:lstStyle/>
          <a:p>
            <a:pPr indent="0" marL="0">
              <a:buNone/>
            </a:pPr>
            <a:r>
              <a:rPr lang="en-US" sz="2000" dirty="0">
                <a:solidFill>
                  <a:srgbClr val="C08D7C"/>
                </a:solidFill>
                <a:latin typeface="Century Gothic" pitchFamily="34" charset="0"/>
                <a:ea typeface="Century Gothic" pitchFamily="34" charset="-122"/>
                <a:cs typeface="Century Gothic" pitchFamily="34" charset="-120"/>
              </a:rPr>
              <a:t>10,488</a:t>
            </a:r>
            <a:endParaRPr lang="en-US" sz="2000" dirty="0"/>
          </a:p>
        </p:txBody>
      </p:sp>
      <p:sp>
        <p:nvSpPr>
          <p:cNvPr id="13" name="Text 11"/>
          <p:cNvSpPr/>
          <p:nvPr/>
        </p:nvSpPr>
        <p:spPr>
          <a:xfrm>
            <a:off x="6184392" y="2852928"/>
            <a:ext cx="2310384" cy="859536"/>
          </a:xfrm>
          <a:prstGeom prst="rect">
            <a:avLst/>
          </a:prstGeom>
          <a:noFill/>
          <a:ln/>
        </p:spPr>
        <p:txBody>
          <a:bodyPr wrap="square" rtlCol="0" anchor="t"/>
          <a:lstStyle/>
          <a:p>
            <a:pPr indent="0" marL="0">
              <a:lnSpc>
                <a:spcPct val="115000"/>
              </a:lnSpc>
              <a:buNone/>
            </a:pPr>
            <a:r>
              <a:rPr lang="en-US" sz="900" dirty="0">
                <a:solidFill>
                  <a:srgbClr val="A8A296"/>
                </a:solidFill>
                <a:latin typeface="Calibri" pitchFamily="34" charset="0"/>
                <a:ea typeface="Calibri" pitchFamily="34" charset="-122"/>
                <a:cs typeface="Calibri" pitchFamily="34" charset="-120"/>
              </a:rPr>
              <a:t>US medical spas as of 2023, up from 8,899 the year before. The category is commoditizing on treatment alone.</a:t>
            </a:r>
            <a:endParaRPr lang="en-US" sz="900" dirty="0"/>
          </a:p>
        </p:txBody>
      </p:sp>
      <p:sp>
        <p:nvSpPr>
          <p:cNvPr id="14" name="Text 12"/>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 $2.0M PRIVATE CASE  ·  CONFIDENTIAL</a:t>
            </a:r>
            <a:endParaRPr lang="en-US" sz="700" dirty="0"/>
          </a:p>
        </p:txBody>
      </p:sp>
      <p:sp>
        <p:nvSpPr>
          <p:cNvPr id="15" name="Text 13"/>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2</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THE INSIGHT</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Others proved the format.</a:t>
            </a:r>
            <a:endParaRPr lang="en-US" sz="2600" dirty="0"/>
          </a:p>
        </p:txBody>
      </p:sp>
      <p:sp>
        <p:nvSpPr>
          <p:cNvPr id="4" name="Text 2"/>
          <p:cNvSpPr/>
          <p:nvPr/>
        </p:nvSpPr>
        <p:spPr>
          <a:xfrm>
            <a:off x="502920" y="1097280"/>
            <a:ext cx="8138160" cy="457200"/>
          </a:xfrm>
          <a:prstGeom prst="rect">
            <a:avLst/>
          </a:prstGeom>
          <a:noFill/>
          <a:ln/>
        </p:spPr>
        <p:txBody>
          <a:bodyPr wrap="square" rtlCol="0" anchor="t"/>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Only a licensed facility can deliver it.</a:t>
            </a:r>
            <a:endParaRPr lang="en-US" sz="1150" dirty="0"/>
          </a:p>
        </p:txBody>
      </p:sp>
      <p:sp>
        <p:nvSpPr>
          <p:cNvPr id="5" name="Shape 3"/>
          <p:cNvSpPr/>
          <p:nvPr/>
        </p:nvSpPr>
        <p:spPr>
          <a:xfrm>
            <a:off x="502920" y="1463040"/>
            <a:ext cx="3986784" cy="1371600"/>
          </a:xfrm>
          <a:prstGeom prst="roundRect">
            <a:avLst>
              <a:gd name="adj" fmla="val 4000"/>
            </a:avLst>
          </a:prstGeom>
          <a:solidFill>
            <a:srgbClr val="16241C"/>
          </a:solidFill>
          <a:ln w="12700">
            <a:solidFill>
              <a:srgbClr val="2E4237"/>
            </a:solidFill>
            <a:prstDash val="solid"/>
          </a:ln>
        </p:spPr>
      </p:sp>
      <p:sp>
        <p:nvSpPr>
          <p:cNvPr id="6" name="Text 4"/>
          <p:cNvSpPr/>
          <p:nvPr/>
        </p:nvSpPr>
        <p:spPr>
          <a:xfrm>
            <a:off x="649224" y="1591056"/>
            <a:ext cx="3694176" cy="420624"/>
          </a:xfrm>
          <a:prstGeom prst="rect">
            <a:avLst/>
          </a:prstGeom>
          <a:noFill/>
          <a:ln/>
        </p:spPr>
        <p:txBody>
          <a:bodyPr wrap="square" rtlCol="0" anchor="ctr"/>
          <a:lstStyle/>
          <a:p>
            <a:pPr indent="0" marL="0">
              <a:buNone/>
            </a:pPr>
            <a:r>
              <a:rPr lang="en-US" sz="2000" dirty="0">
                <a:solidFill>
                  <a:srgbClr val="C08D7C"/>
                </a:solidFill>
                <a:latin typeface="Century Gothic" pitchFamily="34" charset="0"/>
                <a:ea typeface="Century Gothic" pitchFamily="34" charset="-122"/>
                <a:cs typeface="Century Gothic" pitchFamily="34" charset="-120"/>
              </a:rPr>
              <a:t>Remedy Place</a:t>
            </a:r>
            <a:endParaRPr lang="en-US" sz="2000" dirty="0"/>
          </a:p>
        </p:txBody>
      </p:sp>
      <p:sp>
        <p:nvSpPr>
          <p:cNvPr id="7" name="Text 5"/>
          <p:cNvSpPr/>
          <p:nvPr/>
        </p:nvSpPr>
        <p:spPr>
          <a:xfrm>
            <a:off x="649224" y="2029968"/>
            <a:ext cx="3694176" cy="676656"/>
          </a:xfrm>
          <a:prstGeom prst="rect">
            <a:avLst/>
          </a:prstGeom>
          <a:noFill/>
          <a:ln/>
        </p:spPr>
        <p:txBody>
          <a:bodyPr wrap="square" rtlCol="0" anchor="t"/>
          <a:lstStyle/>
          <a:p>
            <a:pPr indent="0" marL="0">
              <a:lnSpc>
                <a:spcPct val="115000"/>
              </a:lnSpc>
              <a:buNone/>
            </a:pPr>
            <a:r>
              <a:rPr lang="en-US" sz="900" dirty="0">
                <a:solidFill>
                  <a:srgbClr val="A8A296"/>
                </a:solidFill>
                <a:latin typeface="Calibri" pitchFamily="34" charset="0"/>
                <a:ea typeface="Calibri" pitchFamily="34" charset="-122"/>
                <a:cs typeface="Calibri" pitchFamily="34" charset="-120"/>
              </a:rPr>
              <a:t>Where a non-medical operator stops. No physician on site means no PRP, no IV therapy, no neuromodulators, no filler, no laser. Not features they skipped: the other side of a licensing threshold.</a:t>
            </a:r>
            <a:endParaRPr lang="en-US" sz="900" dirty="0"/>
          </a:p>
        </p:txBody>
      </p:sp>
      <p:sp>
        <p:nvSpPr>
          <p:cNvPr id="8" name="Shape 6"/>
          <p:cNvSpPr/>
          <p:nvPr/>
        </p:nvSpPr>
        <p:spPr>
          <a:xfrm>
            <a:off x="4654296" y="1463040"/>
            <a:ext cx="3986784" cy="1371600"/>
          </a:xfrm>
          <a:prstGeom prst="roundRect">
            <a:avLst>
              <a:gd name="adj" fmla="val 4000"/>
            </a:avLst>
          </a:prstGeom>
          <a:solidFill>
            <a:srgbClr val="16241C"/>
          </a:solidFill>
          <a:ln w="12700">
            <a:solidFill>
              <a:srgbClr val="2E4237"/>
            </a:solidFill>
            <a:prstDash val="solid"/>
          </a:ln>
        </p:spPr>
      </p:sp>
      <p:sp>
        <p:nvSpPr>
          <p:cNvPr id="9" name="Text 7"/>
          <p:cNvSpPr/>
          <p:nvPr/>
        </p:nvSpPr>
        <p:spPr>
          <a:xfrm>
            <a:off x="4800600" y="1591056"/>
            <a:ext cx="3694176" cy="420624"/>
          </a:xfrm>
          <a:prstGeom prst="rect">
            <a:avLst/>
          </a:prstGeom>
          <a:noFill/>
          <a:ln/>
        </p:spPr>
        <p:txBody>
          <a:bodyPr wrap="square" rtlCol="0" anchor="ctr"/>
          <a:lstStyle/>
          <a:p>
            <a:pPr indent="0" marL="0">
              <a:buNone/>
            </a:pPr>
            <a:r>
              <a:rPr lang="en-US" sz="2000" dirty="0">
                <a:solidFill>
                  <a:srgbClr val="C08D7C"/>
                </a:solidFill>
                <a:latin typeface="Century Gothic" pitchFamily="34" charset="0"/>
                <a:ea typeface="Century Gothic" pitchFamily="34" charset="-122"/>
                <a:cs typeface="Century Gothic" pitchFamily="34" charset="-120"/>
              </a:rPr>
              <a:t>Soho House</a:t>
            </a:r>
            <a:endParaRPr lang="en-US" sz="2000" dirty="0"/>
          </a:p>
        </p:txBody>
      </p:sp>
      <p:sp>
        <p:nvSpPr>
          <p:cNvPr id="10" name="Text 8"/>
          <p:cNvSpPr/>
          <p:nvPr/>
        </p:nvSpPr>
        <p:spPr>
          <a:xfrm>
            <a:off x="4800600" y="2029968"/>
            <a:ext cx="3694176" cy="676656"/>
          </a:xfrm>
          <a:prstGeom prst="rect">
            <a:avLst/>
          </a:prstGeom>
          <a:noFill/>
          <a:ln/>
        </p:spPr>
        <p:txBody>
          <a:bodyPr wrap="square" rtlCol="0" anchor="t"/>
          <a:lstStyle/>
          <a:p>
            <a:pPr indent="0" marL="0">
              <a:lnSpc>
                <a:spcPct val="115000"/>
              </a:lnSpc>
              <a:buNone/>
            </a:pPr>
            <a:r>
              <a:rPr lang="en-US" sz="900" dirty="0">
                <a:solidFill>
                  <a:srgbClr val="A8A296"/>
                </a:solidFill>
                <a:latin typeface="Calibri" pitchFamily="34" charset="0"/>
                <a:ea typeface="Calibri" pitchFamily="34" charset="-122"/>
                <a:cs typeface="Calibri" pitchFamily="34" charset="-120"/>
              </a:rPr>
              <a:t>Where the ladder was proven. Soho Friends is a published annual tier buying discounts and event invitations but no club access. What they lack is medicine.</a:t>
            </a:r>
            <a:endParaRPr lang="en-US" sz="900" dirty="0"/>
          </a:p>
        </p:txBody>
      </p:sp>
      <p:sp>
        <p:nvSpPr>
          <p:cNvPr id="11" name="Shape 9"/>
          <p:cNvSpPr/>
          <p:nvPr/>
        </p:nvSpPr>
        <p:spPr>
          <a:xfrm>
            <a:off x="502920" y="3017520"/>
            <a:ext cx="8138160" cy="1417320"/>
          </a:xfrm>
          <a:prstGeom prst="roundRect">
            <a:avLst>
              <a:gd name="adj" fmla="val 3871"/>
            </a:avLst>
          </a:prstGeom>
          <a:solidFill>
            <a:srgbClr val="241C1A"/>
          </a:solidFill>
          <a:ln w="12700">
            <a:solidFill>
              <a:srgbClr val="C08D7C"/>
            </a:solidFill>
            <a:prstDash val="solid"/>
          </a:ln>
        </p:spPr>
      </p:sp>
      <p:sp>
        <p:nvSpPr>
          <p:cNvPr id="12" name="Text 10"/>
          <p:cNvSpPr/>
          <p:nvPr/>
        </p:nvSpPr>
        <p:spPr>
          <a:xfrm>
            <a:off x="704088" y="3154680"/>
            <a:ext cx="7735824" cy="201168"/>
          </a:xfrm>
          <a:prstGeom prst="rect">
            <a:avLst/>
          </a:prstGeom>
          <a:noFill/>
          <a:ln/>
        </p:spPr>
        <p:txBody>
          <a:bodyPr wrap="square" rtlCol="0" anchor="ctr"/>
          <a:lstStyle/>
          <a:p>
            <a:pPr indent="0" marL="0">
              <a:buNone/>
            </a:pPr>
            <a:r>
              <a:rPr lang="en-US" sz="850" spc="260" kern="0" dirty="0">
                <a:solidFill>
                  <a:srgbClr val="C08D7C"/>
                </a:solidFill>
                <a:latin typeface="Century Gothic" pitchFamily="34" charset="0"/>
                <a:ea typeface="Century Gothic" pitchFamily="34" charset="-122"/>
                <a:cs typeface="Century Gothic" pitchFamily="34" charset="-120"/>
              </a:rPr>
              <a:t>THE DIFFERENCE</a:t>
            </a:r>
            <a:endParaRPr lang="en-US" sz="850" dirty="0"/>
          </a:p>
        </p:txBody>
      </p:sp>
      <p:sp>
        <p:nvSpPr>
          <p:cNvPr id="13" name="Text 11"/>
          <p:cNvSpPr/>
          <p:nvPr/>
        </p:nvSpPr>
        <p:spPr>
          <a:xfrm>
            <a:off x="704088" y="3383280"/>
            <a:ext cx="7735824" cy="411480"/>
          </a:xfrm>
          <a:prstGeom prst="rect">
            <a:avLst/>
          </a:prstGeom>
          <a:noFill/>
          <a:ln/>
        </p:spPr>
        <p:txBody>
          <a:bodyPr wrap="square" rtlCol="0" anchor="ctr"/>
          <a:lstStyle/>
          <a:p>
            <a:pPr indent="0" marL="0">
              <a:buNone/>
            </a:pPr>
            <a:r>
              <a:rPr lang="en-US" sz="1450" dirty="0">
                <a:solidFill>
                  <a:srgbClr val="EDE6DA"/>
                </a:solidFill>
                <a:latin typeface="Century Gothic" pitchFamily="34" charset="0"/>
                <a:ea typeface="Century Gothic" pitchFamily="34" charset="-122"/>
                <a:cs typeface="Century Gothic" pitchFamily="34" charset="-120"/>
              </a:rPr>
              <a:t>L&amp;K is not a practice built around a doctor. It is the facility a doctor needs.</a:t>
            </a:r>
            <a:endParaRPr lang="en-US" sz="1450" dirty="0"/>
          </a:p>
        </p:txBody>
      </p:sp>
      <p:sp>
        <p:nvSpPr>
          <p:cNvPr id="14" name="Text 12"/>
          <p:cNvSpPr/>
          <p:nvPr/>
        </p:nvSpPr>
        <p:spPr>
          <a:xfrm>
            <a:off x="704088" y="3803904"/>
            <a:ext cx="7735824" cy="548640"/>
          </a:xfrm>
          <a:prstGeom prst="rect">
            <a:avLst/>
          </a:prstGeom>
          <a:noFill/>
          <a:ln/>
        </p:spPr>
        <p:txBody>
          <a:bodyPr wrap="square" rtlCol="0" anchor="ctr"/>
          <a:lstStyle/>
          <a:p>
            <a:pPr indent="0" marL="0">
              <a:lnSpc>
                <a:spcPct val="120000"/>
              </a:lnSpc>
              <a:buNone/>
            </a:pPr>
            <a:r>
              <a:rPr lang="en-US" sz="1050" dirty="0">
                <a:solidFill>
                  <a:srgbClr val="A8A296"/>
                </a:solidFill>
                <a:latin typeface="Calibri" pitchFamily="34" charset="0"/>
                <a:ea typeface="Calibri" pitchFamily="34" charset="-122"/>
                <a:cs typeface="Calibri" pitchFamily="34" charset="-120"/>
              </a:rPr>
              <a:t>The rooms, the diagnostics, the infusion suite, the operating suite, the staff and the accreditation, already standing. Physicians practice here. Investors own the building they practice in, which is why the surgical lines bill a facility fee while the surgeon bills their own patients directly.</a:t>
            </a:r>
            <a:endParaRPr lang="en-US" sz="1050" dirty="0"/>
          </a:p>
        </p:txBody>
      </p:sp>
      <p:sp>
        <p:nvSpPr>
          <p:cNvPr id="15" name="Text 13"/>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 $2.0M PRIVATE CASE  ·  CONFIDENTIAL</a:t>
            </a:r>
            <a:endParaRPr lang="en-US" sz="700" dirty="0"/>
          </a:p>
        </p:txBody>
      </p:sp>
      <p:sp>
        <p:nvSpPr>
          <p:cNvPr id="16" name="Text 14"/>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3</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THE MODEL</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One building. Two layers. Different doors.</a:t>
            </a:r>
            <a:endParaRPr lang="en-US" sz="2600" dirty="0"/>
          </a:p>
        </p:txBody>
      </p:sp>
      <p:sp>
        <p:nvSpPr>
          <p:cNvPr id="4" name="Shape 2"/>
          <p:cNvSpPr/>
          <p:nvPr/>
        </p:nvSpPr>
        <p:spPr>
          <a:xfrm>
            <a:off x="1508760" y="1325880"/>
            <a:ext cx="6126480" cy="1325880"/>
          </a:xfrm>
          <a:prstGeom prst="roundRect">
            <a:avLst>
              <a:gd name="adj" fmla="val 4138"/>
            </a:avLst>
          </a:prstGeom>
          <a:solidFill>
            <a:srgbClr val="241C1A"/>
          </a:solidFill>
          <a:ln w="15875">
            <a:solidFill>
              <a:srgbClr val="C08D7C"/>
            </a:solidFill>
            <a:prstDash val="solid"/>
          </a:ln>
        </p:spPr>
      </p:sp>
      <p:sp>
        <p:nvSpPr>
          <p:cNvPr id="5" name="Text 3"/>
          <p:cNvSpPr/>
          <p:nvPr/>
        </p:nvSpPr>
        <p:spPr>
          <a:xfrm>
            <a:off x="1691640" y="1444752"/>
            <a:ext cx="5760720" cy="182880"/>
          </a:xfrm>
          <a:prstGeom prst="rect">
            <a:avLst/>
          </a:prstGeom>
          <a:noFill/>
          <a:ln/>
        </p:spPr>
        <p:txBody>
          <a:bodyPr wrap="square" rtlCol="0" anchor="ctr"/>
          <a:lstStyle/>
          <a:p>
            <a:pPr indent="0" marL="0">
              <a:buNone/>
            </a:pPr>
            <a:r>
              <a:rPr lang="en-US" sz="800" spc="240" kern="0" dirty="0">
                <a:solidFill>
                  <a:srgbClr val="C08D7C"/>
                </a:solidFill>
                <a:latin typeface="Century Gothic" pitchFamily="34" charset="0"/>
                <a:ea typeface="Century Gothic" pitchFamily="34" charset="-122"/>
                <a:cs typeface="Century Gothic" pitchFamily="34" charset="-120"/>
              </a:rPr>
              <a:t>MEMBERS ONLY  ·  CAPPED</a:t>
            </a:r>
            <a:endParaRPr lang="en-US" sz="800" dirty="0"/>
          </a:p>
        </p:txBody>
      </p:sp>
      <p:sp>
        <p:nvSpPr>
          <p:cNvPr id="6" name="Text 4"/>
          <p:cNvSpPr/>
          <p:nvPr/>
        </p:nvSpPr>
        <p:spPr>
          <a:xfrm>
            <a:off x="1691640" y="1627632"/>
            <a:ext cx="5760720" cy="292608"/>
          </a:xfrm>
          <a:prstGeom prst="rect">
            <a:avLst/>
          </a:prstGeom>
          <a:noFill/>
          <a:ln/>
        </p:spPr>
        <p:txBody>
          <a:bodyPr wrap="square" rtlCol="0" anchor="ctr"/>
          <a:lstStyle/>
          <a:p>
            <a:pPr indent="0" marL="0">
              <a:buNone/>
            </a:pPr>
            <a:r>
              <a:rPr lang="en-US" sz="1600" dirty="0">
                <a:solidFill>
                  <a:srgbClr val="EDE6DA"/>
                </a:solidFill>
                <a:latin typeface="Century Gothic" pitchFamily="34" charset="0"/>
                <a:ea typeface="Century Gothic" pitchFamily="34" charset="-122"/>
                <a:cs typeface="Century Gothic" pitchFamily="34" charset="-120"/>
              </a:rPr>
              <a:t>The Club</a:t>
            </a:r>
            <a:endParaRPr lang="en-US" sz="1600" dirty="0"/>
          </a:p>
        </p:txBody>
      </p:sp>
      <p:sp>
        <p:nvSpPr>
          <p:cNvPr id="7" name="Text 5"/>
          <p:cNvSpPr/>
          <p:nvPr/>
        </p:nvSpPr>
        <p:spPr>
          <a:xfrm>
            <a:off x="1691640" y="1956816"/>
            <a:ext cx="5760720" cy="548640"/>
          </a:xfrm>
          <a:prstGeom prst="rect">
            <a:avLst/>
          </a:prstGeom>
          <a:noFill/>
          <a:ln/>
        </p:spPr>
        <p:txBody>
          <a:bodyPr wrap="square" rtlCol="0" anchor="ctr"/>
          <a:lstStyle/>
          <a:p>
            <a:pPr indent="0" marL="0">
              <a:lnSpc>
                <a:spcPct val="120000"/>
              </a:lnSpc>
              <a:buNone/>
            </a:pPr>
            <a:r>
              <a:rPr lang="en-US" sz="1000" dirty="0">
                <a:solidFill>
                  <a:srgbClr val="A8A296"/>
                </a:solidFill>
                <a:latin typeface="Calibri" pitchFamily="34" charset="0"/>
                <a:ea typeface="Calibri" pitchFamily="34" charset="-122"/>
                <a:cs typeface="Calibri" pitchFamily="34" charset="-120"/>
              </a:rPr>
              <a:t>Contrast suite  ·  Sauna and cold plunge ritual  ·  The Lounge  ·  Member events  ·  Guest passes  ·  Priority booking  ·  Private buyouts</a:t>
            </a:r>
            <a:endParaRPr lang="en-US" sz="1000" dirty="0"/>
          </a:p>
        </p:txBody>
      </p:sp>
      <p:sp>
        <p:nvSpPr>
          <p:cNvPr id="8" name="Text 6"/>
          <p:cNvSpPr/>
          <p:nvPr/>
        </p:nvSpPr>
        <p:spPr>
          <a:xfrm>
            <a:off x="502920" y="2697480"/>
            <a:ext cx="8138160" cy="237744"/>
          </a:xfrm>
          <a:prstGeom prst="rect">
            <a:avLst/>
          </a:prstGeom>
          <a:noFill/>
          <a:ln/>
        </p:spPr>
        <p:txBody>
          <a:bodyPr wrap="square" rtlCol="0" anchor="ctr"/>
          <a:lstStyle/>
          <a:p>
            <a:pPr algn="ctr" indent="0" marL="0">
              <a:buNone/>
            </a:pPr>
            <a:r>
              <a:rPr lang="en-US" sz="900" spc="200" kern="0" dirty="0">
                <a:solidFill>
                  <a:srgbClr val="6E6A62"/>
                </a:solidFill>
                <a:latin typeface="Century Gothic" pitchFamily="34" charset="0"/>
                <a:ea typeface="Century Gothic" pitchFamily="34" charset="-122"/>
                <a:cs typeface="Century Gothic" pitchFamily="34" charset="-120"/>
              </a:rPr>
              <a:t>Membership sits on top. It never sits in front.</a:t>
            </a:r>
            <a:endParaRPr lang="en-US" sz="900" dirty="0"/>
          </a:p>
        </p:txBody>
      </p:sp>
      <p:sp>
        <p:nvSpPr>
          <p:cNvPr id="9" name="Shape 7"/>
          <p:cNvSpPr/>
          <p:nvPr/>
        </p:nvSpPr>
        <p:spPr>
          <a:xfrm>
            <a:off x="502920" y="2999232"/>
            <a:ext cx="8138160" cy="1600200"/>
          </a:xfrm>
          <a:prstGeom prst="roundRect">
            <a:avLst>
              <a:gd name="adj" fmla="val 3429"/>
            </a:avLst>
          </a:prstGeom>
          <a:solidFill>
            <a:srgbClr val="16241C"/>
          </a:solidFill>
          <a:ln w="12700">
            <a:solidFill>
              <a:srgbClr val="2E4237"/>
            </a:solidFill>
            <a:prstDash val="solid"/>
          </a:ln>
        </p:spPr>
      </p:sp>
      <p:sp>
        <p:nvSpPr>
          <p:cNvPr id="10" name="Text 8"/>
          <p:cNvSpPr/>
          <p:nvPr/>
        </p:nvSpPr>
        <p:spPr>
          <a:xfrm>
            <a:off x="704088" y="3127248"/>
            <a:ext cx="7735824" cy="182880"/>
          </a:xfrm>
          <a:prstGeom prst="rect">
            <a:avLst/>
          </a:prstGeom>
          <a:noFill/>
          <a:ln/>
        </p:spPr>
        <p:txBody>
          <a:bodyPr wrap="square" rtlCol="0" anchor="ctr"/>
          <a:lstStyle/>
          <a:p>
            <a:pPr indent="0" marL="0">
              <a:buNone/>
            </a:pPr>
            <a:r>
              <a:rPr lang="en-US" sz="800" spc="240" kern="0" dirty="0">
                <a:solidFill>
                  <a:srgbClr val="6E6A62"/>
                </a:solidFill>
                <a:latin typeface="Century Gothic" pitchFamily="34" charset="0"/>
                <a:ea typeface="Century Gothic" pitchFamily="34" charset="-122"/>
                <a:cs typeface="Century Gothic" pitchFamily="34" charset="-120"/>
              </a:rPr>
              <a:t>OPEN TO EVERYONE  ·  NO MEMBERSHIP REQUIRED</a:t>
            </a:r>
            <a:endParaRPr lang="en-US" sz="800" dirty="0"/>
          </a:p>
        </p:txBody>
      </p:sp>
      <p:sp>
        <p:nvSpPr>
          <p:cNvPr id="11" name="Text 9"/>
          <p:cNvSpPr/>
          <p:nvPr/>
        </p:nvSpPr>
        <p:spPr>
          <a:xfrm>
            <a:off x="704088" y="3291840"/>
            <a:ext cx="7735824" cy="274320"/>
          </a:xfrm>
          <a:prstGeom prst="rect">
            <a:avLst/>
          </a:prstGeom>
          <a:noFill/>
          <a:ln/>
        </p:spPr>
        <p:txBody>
          <a:bodyPr wrap="square" rtlCol="0" anchor="ctr"/>
          <a:lstStyle/>
          <a:p>
            <a:pPr indent="0" marL="0">
              <a:buNone/>
            </a:pPr>
            <a:r>
              <a:rPr lang="en-US" sz="1600" dirty="0">
                <a:solidFill>
                  <a:srgbClr val="EDE6DA"/>
                </a:solidFill>
                <a:latin typeface="Century Gothic" pitchFamily="34" charset="0"/>
                <a:ea typeface="Century Gothic" pitchFamily="34" charset="-122"/>
                <a:cs typeface="Century Gothic" pitchFamily="34" charset="-120"/>
              </a:rPr>
              <a:t>The Clinic</a:t>
            </a:r>
            <a:endParaRPr lang="en-US" sz="1600" dirty="0"/>
          </a:p>
        </p:txBody>
      </p:sp>
      <p:sp>
        <p:nvSpPr>
          <p:cNvPr id="12" name="Text 10"/>
          <p:cNvSpPr/>
          <p:nvPr/>
        </p:nvSpPr>
        <p:spPr>
          <a:xfrm>
            <a:off x="704088" y="3602736"/>
            <a:ext cx="7735824" cy="932688"/>
          </a:xfrm>
          <a:prstGeom prst="rect">
            <a:avLst/>
          </a:prstGeom>
          <a:noFill/>
          <a:ln/>
        </p:spPr>
        <p:txBody>
          <a:bodyPr wrap="square" rtlCol="0" anchor="t"/>
          <a:lstStyle/>
          <a:p>
            <a:pPr indent="0" marL="0">
              <a:lnSpc>
                <a:spcPct val="120000"/>
              </a:lnSpc>
              <a:buNone/>
            </a:pPr>
            <a:r>
              <a:rPr lang="en-US" sz="950" dirty="0">
                <a:solidFill>
                  <a:srgbClr val="A8A296"/>
                </a:solidFill>
                <a:latin typeface="Calibri" pitchFamily="34" charset="0"/>
                <a:ea typeface="Calibri" pitchFamily="34" charset="-122"/>
                <a:cs typeface="Calibri" pitchFamily="34" charset="-120"/>
              </a:rPr>
              <a:t>Aescape Robotic Massage  ·  Ammortal Chamber  ·  Red Light Therapy  ·  Hyperbaric Oxygen  ·  Compression Therapy  ·  PRP: Hair &amp; Scalp  ·  PRP: Face &amp; Aesthetic  ·  PRP: Scar &amp; Skin Repair  ·  PRP: Soft Tissue  ·  PRP: Joint &amp; Cartilage  ·  PRP: Post-procedure  ·  Basic Hydration  ·  Myers Cocktail  ·  Recovery / Hangover  ·  Immunity / High-Dose C  ·  Beauty / Glutathione  ·  Athletic Performance  ·  NAD+ 100mg  ·  NAD+ 250mg  ·  NAD+ 500mg  ·  IM Shot: B12 / Lipo  ·  Therapeutic medications  ·  Botox (15-unit minimum)  ·  Filler (0.5 ml)  ·  RF Microneedling  ·  Laser Platform  ·  Advanced Biometrics  ·  DNA Analysis  ·  DUTCH Plus Test  ·  DEXA Scan  ·  plus 7 surgical lines, detailed overleaf</a:t>
            </a:r>
            <a:endParaRPr lang="en-US" sz="950" dirty="0"/>
          </a:p>
        </p:txBody>
      </p:sp>
      <p:sp>
        <p:nvSpPr>
          <p:cNvPr id="13" name="Text 11"/>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 $2.0M PRIVATE CASE  ·  CONFIDENTIAL</a:t>
            </a:r>
            <a:endParaRPr lang="en-US" sz="700" dirty="0"/>
          </a:p>
        </p:txBody>
      </p:sp>
      <p:sp>
        <p:nvSpPr>
          <p:cNvPr id="14" name="Text 12"/>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4</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THE OFFERING</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Five verbs, not a billing menu.</a:t>
            </a:r>
            <a:endParaRPr lang="en-US" sz="2600" dirty="0"/>
          </a:p>
        </p:txBody>
      </p:sp>
      <p:sp>
        <p:nvSpPr>
          <p:cNvPr id="4" name="Text 2"/>
          <p:cNvSpPr/>
          <p:nvPr/>
        </p:nvSpPr>
        <p:spPr>
          <a:xfrm>
            <a:off x="502920" y="1097280"/>
            <a:ext cx="8138160" cy="457200"/>
          </a:xfrm>
          <a:prstGeom prst="rect">
            <a:avLst/>
          </a:prstGeom>
          <a:noFill/>
          <a:ln/>
        </p:spPr>
        <p:txBody>
          <a:bodyPr wrap="square" rtlCol="0" anchor="t"/>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The information architecture borrows from how a health club organizes itself rather than how a clinic does. Patients do not shop by billing code; they arrive wanting to feel a specific way.</a:t>
            </a:r>
            <a:endParaRPr lang="en-US" sz="1150" dirty="0"/>
          </a:p>
        </p:txBody>
      </p:sp>
      <p:sp>
        <p:nvSpPr>
          <p:cNvPr id="5" name="Shape 3"/>
          <p:cNvSpPr/>
          <p:nvPr/>
        </p:nvSpPr>
        <p:spPr>
          <a:xfrm>
            <a:off x="502920" y="1965960"/>
            <a:ext cx="1525219" cy="2286000"/>
          </a:xfrm>
          <a:prstGeom prst="roundRect">
            <a:avLst>
              <a:gd name="adj" fmla="val 3597"/>
            </a:avLst>
          </a:prstGeom>
          <a:solidFill>
            <a:srgbClr val="16241C"/>
          </a:solidFill>
          <a:ln w="12700">
            <a:solidFill>
              <a:srgbClr val="2E4237"/>
            </a:solidFill>
            <a:prstDash val="solid"/>
          </a:ln>
        </p:spPr>
      </p:sp>
      <p:sp>
        <p:nvSpPr>
          <p:cNvPr id="6" name="Text 4"/>
          <p:cNvSpPr/>
          <p:nvPr/>
        </p:nvSpPr>
        <p:spPr>
          <a:xfrm>
            <a:off x="621792" y="2084832"/>
            <a:ext cx="1287475" cy="182880"/>
          </a:xfrm>
          <a:prstGeom prst="rect">
            <a:avLst/>
          </a:prstGeom>
          <a:noFill/>
          <a:ln/>
        </p:spPr>
        <p:txBody>
          <a:bodyPr wrap="square" rtlCol="0" anchor="ctr"/>
          <a:lstStyle/>
          <a:p>
            <a:pPr indent="0" marL="0">
              <a:buNone/>
            </a:pPr>
            <a:r>
              <a:rPr lang="en-US" sz="750" spc="140" kern="0" dirty="0">
                <a:solidFill>
                  <a:srgbClr val="C08D7C"/>
                </a:solidFill>
                <a:latin typeface="Century Gothic" pitchFamily="34" charset="0"/>
                <a:ea typeface="Century Gothic" pitchFamily="34" charset="-122"/>
                <a:cs typeface="Century Gothic" pitchFamily="34" charset="-120"/>
              </a:rPr>
              <a:t>RESTORE</a:t>
            </a:r>
            <a:endParaRPr lang="en-US" sz="750" dirty="0"/>
          </a:p>
        </p:txBody>
      </p:sp>
      <p:sp>
        <p:nvSpPr>
          <p:cNvPr id="7" name="Text 5"/>
          <p:cNvSpPr/>
          <p:nvPr/>
        </p:nvSpPr>
        <p:spPr>
          <a:xfrm>
            <a:off x="621792" y="2286000"/>
            <a:ext cx="1287475" cy="237744"/>
          </a:xfrm>
          <a:prstGeom prst="rect">
            <a:avLst/>
          </a:prstGeom>
          <a:noFill/>
          <a:ln/>
        </p:spPr>
        <p:txBody>
          <a:bodyPr wrap="square" rtlCol="0" anchor="t"/>
          <a:lstStyle/>
          <a:p>
            <a:pPr indent="0" marL="0">
              <a:buNone/>
            </a:pPr>
            <a:r>
              <a:rPr lang="en-US" sz="1200" dirty="0">
                <a:solidFill>
                  <a:srgbClr val="EDE6DA"/>
                </a:solidFill>
                <a:latin typeface="Century Gothic" pitchFamily="34" charset="0"/>
                <a:ea typeface="Century Gothic" pitchFamily="34" charset="-122"/>
                <a:cs typeface="Century Gothic" pitchFamily="34" charset="-120"/>
              </a:rPr>
              <a:t>Regenerative</a:t>
            </a:r>
            <a:endParaRPr lang="en-US" sz="1200" dirty="0"/>
          </a:p>
        </p:txBody>
      </p:sp>
      <p:sp>
        <p:nvSpPr>
          <p:cNvPr id="8" name="Text 6"/>
          <p:cNvSpPr/>
          <p:nvPr/>
        </p:nvSpPr>
        <p:spPr>
          <a:xfrm>
            <a:off x="621792" y="2578608"/>
            <a:ext cx="1287475" cy="1554480"/>
          </a:xfrm>
          <a:prstGeom prst="rect">
            <a:avLst/>
          </a:prstGeom>
          <a:noFill/>
          <a:ln/>
        </p:spPr>
        <p:txBody>
          <a:bodyPr wrap="square" rtlCol="0" anchor="t"/>
          <a:lstStyle/>
          <a:p>
            <a:pPr indent="0" marL="0">
              <a:lnSpc>
                <a:spcPct val="120000"/>
              </a:lnSpc>
              <a:buNone/>
            </a:pPr>
            <a:r>
              <a:rPr lang="en-US" sz="800" dirty="0">
                <a:solidFill>
                  <a:srgbClr val="A8A296"/>
                </a:solidFill>
                <a:latin typeface="Calibri" pitchFamily="34" charset="0"/>
                <a:ea typeface="Calibri" pitchFamily="34" charset="-122"/>
                <a:cs typeface="Calibri" pitchFamily="34" charset="-120"/>
              </a:rPr>
              <a:t>Six PRP protocols, therapeutic medications, a ten-drip infusion menu and NAD+ by dose.</a:t>
            </a:r>
            <a:endParaRPr lang="en-US" sz="800" dirty="0"/>
          </a:p>
        </p:txBody>
      </p:sp>
      <p:sp>
        <p:nvSpPr>
          <p:cNvPr id="9" name="Shape 7"/>
          <p:cNvSpPr/>
          <p:nvPr/>
        </p:nvSpPr>
        <p:spPr>
          <a:xfrm>
            <a:off x="2156155" y="1965960"/>
            <a:ext cx="1525219" cy="2286000"/>
          </a:xfrm>
          <a:prstGeom prst="roundRect">
            <a:avLst>
              <a:gd name="adj" fmla="val 3597"/>
            </a:avLst>
          </a:prstGeom>
          <a:solidFill>
            <a:srgbClr val="16241C"/>
          </a:solidFill>
          <a:ln w="12700">
            <a:solidFill>
              <a:srgbClr val="2E4237"/>
            </a:solidFill>
            <a:prstDash val="solid"/>
          </a:ln>
        </p:spPr>
      </p:sp>
      <p:sp>
        <p:nvSpPr>
          <p:cNvPr id="10" name="Text 8"/>
          <p:cNvSpPr/>
          <p:nvPr/>
        </p:nvSpPr>
        <p:spPr>
          <a:xfrm>
            <a:off x="2275027" y="2084832"/>
            <a:ext cx="1287475" cy="182880"/>
          </a:xfrm>
          <a:prstGeom prst="rect">
            <a:avLst/>
          </a:prstGeom>
          <a:noFill/>
          <a:ln/>
        </p:spPr>
        <p:txBody>
          <a:bodyPr wrap="square" rtlCol="0" anchor="ctr"/>
          <a:lstStyle/>
          <a:p>
            <a:pPr indent="0" marL="0">
              <a:buNone/>
            </a:pPr>
            <a:r>
              <a:rPr lang="en-US" sz="750" spc="140" kern="0" dirty="0">
                <a:solidFill>
                  <a:srgbClr val="C08D7C"/>
                </a:solidFill>
                <a:latin typeface="Century Gothic" pitchFamily="34" charset="0"/>
                <a:ea typeface="Century Gothic" pitchFamily="34" charset="-122"/>
                <a:cs typeface="Century Gothic" pitchFamily="34" charset="-120"/>
              </a:rPr>
              <a:t>RENEW</a:t>
            </a:r>
            <a:endParaRPr lang="en-US" sz="750" dirty="0"/>
          </a:p>
        </p:txBody>
      </p:sp>
      <p:sp>
        <p:nvSpPr>
          <p:cNvPr id="11" name="Text 9"/>
          <p:cNvSpPr/>
          <p:nvPr/>
        </p:nvSpPr>
        <p:spPr>
          <a:xfrm>
            <a:off x="2275027" y="2286000"/>
            <a:ext cx="1287475" cy="237744"/>
          </a:xfrm>
          <a:prstGeom prst="rect">
            <a:avLst/>
          </a:prstGeom>
          <a:noFill/>
          <a:ln/>
        </p:spPr>
        <p:txBody>
          <a:bodyPr wrap="square" rtlCol="0" anchor="t"/>
          <a:lstStyle/>
          <a:p>
            <a:pPr indent="0" marL="0">
              <a:buNone/>
            </a:pPr>
            <a:r>
              <a:rPr lang="en-US" sz="1200" dirty="0">
                <a:solidFill>
                  <a:srgbClr val="EDE6DA"/>
                </a:solidFill>
                <a:latin typeface="Century Gothic" pitchFamily="34" charset="0"/>
                <a:ea typeface="Century Gothic" pitchFamily="34" charset="-122"/>
                <a:cs typeface="Century Gothic" pitchFamily="34" charset="-120"/>
              </a:rPr>
              <a:t>Aesthetics</a:t>
            </a:r>
            <a:endParaRPr lang="en-US" sz="1200" dirty="0"/>
          </a:p>
        </p:txBody>
      </p:sp>
      <p:sp>
        <p:nvSpPr>
          <p:cNvPr id="12" name="Text 10"/>
          <p:cNvSpPr/>
          <p:nvPr/>
        </p:nvSpPr>
        <p:spPr>
          <a:xfrm>
            <a:off x="2275027" y="2578608"/>
            <a:ext cx="1287475" cy="1554480"/>
          </a:xfrm>
          <a:prstGeom prst="rect">
            <a:avLst/>
          </a:prstGeom>
          <a:noFill/>
          <a:ln/>
        </p:spPr>
        <p:txBody>
          <a:bodyPr wrap="square" rtlCol="0" anchor="t"/>
          <a:lstStyle/>
          <a:p>
            <a:pPr indent="0" marL="0">
              <a:lnSpc>
                <a:spcPct val="120000"/>
              </a:lnSpc>
              <a:buNone/>
            </a:pPr>
            <a:r>
              <a:rPr lang="en-US" sz="800" dirty="0">
                <a:solidFill>
                  <a:srgbClr val="A8A296"/>
                </a:solidFill>
                <a:latin typeface="Calibri" pitchFamily="34" charset="0"/>
                <a:ea typeface="Calibri" pitchFamily="34" charset="-122"/>
                <a:cs typeface="Calibri" pitchFamily="34" charset="-120"/>
              </a:rPr>
              <a:t>Neuromodulators and filler, RF microneedling, laser resurfacing.</a:t>
            </a:r>
            <a:endParaRPr lang="en-US" sz="800" dirty="0"/>
          </a:p>
        </p:txBody>
      </p:sp>
      <p:sp>
        <p:nvSpPr>
          <p:cNvPr id="13" name="Shape 11"/>
          <p:cNvSpPr/>
          <p:nvPr/>
        </p:nvSpPr>
        <p:spPr>
          <a:xfrm>
            <a:off x="3809390" y="1965960"/>
            <a:ext cx="1525219" cy="2286000"/>
          </a:xfrm>
          <a:prstGeom prst="roundRect">
            <a:avLst>
              <a:gd name="adj" fmla="val 3597"/>
            </a:avLst>
          </a:prstGeom>
          <a:solidFill>
            <a:srgbClr val="16241C"/>
          </a:solidFill>
          <a:ln w="12700">
            <a:solidFill>
              <a:srgbClr val="2E4237"/>
            </a:solidFill>
            <a:prstDash val="solid"/>
          </a:ln>
        </p:spPr>
      </p:sp>
      <p:sp>
        <p:nvSpPr>
          <p:cNvPr id="14" name="Text 12"/>
          <p:cNvSpPr/>
          <p:nvPr/>
        </p:nvSpPr>
        <p:spPr>
          <a:xfrm>
            <a:off x="3928262" y="2084832"/>
            <a:ext cx="1287475" cy="182880"/>
          </a:xfrm>
          <a:prstGeom prst="rect">
            <a:avLst/>
          </a:prstGeom>
          <a:noFill/>
          <a:ln/>
        </p:spPr>
        <p:txBody>
          <a:bodyPr wrap="square" rtlCol="0" anchor="ctr"/>
          <a:lstStyle/>
          <a:p>
            <a:pPr indent="0" marL="0">
              <a:buNone/>
            </a:pPr>
            <a:r>
              <a:rPr lang="en-US" sz="750" spc="140" kern="0" dirty="0">
                <a:solidFill>
                  <a:srgbClr val="C08D7C"/>
                </a:solidFill>
                <a:latin typeface="Century Gothic" pitchFamily="34" charset="0"/>
                <a:ea typeface="Century Gothic" pitchFamily="34" charset="-122"/>
                <a:cs typeface="Century Gothic" pitchFamily="34" charset="-120"/>
              </a:rPr>
              <a:t>RECOVER</a:t>
            </a:r>
            <a:endParaRPr lang="en-US" sz="750" dirty="0"/>
          </a:p>
        </p:txBody>
      </p:sp>
      <p:sp>
        <p:nvSpPr>
          <p:cNvPr id="15" name="Text 13"/>
          <p:cNvSpPr/>
          <p:nvPr/>
        </p:nvSpPr>
        <p:spPr>
          <a:xfrm>
            <a:off x="3928262" y="2286000"/>
            <a:ext cx="1287475" cy="237744"/>
          </a:xfrm>
          <a:prstGeom prst="rect">
            <a:avLst/>
          </a:prstGeom>
          <a:noFill/>
          <a:ln/>
        </p:spPr>
        <p:txBody>
          <a:bodyPr wrap="square" rtlCol="0" anchor="t"/>
          <a:lstStyle/>
          <a:p>
            <a:pPr indent="0" marL="0">
              <a:buNone/>
            </a:pPr>
            <a:r>
              <a:rPr lang="en-US" sz="1200" dirty="0">
                <a:solidFill>
                  <a:srgbClr val="EDE6DA"/>
                </a:solidFill>
                <a:latin typeface="Century Gothic" pitchFamily="34" charset="0"/>
                <a:ea typeface="Century Gothic" pitchFamily="34" charset="-122"/>
                <a:cs typeface="Century Gothic" pitchFamily="34" charset="-120"/>
              </a:rPr>
              <a:t>Recovery</a:t>
            </a:r>
            <a:endParaRPr lang="en-US" sz="1200" dirty="0"/>
          </a:p>
        </p:txBody>
      </p:sp>
      <p:sp>
        <p:nvSpPr>
          <p:cNvPr id="16" name="Text 14"/>
          <p:cNvSpPr/>
          <p:nvPr/>
        </p:nvSpPr>
        <p:spPr>
          <a:xfrm>
            <a:off x="3928262" y="2578608"/>
            <a:ext cx="1287475" cy="1554480"/>
          </a:xfrm>
          <a:prstGeom prst="rect">
            <a:avLst/>
          </a:prstGeom>
          <a:noFill/>
          <a:ln/>
        </p:spPr>
        <p:txBody>
          <a:bodyPr wrap="square" rtlCol="0" anchor="t"/>
          <a:lstStyle/>
          <a:p>
            <a:pPr indent="0" marL="0">
              <a:lnSpc>
                <a:spcPct val="120000"/>
              </a:lnSpc>
              <a:buNone/>
            </a:pPr>
            <a:r>
              <a:rPr lang="en-US" sz="800" dirty="0">
                <a:solidFill>
                  <a:srgbClr val="A8A296"/>
                </a:solidFill>
                <a:latin typeface="Calibri" pitchFamily="34" charset="0"/>
                <a:ea typeface="Calibri" pitchFamily="34" charset="-122"/>
                <a:cs typeface="Calibri" pitchFamily="34" charset="-120"/>
              </a:rPr>
              <a:t>Hyperbaric oxygen, Ammortal chambers, robotic massage, compression, red light.</a:t>
            </a:r>
            <a:endParaRPr lang="en-US" sz="800" dirty="0"/>
          </a:p>
        </p:txBody>
      </p:sp>
      <p:sp>
        <p:nvSpPr>
          <p:cNvPr id="17" name="Shape 15"/>
          <p:cNvSpPr/>
          <p:nvPr/>
        </p:nvSpPr>
        <p:spPr>
          <a:xfrm>
            <a:off x="5462626" y="1965960"/>
            <a:ext cx="1525219" cy="2286000"/>
          </a:xfrm>
          <a:prstGeom prst="roundRect">
            <a:avLst>
              <a:gd name="adj" fmla="val 3597"/>
            </a:avLst>
          </a:prstGeom>
          <a:solidFill>
            <a:srgbClr val="16241C"/>
          </a:solidFill>
          <a:ln w="12700">
            <a:solidFill>
              <a:srgbClr val="2E4237"/>
            </a:solidFill>
            <a:prstDash val="solid"/>
          </a:ln>
        </p:spPr>
      </p:sp>
      <p:sp>
        <p:nvSpPr>
          <p:cNvPr id="18" name="Text 16"/>
          <p:cNvSpPr/>
          <p:nvPr/>
        </p:nvSpPr>
        <p:spPr>
          <a:xfrm>
            <a:off x="5581498" y="2084832"/>
            <a:ext cx="1287475" cy="182880"/>
          </a:xfrm>
          <a:prstGeom prst="rect">
            <a:avLst/>
          </a:prstGeom>
          <a:noFill/>
          <a:ln/>
        </p:spPr>
        <p:txBody>
          <a:bodyPr wrap="square" rtlCol="0" anchor="ctr"/>
          <a:lstStyle/>
          <a:p>
            <a:pPr indent="0" marL="0">
              <a:buNone/>
            </a:pPr>
            <a:r>
              <a:rPr lang="en-US" sz="750" spc="140" kern="0" dirty="0">
                <a:solidFill>
                  <a:srgbClr val="C08D7C"/>
                </a:solidFill>
                <a:latin typeface="Century Gothic" pitchFamily="34" charset="0"/>
                <a:ea typeface="Century Gothic" pitchFamily="34" charset="-122"/>
                <a:cs typeface="Century Gothic" pitchFamily="34" charset="-120"/>
              </a:rPr>
              <a:t>RESET</a:t>
            </a:r>
            <a:endParaRPr lang="en-US" sz="750" dirty="0"/>
          </a:p>
        </p:txBody>
      </p:sp>
      <p:sp>
        <p:nvSpPr>
          <p:cNvPr id="19" name="Text 17"/>
          <p:cNvSpPr/>
          <p:nvPr/>
        </p:nvSpPr>
        <p:spPr>
          <a:xfrm>
            <a:off x="5581498" y="2286000"/>
            <a:ext cx="1287475" cy="237744"/>
          </a:xfrm>
          <a:prstGeom prst="rect">
            <a:avLst/>
          </a:prstGeom>
          <a:noFill/>
          <a:ln/>
        </p:spPr>
        <p:txBody>
          <a:bodyPr wrap="square" rtlCol="0" anchor="t"/>
          <a:lstStyle/>
          <a:p>
            <a:pPr indent="0" marL="0">
              <a:buNone/>
            </a:pPr>
            <a:r>
              <a:rPr lang="en-US" sz="1200" dirty="0">
                <a:solidFill>
                  <a:srgbClr val="EDE6DA"/>
                </a:solidFill>
                <a:latin typeface="Century Gothic" pitchFamily="34" charset="0"/>
                <a:ea typeface="Century Gothic" pitchFamily="34" charset="-122"/>
                <a:cs typeface="Century Gothic" pitchFamily="34" charset="-120"/>
              </a:rPr>
              <a:t>Diagnostics</a:t>
            </a:r>
            <a:endParaRPr lang="en-US" sz="1200" dirty="0"/>
          </a:p>
        </p:txBody>
      </p:sp>
      <p:sp>
        <p:nvSpPr>
          <p:cNvPr id="20" name="Text 18"/>
          <p:cNvSpPr/>
          <p:nvPr/>
        </p:nvSpPr>
        <p:spPr>
          <a:xfrm>
            <a:off x="5581498" y="2578608"/>
            <a:ext cx="1287475" cy="1554480"/>
          </a:xfrm>
          <a:prstGeom prst="rect">
            <a:avLst/>
          </a:prstGeom>
          <a:noFill/>
          <a:ln/>
        </p:spPr>
        <p:txBody>
          <a:bodyPr wrap="square" rtlCol="0" anchor="t"/>
          <a:lstStyle/>
          <a:p>
            <a:pPr indent="0" marL="0">
              <a:lnSpc>
                <a:spcPct val="120000"/>
              </a:lnSpc>
              <a:buNone/>
            </a:pPr>
            <a:r>
              <a:rPr lang="en-US" sz="800" dirty="0">
                <a:solidFill>
                  <a:srgbClr val="A8A296"/>
                </a:solidFill>
                <a:latin typeface="Calibri" pitchFamily="34" charset="0"/>
                <a:ea typeface="Calibri" pitchFamily="34" charset="-122"/>
                <a:cs typeface="Calibri" pitchFamily="34" charset="-120"/>
              </a:rPr>
              <a:t>Advanced biometrics, DEXA, DUTCH, DNA analysis. The baseline everything else is measured against.</a:t>
            </a:r>
            <a:endParaRPr lang="en-US" sz="800" dirty="0"/>
          </a:p>
        </p:txBody>
      </p:sp>
      <p:sp>
        <p:nvSpPr>
          <p:cNvPr id="21" name="Shape 19"/>
          <p:cNvSpPr/>
          <p:nvPr/>
        </p:nvSpPr>
        <p:spPr>
          <a:xfrm>
            <a:off x="7115861" y="1965960"/>
            <a:ext cx="1525219" cy="2286000"/>
          </a:xfrm>
          <a:prstGeom prst="roundRect">
            <a:avLst>
              <a:gd name="adj" fmla="val 3597"/>
            </a:avLst>
          </a:prstGeom>
          <a:solidFill>
            <a:srgbClr val="16241C"/>
          </a:solidFill>
          <a:ln w="12700">
            <a:solidFill>
              <a:srgbClr val="2E4237"/>
            </a:solidFill>
            <a:prstDash val="solid"/>
          </a:ln>
        </p:spPr>
      </p:sp>
      <p:sp>
        <p:nvSpPr>
          <p:cNvPr id="22" name="Text 20"/>
          <p:cNvSpPr/>
          <p:nvPr/>
        </p:nvSpPr>
        <p:spPr>
          <a:xfrm>
            <a:off x="7234733" y="2084832"/>
            <a:ext cx="1287475" cy="182880"/>
          </a:xfrm>
          <a:prstGeom prst="rect">
            <a:avLst/>
          </a:prstGeom>
          <a:noFill/>
          <a:ln/>
        </p:spPr>
        <p:txBody>
          <a:bodyPr wrap="square" rtlCol="0" anchor="ctr"/>
          <a:lstStyle/>
          <a:p>
            <a:pPr indent="0" marL="0">
              <a:buNone/>
            </a:pPr>
            <a:r>
              <a:rPr lang="en-US" sz="750" spc="140" kern="0" dirty="0">
                <a:solidFill>
                  <a:srgbClr val="C08D7C"/>
                </a:solidFill>
                <a:latin typeface="Century Gothic" pitchFamily="34" charset="0"/>
                <a:ea typeface="Century Gothic" pitchFamily="34" charset="-122"/>
                <a:cs typeface="Century Gothic" pitchFamily="34" charset="-120"/>
              </a:rPr>
              <a:t>RECONNECT</a:t>
            </a:r>
            <a:endParaRPr lang="en-US" sz="750" dirty="0"/>
          </a:p>
        </p:txBody>
      </p:sp>
      <p:sp>
        <p:nvSpPr>
          <p:cNvPr id="23" name="Text 21"/>
          <p:cNvSpPr/>
          <p:nvPr/>
        </p:nvSpPr>
        <p:spPr>
          <a:xfrm>
            <a:off x="7234733" y="2286000"/>
            <a:ext cx="1287475" cy="237744"/>
          </a:xfrm>
          <a:prstGeom prst="rect">
            <a:avLst/>
          </a:prstGeom>
          <a:noFill/>
          <a:ln/>
        </p:spPr>
        <p:txBody>
          <a:bodyPr wrap="square" rtlCol="0" anchor="t"/>
          <a:lstStyle/>
          <a:p>
            <a:pPr indent="0" marL="0">
              <a:buNone/>
            </a:pPr>
            <a:r>
              <a:rPr lang="en-US" sz="1200" dirty="0">
                <a:solidFill>
                  <a:srgbClr val="EDE6DA"/>
                </a:solidFill>
                <a:latin typeface="Century Gothic" pitchFamily="34" charset="0"/>
                <a:ea typeface="Century Gothic" pitchFamily="34" charset="-122"/>
                <a:cs typeface="Century Gothic" pitchFamily="34" charset="-120"/>
              </a:rPr>
              <a:t>The Club</a:t>
            </a:r>
            <a:endParaRPr lang="en-US" sz="1200" dirty="0"/>
          </a:p>
        </p:txBody>
      </p:sp>
      <p:sp>
        <p:nvSpPr>
          <p:cNvPr id="24" name="Text 22"/>
          <p:cNvSpPr/>
          <p:nvPr/>
        </p:nvSpPr>
        <p:spPr>
          <a:xfrm>
            <a:off x="7234733" y="2578608"/>
            <a:ext cx="1287475" cy="1554480"/>
          </a:xfrm>
          <a:prstGeom prst="rect">
            <a:avLst/>
          </a:prstGeom>
          <a:noFill/>
          <a:ln/>
        </p:spPr>
        <p:txBody>
          <a:bodyPr wrap="square" rtlCol="0" anchor="t"/>
          <a:lstStyle/>
          <a:p>
            <a:pPr indent="0" marL="0">
              <a:lnSpc>
                <a:spcPct val="120000"/>
              </a:lnSpc>
              <a:buNone/>
            </a:pPr>
            <a:r>
              <a:rPr lang="en-US" sz="800" dirty="0">
                <a:solidFill>
                  <a:srgbClr val="A8A296"/>
                </a:solidFill>
                <a:latin typeface="Calibri" pitchFamily="34" charset="0"/>
                <a:ea typeface="Calibri" pitchFamily="34" charset="-122"/>
                <a:cs typeface="Calibri" pitchFamily="34" charset="-120"/>
              </a:rPr>
              <a:t>The contrast suite, the Lounge, member events, and guest privileges. The reason your membership becomes part of your routine, not just your recovery.</a:t>
            </a:r>
            <a:endParaRPr lang="en-US" sz="800" dirty="0"/>
          </a:p>
        </p:txBody>
      </p:sp>
      <p:sp>
        <p:nvSpPr>
          <p:cNvPr id="25" name="Text 23"/>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 $2.0M PRIVATE CASE  ·  CONFIDENTIAL</a:t>
            </a:r>
            <a:endParaRPr lang="en-US" sz="700" dirty="0"/>
          </a:p>
        </p:txBody>
      </p:sp>
      <p:sp>
        <p:nvSpPr>
          <p:cNvPr id="26" name="Text 24"/>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5</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THE SURGERY SUITE</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One accredited operating room, inside the clinic.</a:t>
            </a:r>
            <a:endParaRPr lang="en-US" sz="2600" dirty="0"/>
          </a:p>
        </p:txBody>
      </p:sp>
      <p:sp>
        <p:nvSpPr>
          <p:cNvPr id="4" name="Text 2"/>
          <p:cNvSpPr/>
          <p:nvPr/>
        </p:nvSpPr>
        <p:spPr>
          <a:xfrm>
            <a:off x="502920" y="1097280"/>
            <a:ext cx="8138160" cy="457200"/>
          </a:xfrm>
          <a:prstGeom prst="rect">
            <a:avLst/>
          </a:prstGeom>
          <a:noFill/>
          <a:ln/>
        </p:spPr>
        <p:txBody>
          <a:bodyPr wrap="square" rtlCol="0" anchor="t"/>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A 900 SF office-based surgery suite planned to the published iOR Partners specification, accredited by Quad A. It sits in the clinic layer, so anyone can book it, surgery is never a membership benefit. L&amp;K bills a facility fee; the operating surgeon is a principal who bills their professional fee directly.</a:t>
            </a:r>
            <a:endParaRPr lang="en-US" sz="1150" dirty="0"/>
          </a:p>
        </p:txBody>
      </p:sp>
      <p:sp>
        <p:nvSpPr>
          <p:cNvPr id="5" name="Shape 3"/>
          <p:cNvSpPr/>
          <p:nvPr/>
        </p:nvSpPr>
        <p:spPr>
          <a:xfrm>
            <a:off x="502920" y="1645920"/>
            <a:ext cx="8138160" cy="841248"/>
          </a:xfrm>
          <a:prstGeom prst="roundRect">
            <a:avLst>
              <a:gd name="adj" fmla="val 6522"/>
            </a:avLst>
          </a:prstGeom>
          <a:solidFill>
            <a:srgbClr val="241C1A"/>
          </a:solidFill>
          <a:ln w="15875">
            <a:solidFill>
              <a:srgbClr val="C08D7C"/>
            </a:solidFill>
            <a:prstDash val="solid"/>
          </a:ln>
        </p:spPr>
      </p:sp>
      <p:sp>
        <p:nvSpPr>
          <p:cNvPr id="6" name="Text 4"/>
          <p:cNvSpPr/>
          <p:nvPr/>
        </p:nvSpPr>
        <p:spPr>
          <a:xfrm>
            <a:off x="704088" y="1737360"/>
            <a:ext cx="7735824" cy="256032"/>
          </a:xfrm>
          <a:prstGeom prst="rect">
            <a:avLst/>
          </a:prstGeom>
          <a:noFill/>
          <a:ln/>
        </p:spPr>
        <p:txBody>
          <a:bodyPr wrap="square" rtlCol="0" anchor="ctr"/>
          <a:lstStyle/>
          <a:p>
            <a:pPr indent="0" marL="0">
              <a:buNone/>
            </a:pPr>
            <a:r>
              <a:rPr lang="en-US" sz="1300" dirty="0">
                <a:solidFill>
                  <a:srgbClr val="EDE6DA"/>
                </a:solidFill>
                <a:latin typeface="Century Gothic" pitchFamily="34" charset="0"/>
                <a:ea typeface="Century Gothic" pitchFamily="34" charset="-122"/>
                <a:cs typeface="Century Gothic" pitchFamily="34" charset="-120"/>
              </a:rPr>
              <a:t>Moderate sedation. Under two hours of recovery. Nothing above that line.</a:t>
            </a:r>
            <a:endParaRPr lang="en-US" sz="1300" dirty="0"/>
          </a:p>
        </p:txBody>
      </p:sp>
      <p:sp>
        <p:nvSpPr>
          <p:cNvPr id="7" name="Text 5"/>
          <p:cNvSpPr/>
          <p:nvPr/>
        </p:nvSpPr>
        <p:spPr>
          <a:xfrm>
            <a:off x="704088" y="2011680"/>
            <a:ext cx="7735824" cy="420624"/>
          </a:xfrm>
          <a:prstGeom prst="rect">
            <a:avLst/>
          </a:prstGeom>
          <a:noFill/>
          <a:ln/>
        </p:spPr>
        <p:txBody>
          <a:bodyPr wrap="square" rtlCol="0" anchor="ctr"/>
          <a:lstStyle/>
          <a:p>
            <a:pPr indent="0" marL="0">
              <a:lnSpc>
                <a:spcPct val="112000"/>
              </a:lnSpc>
              <a:buNone/>
            </a:pPr>
            <a:r>
              <a:rPr lang="en-US" sz="900" dirty="0">
                <a:solidFill>
                  <a:srgbClr val="A8A296"/>
                </a:solidFill>
                <a:latin typeface="Calibri" pitchFamily="34" charset="0"/>
                <a:ea typeface="Calibri" pitchFamily="34" charset="-122"/>
                <a:cs typeface="Calibri" pitchFamily="34" charset="-120"/>
              </a:rPr>
              <a:t>A design decision, not a limitation. It is why there is no anesthesiologist on payroll, no anesthesia machine in the budget, and only three PACU bays. California requires accreditation only when protective reflexes may be lost; moderate sedation preserves them, so this suite sits below the trigger. We accredit anyway.</a:t>
            </a:r>
            <a:endParaRPr lang="en-US" sz="900" dirty="0"/>
          </a:p>
        </p:txBody>
      </p:sp>
      <p:sp>
        <p:nvSpPr>
          <p:cNvPr id="8" name="Shape 6"/>
          <p:cNvSpPr/>
          <p:nvPr/>
        </p:nvSpPr>
        <p:spPr>
          <a:xfrm>
            <a:off x="502920" y="2578608"/>
            <a:ext cx="3986784" cy="1901952"/>
          </a:xfrm>
          <a:prstGeom prst="roundRect">
            <a:avLst>
              <a:gd name="adj" fmla="val 2885"/>
            </a:avLst>
          </a:prstGeom>
          <a:solidFill>
            <a:srgbClr val="16241C"/>
          </a:solidFill>
          <a:ln w="12700">
            <a:solidFill>
              <a:srgbClr val="2E4237"/>
            </a:solidFill>
            <a:prstDash val="solid"/>
          </a:ln>
        </p:spPr>
      </p:sp>
      <p:sp>
        <p:nvSpPr>
          <p:cNvPr id="9" name="Text 7"/>
          <p:cNvSpPr/>
          <p:nvPr/>
        </p:nvSpPr>
        <p:spPr>
          <a:xfrm>
            <a:off x="649224" y="2670048"/>
            <a:ext cx="3694176" cy="164592"/>
          </a:xfrm>
          <a:prstGeom prst="rect">
            <a:avLst/>
          </a:prstGeom>
          <a:noFill/>
          <a:ln/>
        </p:spPr>
        <p:txBody>
          <a:bodyPr wrap="square" rtlCol="0" anchor="ctr"/>
          <a:lstStyle/>
          <a:p>
            <a:pPr indent="0" marL="0">
              <a:buNone/>
            </a:pPr>
            <a:r>
              <a:rPr lang="en-US" sz="750" spc="200" kern="0" dirty="0">
                <a:solidFill>
                  <a:srgbClr val="C08D7C"/>
                </a:solidFill>
                <a:latin typeface="Century Gothic" pitchFamily="34" charset="0"/>
                <a:ea typeface="Century Gothic" pitchFamily="34" charset="-122"/>
                <a:cs typeface="Century Gothic" pitchFamily="34" charset="-120"/>
              </a:rPr>
              <a:t>IN THE OPERATING ROOM</a:t>
            </a:r>
            <a:endParaRPr lang="en-US" sz="750" dirty="0"/>
          </a:p>
        </p:txBody>
      </p:sp>
      <p:sp>
        <p:nvSpPr>
          <p:cNvPr id="10" name="Text 8"/>
          <p:cNvSpPr/>
          <p:nvPr/>
        </p:nvSpPr>
        <p:spPr>
          <a:xfrm>
            <a:off x="649224" y="2852928"/>
            <a:ext cx="3694176" cy="1554480"/>
          </a:xfrm>
          <a:prstGeom prst="rect">
            <a:avLst/>
          </a:prstGeom>
          <a:noFill/>
          <a:ln/>
        </p:spPr>
        <p:txBody>
          <a:bodyPr wrap="square" rtlCol="0" anchor="t"/>
          <a:lstStyle/>
          <a:p>
            <a:pPr marL="342900" indent="-342900">
              <a:lnSpc>
                <a:spcPct val="105000"/>
              </a:lnSpc>
              <a:buSzPct val="100000"/>
              <a:buChar char="•"/>
            </a:pPr>
            <a:r>
              <a:rPr lang="en-US" sz="700" dirty="0">
                <a:solidFill>
                  <a:srgbClr val="A8A296"/>
                </a:solidFill>
                <a:latin typeface="Calibri" pitchFamily="34" charset="0"/>
                <a:ea typeface="Calibri" pitchFamily="34" charset="-122"/>
                <a:cs typeface="Calibri" pitchFamily="34" charset="-120"/>
              </a:rPr>
              <a:t>Blepharoplasty, upper, lower and combined</a:t>
            </a:r>
            <a:endParaRPr lang="en-US" sz="700" dirty="0"/>
          </a:p>
          <a:p>
            <a:pPr marL="342900" indent="-342900">
              <a:lnSpc>
                <a:spcPct val="105000"/>
              </a:lnSpc>
              <a:buSzPct val="100000"/>
              <a:buChar char="•"/>
            </a:pPr>
            <a:r>
              <a:rPr lang="en-US" sz="700" dirty="0">
                <a:solidFill>
                  <a:srgbClr val="A8A296"/>
                </a:solidFill>
                <a:latin typeface="Calibri" pitchFamily="34" charset="0"/>
                <a:ea typeface="Calibri" pitchFamily="34" charset="-122"/>
                <a:cs typeface="Calibri" pitchFamily="34" charset="-120"/>
              </a:rPr>
              <a:t>Brow lift</a:t>
            </a:r>
            <a:endParaRPr lang="en-US" sz="700" dirty="0"/>
          </a:p>
          <a:p>
            <a:pPr marL="342900" indent="-342900">
              <a:lnSpc>
                <a:spcPct val="105000"/>
              </a:lnSpc>
              <a:buSzPct val="100000"/>
              <a:buChar char="•"/>
            </a:pPr>
            <a:r>
              <a:rPr lang="en-US" sz="700" dirty="0">
                <a:solidFill>
                  <a:srgbClr val="A8A296"/>
                </a:solidFill>
                <a:latin typeface="Calibri" pitchFamily="34" charset="0"/>
                <a:ea typeface="Calibri" pitchFamily="34" charset="-122"/>
                <a:cs typeface="Calibri" pitchFamily="34" charset="-120"/>
              </a:rPr>
              <a:t>Otoplasty</a:t>
            </a:r>
            <a:endParaRPr lang="en-US" sz="700" dirty="0"/>
          </a:p>
          <a:p>
            <a:pPr marL="342900" indent="-342900">
              <a:lnSpc>
                <a:spcPct val="105000"/>
              </a:lnSpc>
              <a:buSzPct val="100000"/>
              <a:buChar char="•"/>
            </a:pPr>
            <a:r>
              <a:rPr lang="en-US" sz="700" dirty="0">
                <a:solidFill>
                  <a:srgbClr val="A8A296"/>
                </a:solidFill>
                <a:latin typeface="Calibri" pitchFamily="34" charset="0"/>
                <a:ea typeface="Calibri" pitchFamily="34" charset="-122"/>
                <a:cs typeface="Calibri" pitchFamily="34" charset="-120"/>
              </a:rPr>
              <a:t>Chin augmentation and implant</a:t>
            </a:r>
            <a:endParaRPr lang="en-US" sz="700" dirty="0"/>
          </a:p>
          <a:p>
            <a:pPr marL="342900" indent="-342900">
              <a:lnSpc>
                <a:spcPct val="105000"/>
              </a:lnSpc>
              <a:buSzPct val="100000"/>
              <a:buChar char="•"/>
            </a:pPr>
            <a:r>
              <a:rPr lang="en-US" sz="700" dirty="0">
                <a:solidFill>
                  <a:srgbClr val="A8A296"/>
                </a:solidFill>
                <a:latin typeface="Calibri" pitchFamily="34" charset="0"/>
                <a:ea typeface="Calibri" pitchFamily="34" charset="-122"/>
                <a:cs typeface="Calibri" pitchFamily="34" charset="-120"/>
              </a:rPr>
              <a:t>Buccal fat removal</a:t>
            </a:r>
            <a:endParaRPr lang="en-US" sz="700" dirty="0"/>
          </a:p>
          <a:p>
            <a:pPr marL="342900" indent="-342900">
              <a:lnSpc>
                <a:spcPct val="105000"/>
              </a:lnSpc>
              <a:buSzPct val="100000"/>
              <a:buChar char="•"/>
            </a:pPr>
            <a:r>
              <a:rPr lang="en-US" sz="700" dirty="0">
                <a:solidFill>
                  <a:srgbClr val="A8A296"/>
                </a:solidFill>
                <a:latin typeface="Calibri" pitchFamily="34" charset="0"/>
                <a:ea typeface="Calibri" pitchFamily="34" charset="-122"/>
                <a:cs typeface="Calibri" pitchFamily="34" charset="-120"/>
              </a:rPr>
              <a:t>Facial fat grafting and transfer</a:t>
            </a:r>
            <a:endParaRPr lang="en-US" sz="700" dirty="0"/>
          </a:p>
          <a:p>
            <a:pPr marL="342900" indent="-342900">
              <a:lnSpc>
                <a:spcPct val="105000"/>
              </a:lnSpc>
              <a:buSzPct val="100000"/>
              <a:buChar char="•"/>
            </a:pPr>
            <a:r>
              <a:rPr lang="en-US" sz="700" dirty="0">
                <a:solidFill>
                  <a:srgbClr val="A8A296"/>
                </a:solidFill>
                <a:latin typeface="Calibri" pitchFamily="34" charset="0"/>
                <a:ea typeface="Calibri" pitchFamily="34" charset="-122"/>
                <a:cs typeface="Calibri" pitchFamily="34" charset="-120"/>
              </a:rPr>
              <a:t>Liposuction, single or limited area, awake tumescent</a:t>
            </a:r>
            <a:endParaRPr lang="en-US" sz="700" dirty="0"/>
          </a:p>
          <a:p>
            <a:pPr marL="342900" indent="-342900">
              <a:lnSpc>
                <a:spcPct val="105000"/>
              </a:lnSpc>
              <a:buSzPct val="100000"/>
              <a:buChar char="•"/>
            </a:pPr>
            <a:r>
              <a:rPr lang="en-US" sz="700" dirty="0">
                <a:solidFill>
                  <a:srgbClr val="A8A296"/>
                </a:solidFill>
                <a:latin typeface="Calibri" pitchFamily="34" charset="0"/>
                <a:ea typeface="Calibri" pitchFamily="34" charset="-122"/>
                <a:cs typeface="Calibri" pitchFamily="34" charset="-120"/>
              </a:rPr>
              <a:t>Submental neck contouring</a:t>
            </a:r>
            <a:endParaRPr lang="en-US" sz="700" dirty="0"/>
          </a:p>
          <a:p>
            <a:pPr marL="342900" indent="-342900">
              <a:lnSpc>
                <a:spcPct val="105000"/>
              </a:lnSpc>
              <a:buSzPct val="100000"/>
              <a:buChar char="•"/>
            </a:pPr>
            <a:r>
              <a:rPr lang="en-US" sz="700" dirty="0">
                <a:solidFill>
                  <a:srgbClr val="A8A296"/>
                </a:solidFill>
                <a:latin typeface="Calibri" pitchFamily="34" charset="0"/>
                <a:ea typeface="Calibri" pitchFamily="34" charset="-122"/>
                <a:cs typeface="Calibri" pitchFamily="34" charset="-120"/>
              </a:rPr>
              <a:t>Limited body-contouring revision</a:t>
            </a:r>
            <a:endParaRPr lang="en-US" sz="700" dirty="0"/>
          </a:p>
          <a:p>
            <a:pPr marL="342900" indent="-342900">
              <a:lnSpc>
                <a:spcPct val="105000"/>
              </a:lnSpc>
              <a:buSzPct val="100000"/>
              <a:buChar char="•"/>
            </a:pPr>
            <a:r>
              <a:rPr lang="en-US" sz="700" dirty="0">
                <a:solidFill>
                  <a:srgbClr val="A8A296"/>
                </a:solidFill>
                <a:latin typeface="Calibri" pitchFamily="34" charset="0"/>
                <a:ea typeface="Calibri" pitchFamily="34" charset="-122"/>
                <a:cs typeface="Calibri" pitchFamily="34" charset="-120"/>
              </a:rPr>
              <a:t>Scar revision, facial and body</a:t>
            </a:r>
            <a:endParaRPr lang="en-US" sz="700" dirty="0"/>
          </a:p>
          <a:p>
            <a:pPr marL="342900" indent="-342900">
              <a:lnSpc>
                <a:spcPct val="105000"/>
              </a:lnSpc>
              <a:buSzPct val="100000"/>
              <a:buChar char="•"/>
            </a:pPr>
            <a:r>
              <a:rPr lang="en-US" sz="700" dirty="0">
                <a:solidFill>
                  <a:srgbClr val="A8A296"/>
                </a:solidFill>
                <a:latin typeface="Calibri" pitchFamily="34" charset="0"/>
                <a:ea typeface="Calibri" pitchFamily="34" charset="-122"/>
                <a:cs typeface="Calibri" pitchFamily="34" charset="-120"/>
              </a:rPr>
              <a:t>Nasal valve procedures sold as elective self-pay</a:t>
            </a:r>
            <a:endParaRPr lang="en-US" sz="700" dirty="0"/>
          </a:p>
        </p:txBody>
      </p:sp>
      <p:sp>
        <p:nvSpPr>
          <p:cNvPr id="11" name="Shape 9"/>
          <p:cNvSpPr/>
          <p:nvPr/>
        </p:nvSpPr>
        <p:spPr>
          <a:xfrm>
            <a:off x="4654296" y="2578608"/>
            <a:ext cx="3986784" cy="1901952"/>
          </a:xfrm>
          <a:prstGeom prst="roundRect">
            <a:avLst>
              <a:gd name="adj" fmla="val 2885"/>
            </a:avLst>
          </a:prstGeom>
          <a:solidFill>
            <a:srgbClr val="16241C"/>
          </a:solidFill>
          <a:ln w="12700">
            <a:solidFill>
              <a:srgbClr val="2E4237"/>
            </a:solidFill>
            <a:prstDash val="solid"/>
          </a:ln>
        </p:spPr>
      </p:sp>
      <p:sp>
        <p:nvSpPr>
          <p:cNvPr id="12" name="Text 10"/>
          <p:cNvSpPr/>
          <p:nvPr/>
        </p:nvSpPr>
        <p:spPr>
          <a:xfrm>
            <a:off x="4800600" y="2670048"/>
            <a:ext cx="3694176" cy="164592"/>
          </a:xfrm>
          <a:prstGeom prst="rect">
            <a:avLst/>
          </a:prstGeom>
          <a:noFill/>
          <a:ln/>
        </p:spPr>
        <p:txBody>
          <a:bodyPr wrap="square" rtlCol="0" anchor="ctr"/>
          <a:lstStyle/>
          <a:p>
            <a:pPr indent="0" marL="0">
              <a:buNone/>
            </a:pPr>
            <a:r>
              <a:rPr lang="en-US" sz="750" spc="200" kern="0" dirty="0">
                <a:solidFill>
                  <a:srgbClr val="C08D7C"/>
                </a:solidFill>
                <a:latin typeface="Century Gothic" pitchFamily="34" charset="0"/>
                <a:ea typeface="Century Gothic" pitchFamily="34" charset="-122"/>
                <a:cs typeface="Century Gothic" pitchFamily="34" charset="-120"/>
              </a:rPr>
              <a:t>IN THE TREATMENT ROOMS, UNDER LOCAL</a:t>
            </a:r>
            <a:endParaRPr lang="en-US" sz="750" dirty="0"/>
          </a:p>
        </p:txBody>
      </p:sp>
      <p:sp>
        <p:nvSpPr>
          <p:cNvPr id="13" name="Text 11"/>
          <p:cNvSpPr/>
          <p:nvPr/>
        </p:nvSpPr>
        <p:spPr>
          <a:xfrm>
            <a:off x="4800600" y="2852928"/>
            <a:ext cx="3694176" cy="1554480"/>
          </a:xfrm>
          <a:prstGeom prst="rect">
            <a:avLst/>
          </a:prstGeom>
          <a:noFill/>
          <a:ln/>
        </p:spPr>
        <p:txBody>
          <a:bodyPr wrap="square" rtlCol="0" anchor="t"/>
          <a:lstStyle/>
          <a:p>
            <a:pPr marL="342900" indent="-342900">
              <a:lnSpc>
                <a:spcPct val="105000"/>
              </a:lnSpc>
              <a:buSzPct val="100000"/>
              <a:buChar char="•"/>
            </a:pPr>
            <a:r>
              <a:rPr lang="en-US" sz="700" dirty="0">
                <a:solidFill>
                  <a:srgbClr val="A8A296"/>
                </a:solidFill>
                <a:latin typeface="Calibri" pitchFamily="34" charset="0"/>
                <a:ea typeface="Calibri" pitchFamily="34" charset="-122"/>
                <a:cs typeface="Calibri" pitchFamily="34" charset="-120"/>
              </a:rPr>
              <a:t>Lipoma removal</a:t>
            </a:r>
            <a:endParaRPr lang="en-US" sz="700" dirty="0"/>
          </a:p>
          <a:p>
            <a:pPr marL="342900" indent="-342900">
              <a:lnSpc>
                <a:spcPct val="105000"/>
              </a:lnSpc>
              <a:buSzPct val="100000"/>
              <a:buChar char="•"/>
            </a:pPr>
            <a:r>
              <a:rPr lang="en-US" sz="700" dirty="0">
                <a:solidFill>
                  <a:srgbClr val="A8A296"/>
                </a:solidFill>
                <a:latin typeface="Calibri" pitchFamily="34" charset="0"/>
                <a:ea typeface="Calibri" pitchFamily="34" charset="-122"/>
                <a:cs typeface="Calibri" pitchFamily="34" charset="-120"/>
              </a:rPr>
              <a:t>Cyst removal</a:t>
            </a:r>
            <a:endParaRPr lang="en-US" sz="700" dirty="0"/>
          </a:p>
          <a:p>
            <a:pPr marL="342900" indent="-342900">
              <a:lnSpc>
                <a:spcPct val="105000"/>
              </a:lnSpc>
              <a:buSzPct val="100000"/>
              <a:buChar char="•"/>
            </a:pPr>
            <a:r>
              <a:rPr lang="en-US" sz="700" dirty="0">
                <a:solidFill>
                  <a:srgbClr val="A8A296"/>
                </a:solidFill>
                <a:latin typeface="Calibri" pitchFamily="34" charset="0"/>
                <a:ea typeface="Calibri" pitchFamily="34" charset="-122"/>
                <a:cs typeface="Calibri" pitchFamily="34" charset="-120"/>
              </a:rPr>
              <a:t>Benign lesion removal</a:t>
            </a:r>
            <a:endParaRPr lang="en-US" sz="700" dirty="0"/>
          </a:p>
          <a:p>
            <a:pPr marL="342900" indent="-342900">
              <a:lnSpc>
                <a:spcPct val="105000"/>
              </a:lnSpc>
              <a:buSzPct val="100000"/>
              <a:buChar char="•"/>
            </a:pPr>
            <a:r>
              <a:rPr lang="en-US" sz="700" dirty="0">
                <a:solidFill>
                  <a:srgbClr val="A8A296"/>
                </a:solidFill>
                <a:latin typeface="Calibri" pitchFamily="34" charset="0"/>
                <a:ea typeface="Calibri" pitchFamily="34" charset="-122"/>
                <a:cs typeface="Calibri" pitchFamily="34" charset="-120"/>
              </a:rPr>
              <a:t>Ablative laser resurfacing</a:t>
            </a:r>
            <a:endParaRPr lang="en-US" sz="700" dirty="0"/>
          </a:p>
          <a:p>
            <a:pPr marL="342900" indent="-342900">
              <a:lnSpc>
                <a:spcPct val="105000"/>
              </a:lnSpc>
              <a:buSzPct val="100000"/>
              <a:buChar char="•"/>
            </a:pPr>
            <a:r>
              <a:rPr lang="en-US" sz="700" dirty="0">
                <a:solidFill>
                  <a:srgbClr val="A8A296"/>
                </a:solidFill>
                <a:latin typeface="Calibri" pitchFamily="34" charset="0"/>
                <a:ea typeface="Calibri" pitchFamily="34" charset="-122"/>
                <a:cs typeface="Calibri" pitchFamily="34" charset="-120"/>
              </a:rPr>
              <a:t>Skin tightening</a:t>
            </a:r>
            <a:endParaRPr lang="en-US" sz="700" dirty="0"/>
          </a:p>
          <a:p>
            <a:pPr marL="342900" indent="-342900">
              <a:lnSpc>
                <a:spcPct val="105000"/>
              </a:lnSpc>
              <a:buSzPct val="100000"/>
              <a:buChar char="•"/>
            </a:pPr>
            <a:r>
              <a:rPr lang="en-US" sz="700" dirty="0">
                <a:solidFill>
                  <a:srgbClr val="A8A296"/>
                </a:solidFill>
                <a:latin typeface="Calibri" pitchFamily="34" charset="0"/>
                <a:ea typeface="Calibri" pitchFamily="34" charset="-122"/>
                <a:cs typeface="Calibri" pitchFamily="34" charset="-120"/>
              </a:rPr>
              <a:t>Hair restoration surgery and transplant</a:t>
            </a:r>
            <a:endParaRPr lang="en-US" sz="700" dirty="0"/>
          </a:p>
        </p:txBody>
      </p:sp>
      <p:sp>
        <p:nvSpPr>
          <p:cNvPr id="14" name="Text 12"/>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 $2.0M PRIVATE CASE  ·  CONFIDENTIAL</a:t>
            </a:r>
            <a:endParaRPr lang="en-US" sz="700" dirty="0"/>
          </a:p>
        </p:txBody>
      </p:sp>
      <p:sp>
        <p:nvSpPr>
          <p:cNvPr id="15" name="Text 13"/>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6</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MEMBERSHIP ARCHITECTURE</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A ladder, not a gate.</a:t>
            </a:r>
            <a:endParaRPr lang="en-US" sz="2600" dirty="0"/>
          </a:p>
        </p:txBody>
      </p:sp>
      <p:sp>
        <p:nvSpPr>
          <p:cNvPr id="4" name="Shape 2"/>
          <p:cNvSpPr/>
          <p:nvPr/>
        </p:nvSpPr>
        <p:spPr>
          <a:xfrm>
            <a:off x="502920" y="1371600"/>
            <a:ext cx="1924812" cy="3063240"/>
          </a:xfrm>
          <a:prstGeom prst="roundRect">
            <a:avLst>
              <a:gd name="adj" fmla="val 2850"/>
            </a:avLst>
          </a:prstGeom>
          <a:solidFill>
            <a:srgbClr val="16241C"/>
          </a:solidFill>
          <a:ln w="12700">
            <a:solidFill>
              <a:srgbClr val="2E4237"/>
            </a:solidFill>
            <a:prstDash val="solid"/>
          </a:ln>
        </p:spPr>
      </p:sp>
      <p:sp>
        <p:nvSpPr>
          <p:cNvPr id="5" name="Text 3"/>
          <p:cNvSpPr/>
          <p:nvPr/>
        </p:nvSpPr>
        <p:spPr>
          <a:xfrm>
            <a:off x="630936" y="1481328"/>
            <a:ext cx="1668780" cy="237744"/>
          </a:xfrm>
          <a:prstGeom prst="rect">
            <a:avLst/>
          </a:prstGeom>
          <a:noFill/>
          <a:ln/>
        </p:spPr>
        <p:txBody>
          <a:bodyPr wrap="square" rtlCol="0" anchor="ctr"/>
          <a:lstStyle/>
          <a:p>
            <a:pPr indent="0" marL="0">
              <a:buNone/>
            </a:pPr>
            <a:r>
              <a:rPr lang="en-US" sz="1150" dirty="0">
                <a:solidFill>
                  <a:srgbClr val="EDE6DA"/>
                </a:solidFill>
                <a:latin typeface="Century Gothic" pitchFamily="34" charset="0"/>
                <a:ea typeface="Century Gothic" pitchFamily="34" charset="-122"/>
                <a:cs typeface="Century Gothic" pitchFamily="34" charset="-120"/>
              </a:rPr>
              <a:t>Day Pass</a:t>
            </a:r>
            <a:endParaRPr lang="en-US" sz="1150" dirty="0"/>
          </a:p>
        </p:txBody>
      </p:sp>
      <p:sp>
        <p:nvSpPr>
          <p:cNvPr id="6" name="Text 4"/>
          <p:cNvSpPr/>
          <p:nvPr/>
        </p:nvSpPr>
        <p:spPr>
          <a:xfrm>
            <a:off x="630936" y="1737360"/>
            <a:ext cx="1668780" cy="310896"/>
          </a:xfrm>
          <a:prstGeom prst="rect">
            <a:avLst/>
          </a:prstGeom>
          <a:noFill/>
          <a:ln/>
        </p:spPr>
        <p:txBody>
          <a:bodyPr wrap="square" rtlCol="0" anchor="ctr"/>
          <a:lstStyle/>
          <a:p>
            <a:pPr indent="0" marL="0">
              <a:buNone/>
            </a:pPr>
            <a:r>
              <a:rPr lang="en-US" sz="1900" dirty="0">
                <a:solidFill>
                  <a:srgbClr val="C08D7C"/>
                </a:solidFill>
                <a:latin typeface="Century Gothic" pitchFamily="34" charset="0"/>
                <a:ea typeface="Century Gothic" pitchFamily="34" charset="-122"/>
                <a:cs typeface="Century Gothic" pitchFamily="34" charset="-120"/>
              </a:rPr>
              <a:t>$75</a:t>
            </a:r>
            <a:endParaRPr lang="en-US" sz="1900" dirty="0"/>
          </a:p>
        </p:txBody>
      </p:sp>
      <p:sp>
        <p:nvSpPr>
          <p:cNvPr id="7" name="Text 5"/>
          <p:cNvSpPr/>
          <p:nvPr/>
        </p:nvSpPr>
        <p:spPr>
          <a:xfrm>
            <a:off x="630936" y="2048256"/>
            <a:ext cx="1668780" cy="164592"/>
          </a:xfrm>
          <a:prstGeom prst="rect">
            <a:avLst/>
          </a:prstGeom>
          <a:noFill/>
          <a:ln/>
        </p:spPr>
        <p:txBody>
          <a:bodyPr wrap="square" rtlCol="0" anchor="ctr"/>
          <a:lstStyle/>
          <a:p>
            <a:pPr indent="0" marL="0">
              <a:buNone/>
            </a:pPr>
            <a:r>
              <a:rPr lang="en-US" sz="750" spc="140" kern="0" dirty="0">
                <a:solidFill>
                  <a:srgbClr val="6E6A62"/>
                </a:solidFill>
                <a:latin typeface="Century Gothic" pitchFamily="34" charset="0"/>
                <a:ea typeface="Century Gothic" pitchFamily="34" charset="-122"/>
                <a:cs typeface="Century Gothic" pitchFamily="34" charset="-120"/>
              </a:rPr>
              <a:t>PER VISIT</a:t>
            </a:r>
            <a:endParaRPr lang="en-US" sz="750" dirty="0"/>
          </a:p>
        </p:txBody>
      </p:sp>
      <p:sp>
        <p:nvSpPr>
          <p:cNvPr id="8" name="Text 6"/>
          <p:cNvSpPr/>
          <p:nvPr/>
        </p:nvSpPr>
        <p:spPr>
          <a:xfrm>
            <a:off x="630936" y="2286000"/>
            <a:ext cx="1668780" cy="1691640"/>
          </a:xfrm>
          <a:prstGeom prst="rect">
            <a:avLst/>
          </a:prstGeom>
          <a:noFill/>
          <a:ln/>
        </p:spPr>
        <p:txBody>
          <a:bodyPr wrap="square" rtlCol="0" anchor="t"/>
          <a:lstStyle/>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Single circuit visit</a:t>
            </a:r>
            <a:endParaRPr lang="en-US" sz="800" dirty="0"/>
          </a:p>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Procedures at list price</a:t>
            </a:r>
            <a:endParaRPr lang="en-US" sz="800" dirty="0"/>
          </a:p>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No events or lounge privileges</a:t>
            </a:r>
            <a:endParaRPr lang="en-US" sz="800" dirty="0"/>
          </a:p>
        </p:txBody>
      </p:sp>
      <p:sp>
        <p:nvSpPr>
          <p:cNvPr id="9" name="Text 7"/>
          <p:cNvSpPr/>
          <p:nvPr/>
        </p:nvSpPr>
        <p:spPr>
          <a:xfrm>
            <a:off x="630936" y="4114800"/>
            <a:ext cx="1668780" cy="219456"/>
          </a:xfrm>
          <a:prstGeom prst="rect">
            <a:avLst/>
          </a:prstGeom>
          <a:noFill/>
          <a:ln/>
        </p:spPr>
        <p:txBody>
          <a:bodyPr wrap="square" rtlCol="0" anchor="ctr"/>
          <a:lstStyle/>
          <a:p>
            <a:pPr indent="0" marL="0">
              <a:buNone/>
            </a:pPr>
            <a:r>
              <a:rPr lang="en-US" sz="800" dirty="0">
                <a:solidFill>
                  <a:srgbClr val="EDE6DA"/>
                </a:solidFill>
                <a:latin typeface="Century Gothic" pitchFamily="34" charset="0"/>
                <a:ea typeface="Century Gothic" pitchFamily="34" charset="-122"/>
                <a:cs typeface="Century Gothic" pitchFamily="34" charset="-120"/>
              </a:rPr>
              <a:t>275 visits/mo</a:t>
            </a:r>
            <a:endParaRPr lang="en-US" sz="800" dirty="0"/>
          </a:p>
        </p:txBody>
      </p:sp>
      <p:sp>
        <p:nvSpPr>
          <p:cNvPr id="10" name="Shape 8"/>
          <p:cNvSpPr/>
          <p:nvPr/>
        </p:nvSpPr>
        <p:spPr>
          <a:xfrm>
            <a:off x="2574036" y="1371600"/>
            <a:ext cx="1924812" cy="3063240"/>
          </a:xfrm>
          <a:prstGeom prst="roundRect">
            <a:avLst>
              <a:gd name="adj" fmla="val 2850"/>
            </a:avLst>
          </a:prstGeom>
          <a:solidFill>
            <a:srgbClr val="16241C"/>
          </a:solidFill>
          <a:ln w="12700">
            <a:solidFill>
              <a:srgbClr val="2E4237"/>
            </a:solidFill>
            <a:prstDash val="solid"/>
          </a:ln>
        </p:spPr>
      </p:sp>
      <p:sp>
        <p:nvSpPr>
          <p:cNvPr id="11" name="Text 9"/>
          <p:cNvSpPr/>
          <p:nvPr/>
        </p:nvSpPr>
        <p:spPr>
          <a:xfrm>
            <a:off x="2702052" y="1481328"/>
            <a:ext cx="1668780" cy="237744"/>
          </a:xfrm>
          <a:prstGeom prst="rect">
            <a:avLst/>
          </a:prstGeom>
          <a:noFill/>
          <a:ln/>
        </p:spPr>
        <p:txBody>
          <a:bodyPr wrap="square" rtlCol="0" anchor="ctr"/>
          <a:lstStyle/>
          <a:p>
            <a:pPr indent="0" marL="0">
              <a:buNone/>
            </a:pPr>
            <a:r>
              <a:rPr lang="en-US" sz="1150" dirty="0">
                <a:solidFill>
                  <a:srgbClr val="EDE6DA"/>
                </a:solidFill>
                <a:latin typeface="Century Gothic" pitchFamily="34" charset="0"/>
                <a:ea typeface="Century Gothic" pitchFamily="34" charset="-122"/>
                <a:cs typeface="Century Gothic" pitchFamily="34" charset="-120"/>
              </a:rPr>
              <a:t>Friends of L&amp;K</a:t>
            </a:r>
            <a:endParaRPr lang="en-US" sz="1150" dirty="0"/>
          </a:p>
        </p:txBody>
      </p:sp>
      <p:sp>
        <p:nvSpPr>
          <p:cNvPr id="12" name="Text 10"/>
          <p:cNvSpPr/>
          <p:nvPr/>
        </p:nvSpPr>
        <p:spPr>
          <a:xfrm>
            <a:off x="2702052" y="1737360"/>
            <a:ext cx="1668780" cy="310896"/>
          </a:xfrm>
          <a:prstGeom prst="rect">
            <a:avLst/>
          </a:prstGeom>
          <a:noFill/>
          <a:ln/>
        </p:spPr>
        <p:txBody>
          <a:bodyPr wrap="square" rtlCol="0" anchor="ctr"/>
          <a:lstStyle/>
          <a:p>
            <a:pPr indent="0" marL="0">
              <a:buNone/>
            </a:pPr>
            <a:r>
              <a:rPr lang="en-US" sz="1900" dirty="0">
                <a:solidFill>
                  <a:srgbClr val="C08D7C"/>
                </a:solidFill>
                <a:latin typeface="Century Gothic" pitchFamily="34" charset="0"/>
                <a:ea typeface="Century Gothic" pitchFamily="34" charset="-122"/>
                <a:cs typeface="Century Gothic" pitchFamily="34" charset="-120"/>
              </a:rPr>
              <a:t>$300</a:t>
            </a:r>
            <a:endParaRPr lang="en-US" sz="1900" dirty="0"/>
          </a:p>
        </p:txBody>
      </p:sp>
      <p:sp>
        <p:nvSpPr>
          <p:cNvPr id="13" name="Text 11"/>
          <p:cNvSpPr/>
          <p:nvPr/>
        </p:nvSpPr>
        <p:spPr>
          <a:xfrm>
            <a:off x="2702052" y="2048256"/>
            <a:ext cx="1668780" cy="164592"/>
          </a:xfrm>
          <a:prstGeom prst="rect">
            <a:avLst/>
          </a:prstGeom>
          <a:noFill/>
          <a:ln/>
        </p:spPr>
        <p:txBody>
          <a:bodyPr wrap="square" rtlCol="0" anchor="ctr"/>
          <a:lstStyle/>
          <a:p>
            <a:pPr indent="0" marL="0">
              <a:buNone/>
            </a:pPr>
            <a:r>
              <a:rPr lang="en-US" sz="750" spc="140" kern="0" dirty="0">
                <a:solidFill>
                  <a:srgbClr val="6E6A62"/>
                </a:solidFill>
                <a:latin typeface="Century Gothic" pitchFamily="34" charset="0"/>
                <a:ea typeface="Century Gothic" pitchFamily="34" charset="-122"/>
                <a:cs typeface="Century Gothic" pitchFamily="34" charset="-120"/>
              </a:rPr>
              <a:t>PER YEAR</a:t>
            </a:r>
            <a:endParaRPr lang="en-US" sz="750" dirty="0"/>
          </a:p>
        </p:txBody>
      </p:sp>
      <p:sp>
        <p:nvSpPr>
          <p:cNvPr id="14" name="Text 12"/>
          <p:cNvSpPr/>
          <p:nvPr/>
        </p:nvSpPr>
        <p:spPr>
          <a:xfrm>
            <a:off x="2702052" y="2286000"/>
            <a:ext cx="1668780" cy="1691640"/>
          </a:xfrm>
          <a:prstGeom prst="rect">
            <a:avLst/>
          </a:prstGeom>
          <a:noFill/>
          <a:ln/>
        </p:spPr>
        <p:txBody>
          <a:bodyPr wrap="square" rtlCol="0" anchor="t"/>
          <a:lstStyle/>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Member pricing on all procedures</a:t>
            </a:r>
            <a:endParaRPr lang="en-US" sz="800" dirty="0"/>
          </a:p>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Priority booking window</a:t>
            </a:r>
            <a:endParaRPr lang="en-US" sz="800" dirty="0"/>
          </a:p>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Invitations to open events</a:t>
            </a:r>
            <a:endParaRPr lang="en-US" sz="800" dirty="0"/>
          </a:p>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No club or circuit access</a:t>
            </a:r>
            <a:endParaRPr lang="en-US" sz="800" dirty="0"/>
          </a:p>
        </p:txBody>
      </p:sp>
      <p:sp>
        <p:nvSpPr>
          <p:cNvPr id="15" name="Text 13"/>
          <p:cNvSpPr/>
          <p:nvPr/>
        </p:nvSpPr>
        <p:spPr>
          <a:xfrm>
            <a:off x="2702052" y="4114800"/>
            <a:ext cx="1668780" cy="219456"/>
          </a:xfrm>
          <a:prstGeom prst="rect">
            <a:avLst/>
          </a:prstGeom>
          <a:noFill/>
          <a:ln/>
        </p:spPr>
        <p:txBody>
          <a:bodyPr wrap="square" rtlCol="0" anchor="ctr"/>
          <a:lstStyle/>
          <a:p>
            <a:pPr indent="0" marL="0">
              <a:buNone/>
            </a:pPr>
            <a:r>
              <a:rPr lang="en-US" sz="800" dirty="0">
                <a:solidFill>
                  <a:srgbClr val="EDE6DA"/>
                </a:solidFill>
                <a:latin typeface="Century Gothic" pitchFamily="34" charset="0"/>
                <a:ea typeface="Century Gothic" pitchFamily="34" charset="-122"/>
                <a:cs typeface="Century Gothic" pitchFamily="34" charset="-120"/>
              </a:rPr>
              <a:t>900 members</a:t>
            </a:r>
            <a:endParaRPr lang="en-US" sz="800" dirty="0"/>
          </a:p>
        </p:txBody>
      </p:sp>
      <p:sp>
        <p:nvSpPr>
          <p:cNvPr id="16" name="Shape 14"/>
          <p:cNvSpPr/>
          <p:nvPr/>
        </p:nvSpPr>
        <p:spPr>
          <a:xfrm>
            <a:off x="4645152" y="1371600"/>
            <a:ext cx="1924812" cy="3063240"/>
          </a:xfrm>
          <a:prstGeom prst="roundRect">
            <a:avLst>
              <a:gd name="adj" fmla="val 2850"/>
            </a:avLst>
          </a:prstGeom>
          <a:solidFill>
            <a:srgbClr val="16241C"/>
          </a:solidFill>
          <a:ln w="12700">
            <a:solidFill>
              <a:srgbClr val="2E4237"/>
            </a:solidFill>
            <a:prstDash val="solid"/>
          </a:ln>
        </p:spPr>
      </p:sp>
      <p:sp>
        <p:nvSpPr>
          <p:cNvPr id="17" name="Text 15"/>
          <p:cNvSpPr/>
          <p:nvPr/>
        </p:nvSpPr>
        <p:spPr>
          <a:xfrm>
            <a:off x="4773168" y="1481328"/>
            <a:ext cx="1668780" cy="237744"/>
          </a:xfrm>
          <a:prstGeom prst="rect">
            <a:avLst/>
          </a:prstGeom>
          <a:noFill/>
          <a:ln/>
        </p:spPr>
        <p:txBody>
          <a:bodyPr wrap="square" rtlCol="0" anchor="ctr"/>
          <a:lstStyle/>
          <a:p>
            <a:pPr indent="0" marL="0">
              <a:buNone/>
            </a:pPr>
            <a:r>
              <a:rPr lang="en-US" sz="1150" dirty="0">
                <a:solidFill>
                  <a:srgbClr val="EDE6DA"/>
                </a:solidFill>
                <a:latin typeface="Century Gothic" pitchFamily="34" charset="0"/>
                <a:ea typeface="Century Gothic" pitchFamily="34" charset="-122"/>
                <a:cs typeface="Century Gothic" pitchFamily="34" charset="-120"/>
              </a:rPr>
              <a:t>Resident</a:t>
            </a:r>
            <a:endParaRPr lang="en-US" sz="1150" dirty="0"/>
          </a:p>
        </p:txBody>
      </p:sp>
      <p:sp>
        <p:nvSpPr>
          <p:cNvPr id="18" name="Text 16"/>
          <p:cNvSpPr/>
          <p:nvPr/>
        </p:nvSpPr>
        <p:spPr>
          <a:xfrm>
            <a:off x="4773168" y="1737360"/>
            <a:ext cx="1668780" cy="310896"/>
          </a:xfrm>
          <a:prstGeom prst="rect">
            <a:avLst/>
          </a:prstGeom>
          <a:noFill/>
          <a:ln/>
        </p:spPr>
        <p:txBody>
          <a:bodyPr wrap="square" rtlCol="0" anchor="ctr"/>
          <a:lstStyle/>
          <a:p>
            <a:pPr indent="0" marL="0">
              <a:buNone/>
            </a:pPr>
            <a:r>
              <a:rPr lang="en-US" sz="1900" dirty="0">
                <a:solidFill>
                  <a:srgbClr val="C08D7C"/>
                </a:solidFill>
                <a:latin typeface="Century Gothic" pitchFamily="34" charset="0"/>
                <a:ea typeface="Century Gothic" pitchFamily="34" charset="-122"/>
                <a:cs typeface="Century Gothic" pitchFamily="34" charset="-120"/>
              </a:rPr>
              <a:t>$450</a:t>
            </a:r>
            <a:endParaRPr lang="en-US" sz="1900" dirty="0"/>
          </a:p>
        </p:txBody>
      </p:sp>
      <p:sp>
        <p:nvSpPr>
          <p:cNvPr id="19" name="Text 17"/>
          <p:cNvSpPr/>
          <p:nvPr/>
        </p:nvSpPr>
        <p:spPr>
          <a:xfrm>
            <a:off x="4773168" y="2048256"/>
            <a:ext cx="1668780" cy="164592"/>
          </a:xfrm>
          <a:prstGeom prst="rect">
            <a:avLst/>
          </a:prstGeom>
          <a:noFill/>
          <a:ln/>
        </p:spPr>
        <p:txBody>
          <a:bodyPr wrap="square" rtlCol="0" anchor="ctr"/>
          <a:lstStyle/>
          <a:p>
            <a:pPr indent="0" marL="0">
              <a:buNone/>
            </a:pPr>
            <a:r>
              <a:rPr lang="en-US" sz="750" spc="140" kern="0" dirty="0">
                <a:solidFill>
                  <a:srgbClr val="6E6A62"/>
                </a:solidFill>
                <a:latin typeface="Century Gothic" pitchFamily="34" charset="0"/>
                <a:ea typeface="Century Gothic" pitchFamily="34" charset="-122"/>
                <a:cs typeface="Century Gothic" pitchFamily="34" charset="-120"/>
              </a:rPr>
              <a:t>PER MONTH</a:t>
            </a:r>
            <a:endParaRPr lang="en-US" sz="750" dirty="0"/>
          </a:p>
        </p:txBody>
      </p:sp>
      <p:sp>
        <p:nvSpPr>
          <p:cNvPr id="20" name="Text 18"/>
          <p:cNvSpPr/>
          <p:nvPr/>
        </p:nvSpPr>
        <p:spPr>
          <a:xfrm>
            <a:off x="4773168" y="2286000"/>
            <a:ext cx="1668780" cy="1691640"/>
          </a:xfrm>
          <a:prstGeom prst="rect">
            <a:avLst/>
          </a:prstGeom>
          <a:noFill/>
          <a:ln/>
        </p:spPr>
        <p:txBody>
          <a:bodyPr wrap="square" rtlCol="0" anchor="t"/>
          <a:lstStyle/>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Rolling monthly credit bank</a:t>
            </a:r>
            <a:endParaRPr lang="en-US" sz="800" dirty="0"/>
          </a:p>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Unlimited recovery circuit</a:t>
            </a:r>
            <a:endParaRPr lang="en-US" sz="800" dirty="0"/>
          </a:p>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Member pricing on all procedures</a:t>
            </a:r>
            <a:endParaRPr lang="en-US" sz="800" dirty="0"/>
          </a:p>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1 guest pass per month</a:t>
            </a:r>
            <a:endParaRPr lang="en-US" sz="800" dirty="0"/>
          </a:p>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Member events</a:t>
            </a:r>
            <a:endParaRPr lang="en-US" sz="800" dirty="0"/>
          </a:p>
        </p:txBody>
      </p:sp>
      <p:sp>
        <p:nvSpPr>
          <p:cNvPr id="21" name="Text 19"/>
          <p:cNvSpPr/>
          <p:nvPr/>
        </p:nvSpPr>
        <p:spPr>
          <a:xfrm>
            <a:off x="4773168" y="4114800"/>
            <a:ext cx="1668780" cy="219456"/>
          </a:xfrm>
          <a:prstGeom prst="rect">
            <a:avLst/>
          </a:prstGeom>
          <a:noFill/>
          <a:ln/>
        </p:spPr>
        <p:txBody>
          <a:bodyPr wrap="square" rtlCol="0" anchor="ctr"/>
          <a:lstStyle/>
          <a:p>
            <a:pPr indent="0" marL="0">
              <a:buNone/>
            </a:pPr>
            <a:r>
              <a:rPr lang="en-US" sz="800" dirty="0">
                <a:solidFill>
                  <a:srgbClr val="EDE6DA"/>
                </a:solidFill>
                <a:latin typeface="Century Gothic" pitchFamily="34" charset="0"/>
                <a:ea typeface="Century Gothic" pitchFamily="34" charset="-122"/>
                <a:cs typeface="Century Gothic" pitchFamily="34" charset="-120"/>
              </a:rPr>
              <a:t>350 members · capped</a:t>
            </a:r>
            <a:endParaRPr lang="en-US" sz="800" dirty="0"/>
          </a:p>
        </p:txBody>
      </p:sp>
      <p:sp>
        <p:nvSpPr>
          <p:cNvPr id="22" name="Shape 20"/>
          <p:cNvSpPr/>
          <p:nvPr/>
        </p:nvSpPr>
        <p:spPr>
          <a:xfrm>
            <a:off x="6716268" y="1371600"/>
            <a:ext cx="1924812" cy="3063240"/>
          </a:xfrm>
          <a:prstGeom prst="roundRect">
            <a:avLst>
              <a:gd name="adj" fmla="val 2850"/>
            </a:avLst>
          </a:prstGeom>
          <a:solidFill>
            <a:srgbClr val="241C1A"/>
          </a:solidFill>
          <a:ln w="12700">
            <a:solidFill>
              <a:srgbClr val="C08D7C"/>
            </a:solidFill>
            <a:prstDash val="solid"/>
          </a:ln>
        </p:spPr>
      </p:sp>
      <p:sp>
        <p:nvSpPr>
          <p:cNvPr id="23" name="Text 21"/>
          <p:cNvSpPr/>
          <p:nvPr/>
        </p:nvSpPr>
        <p:spPr>
          <a:xfrm>
            <a:off x="6844284" y="1481328"/>
            <a:ext cx="1668780" cy="237744"/>
          </a:xfrm>
          <a:prstGeom prst="rect">
            <a:avLst/>
          </a:prstGeom>
          <a:noFill/>
          <a:ln/>
        </p:spPr>
        <p:txBody>
          <a:bodyPr wrap="square" rtlCol="0" anchor="ctr"/>
          <a:lstStyle/>
          <a:p>
            <a:pPr indent="0" marL="0">
              <a:buNone/>
            </a:pPr>
            <a:r>
              <a:rPr lang="en-US" sz="1150" dirty="0">
                <a:solidFill>
                  <a:srgbClr val="EDE6DA"/>
                </a:solidFill>
                <a:latin typeface="Century Gothic" pitchFamily="34" charset="0"/>
                <a:ea typeface="Century Gothic" pitchFamily="34" charset="-122"/>
                <a:cs typeface="Century Gothic" pitchFamily="34" charset="-120"/>
              </a:rPr>
              <a:t>Longevity</a:t>
            </a:r>
            <a:endParaRPr lang="en-US" sz="1150" dirty="0"/>
          </a:p>
        </p:txBody>
      </p:sp>
      <p:sp>
        <p:nvSpPr>
          <p:cNvPr id="24" name="Text 22"/>
          <p:cNvSpPr/>
          <p:nvPr/>
        </p:nvSpPr>
        <p:spPr>
          <a:xfrm>
            <a:off x="6844284" y="1737360"/>
            <a:ext cx="1668780" cy="310896"/>
          </a:xfrm>
          <a:prstGeom prst="rect">
            <a:avLst/>
          </a:prstGeom>
          <a:noFill/>
          <a:ln/>
        </p:spPr>
        <p:txBody>
          <a:bodyPr wrap="square" rtlCol="0" anchor="ctr"/>
          <a:lstStyle/>
          <a:p>
            <a:pPr indent="0" marL="0">
              <a:buNone/>
            </a:pPr>
            <a:r>
              <a:rPr lang="en-US" sz="1900" dirty="0">
                <a:solidFill>
                  <a:srgbClr val="C08D7C"/>
                </a:solidFill>
                <a:latin typeface="Century Gothic" pitchFamily="34" charset="0"/>
                <a:ea typeface="Century Gothic" pitchFamily="34" charset="-122"/>
                <a:cs typeface="Century Gothic" pitchFamily="34" charset="-120"/>
              </a:rPr>
              <a:t>$1,250</a:t>
            </a:r>
            <a:endParaRPr lang="en-US" sz="1900" dirty="0"/>
          </a:p>
        </p:txBody>
      </p:sp>
      <p:sp>
        <p:nvSpPr>
          <p:cNvPr id="25" name="Text 23"/>
          <p:cNvSpPr/>
          <p:nvPr/>
        </p:nvSpPr>
        <p:spPr>
          <a:xfrm>
            <a:off x="6844284" y="2048256"/>
            <a:ext cx="1668780" cy="164592"/>
          </a:xfrm>
          <a:prstGeom prst="rect">
            <a:avLst/>
          </a:prstGeom>
          <a:noFill/>
          <a:ln/>
        </p:spPr>
        <p:txBody>
          <a:bodyPr wrap="square" rtlCol="0" anchor="ctr"/>
          <a:lstStyle/>
          <a:p>
            <a:pPr indent="0" marL="0">
              <a:buNone/>
            </a:pPr>
            <a:r>
              <a:rPr lang="en-US" sz="750" spc="140" kern="0" dirty="0">
                <a:solidFill>
                  <a:srgbClr val="6E6A62"/>
                </a:solidFill>
                <a:latin typeface="Century Gothic" pitchFamily="34" charset="0"/>
                <a:ea typeface="Century Gothic" pitchFamily="34" charset="-122"/>
                <a:cs typeface="Century Gothic" pitchFamily="34" charset="-120"/>
              </a:rPr>
              <a:t>PER MONTH</a:t>
            </a:r>
            <a:endParaRPr lang="en-US" sz="750" dirty="0"/>
          </a:p>
        </p:txBody>
      </p:sp>
      <p:sp>
        <p:nvSpPr>
          <p:cNvPr id="26" name="Text 24"/>
          <p:cNvSpPr/>
          <p:nvPr/>
        </p:nvSpPr>
        <p:spPr>
          <a:xfrm>
            <a:off x="6844284" y="2286000"/>
            <a:ext cx="1668780" cy="1691640"/>
          </a:xfrm>
          <a:prstGeom prst="rect">
            <a:avLst/>
          </a:prstGeom>
          <a:noFill/>
          <a:ln/>
        </p:spPr>
        <p:txBody>
          <a:bodyPr wrap="square" rtlCol="0" anchor="t"/>
          <a:lstStyle/>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Everything in Resident</a:t>
            </a:r>
            <a:endParaRPr lang="en-US" sz="800" dirty="0"/>
          </a:p>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Quarterly physician consult</a:t>
            </a:r>
            <a:endParaRPr lang="en-US" sz="800" dirty="0"/>
          </a:p>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Annual biomarker panel, DEXA and DUTCH</a:t>
            </a:r>
            <a:endParaRPr lang="en-US" sz="800" dirty="0"/>
          </a:p>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Therapeutic medications included</a:t>
            </a:r>
            <a:endParaRPr lang="en-US" sz="800" dirty="0"/>
          </a:p>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4 guest passes per month</a:t>
            </a:r>
            <a:endParaRPr lang="en-US" sz="800" dirty="0"/>
          </a:p>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Private buyout privileges</a:t>
            </a:r>
            <a:endParaRPr lang="en-US" sz="800" dirty="0"/>
          </a:p>
        </p:txBody>
      </p:sp>
      <p:sp>
        <p:nvSpPr>
          <p:cNvPr id="27" name="Text 25"/>
          <p:cNvSpPr/>
          <p:nvPr/>
        </p:nvSpPr>
        <p:spPr>
          <a:xfrm>
            <a:off x="6844284" y="4114800"/>
            <a:ext cx="1668780" cy="219456"/>
          </a:xfrm>
          <a:prstGeom prst="rect">
            <a:avLst/>
          </a:prstGeom>
          <a:noFill/>
          <a:ln/>
        </p:spPr>
        <p:txBody>
          <a:bodyPr wrap="square" rtlCol="0" anchor="ctr"/>
          <a:lstStyle/>
          <a:p>
            <a:pPr indent="0" marL="0">
              <a:buNone/>
            </a:pPr>
            <a:r>
              <a:rPr lang="en-US" sz="800" dirty="0">
                <a:solidFill>
                  <a:srgbClr val="EDE6DA"/>
                </a:solidFill>
                <a:latin typeface="Century Gothic" pitchFamily="34" charset="0"/>
                <a:ea typeface="Century Gothic" pitchFamily="34" charset="-122"/>
                <a:cs typeface="Century Gothic" pitchFamily="34" charset="-120"/>
              </a:rPr>
              <a:t>40 members · capped</a:t>
            </a:r>
            <a:endParaRPr lang="en-US" sz="800" dirty="0"/>
          </a:p>
        </p:txBody>
      </p:sp>
      <p:sp>
        <p:nvSpPr>
          <p:cNvPr id="28" name="Text 26"/>
          <p:cNvSpPr/>
          <p:nvPr/>
        </p:nvSpPr>
        <p:spPr>
          <a:xfrm>
            <a:off x="502920" y="4352544"/>
            <a:ext cx="8138160" cy="402336"/>
          </a:xfrm>
          <a:prstGeom prst="rect">
            <a:avLst/>
          </a:prstGeom>
          <a:noFill/>
          <a:ln/>
        </p:spPr>
        <p:txBody>
          <a:bodyPr wrap="square" rtlCol="0" anchor="t"/>
          <a:lstStyle/>
          <a:p>
            <a:pPr indent="0" marL="0">
              <a:lnSpc>
                <a:spcPct val="115000"/>
              </a:lnSpc>
              <a:buNone/>
            </a:pPr>
            <a:r>
              <a:rPr lang="en-US" sz="750" dirty="0">
                <a:solidFill>
                  <a:srgbClr val="6E6A62"/>
                </a:solidFill>
                <a:latin typeface="Calibri" pitchFamily="34" charset="0"/>
                <a:ea typeface="Calibri" pitchFamily="34" charset="-122"/>
                <a:cs typeface="Calibri" pitchFamily="34" charset="-120"/>
              </a:rPr>
              <a:t>A three-month initial commitment followed by month-to-month billing. Credits roll over while membership remains active and expire upon cancellation. Freezes with seven days’ notice. Tier changes available after the initial commitment.</a:t>
            </a:r>
            <a:endParaRPr lang="en-US" sz="750" dirty="0"/>
          </a:p>
        </p:txBody>
      </p:sp>
      <p:sp>
        <p:nvSpPr>
          <p:cNvPr id="29" name="Text 27"/>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 $2.0M PRIVATE CASE  ·  CONFIDENTIAL</a:t>
            </a:r>
            <a:endParaRPr lang="en-US" sz="700" dirty="0"/>
          </a:p>
        </p:txBody>
      </p:sp>
      <p:sp>
        <p:nvSpPr>
          <p:cNvPr id="30" name="Text 28"/>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7</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BEFORE DOORS OPEN</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Founding Members de-risk the ramp.</a:t>
            </a:r>
            <a:endParaRPr lang="en-US" sz="2600" dirty="0"/>
          </a:p>
        </p:txBody>
      </p:sp>
      <p:sp>
        <p:nvSpPr>
          <p:cNvPr id="4" name="Text 2"/>
          <p:cNvSpPr/>
          <p:nvPr/>
        </p:nvSpPr>
        <p:spPr>
          <a:xfrm>
            <a:off x="502920" y="1097280"/>
            <a:ext cx="8138160" cy="457200"/>
          </a:xfrm>
          <a:prstGeom prst="rect">
            <a:avLst/>
          </a:prstGeom>
          <a:noFill/>
          <a:ln/>
        </p:spPr>
        <p:txBody>
          <a:bodyPr wrap="square" rtlCol="0" anchor="t"/>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The single strongest item in this brief for both an investor and a credit committee: revenue contracted before the business opens.</a:t>
            </a:r>
            <a:endParaRPr lang="en-US" sz="1150" dirty="0"/>
          </a:p>
        </p:txBody>
      </p:sp>
      <p:sp>
        <p:nvSpPr>
          <p:cNvPr id="5" name="Shape 3"/>
          <p:cNvSpPr/>
          <p:nvPr/>
        </p:nvSpPr>
        <p:spPr>
          <a:xfrm>
            <a:off x="502920" y="2194560"/>
            <a:ext cx="2602992" cy="1463040"/>
          </a:xfrm>
          <a:prstGeom prst="roundRect">
            <a:avLst>
              <a:gd name="adj" fmla="val 3750"/>
            </a:avLst>
          </a:prstGeom>
          <a:solidFill>
            <a:srgbClr val="16241C"/>
          </a:solidFill>
          <a:ln w="12700">
            <a:solidFill>
              <a:srgbClr val="2E4237"/>
            </a:solidFill>
            <a:prstDash val="solid"/>
          </a:ln>
        </p:spPr>
      </p:sp>
      <p:sp>
        <p:nvSpPr>
          <p:cNvPr id="6" name="Text 4"/>
          <p:cNvSpPr/>
          <p:nvPr/>
        </p:nvSpPr>
        <p:spPr>
          <a:xfrm>
            <a:off x="649224" y="2322576"/>
            <a:ext cx="2310384" cy="420624"/>
          </a:xfrm>
          <a:prstGeom prst="rect">
            <a:avLst/>
          </a:prstGeom>
          <a:noFill/>
          <a:ln/>
        </p:spPr>
        <p:txBody>
          <a:bodyPr wrap="square" rtlCol="0" anchor="ctr"/>
          <a:lstStyle/>
          <a:p>
            <a:pPr indent="0" marL="0">
              <a:buNone/>
            </a:pPr>
            <a:r>
              <a:rPr lang="en-US" sz="2000" dirty="0">
                <a:solidFill>
                  <a:srgbClr val="C08D7C"/>
                </a:solidFill>
                <a:latin typeface="Century Gothic" pitchFamily="34" charset="0"/>
                <a:ea typeface="Century Gothic" pitchFamily="34" charset="-122"/>
                <a:cs typeface="Century Gothic" pitchFamily="34" charset="-120"/>
              </a:rPr>
              <a:t>150</a:t>
            </a:r>
            <a:endParaRPr lang="en-US" sz="2000" dirty="0"/>
          </a:p>
        </p:txBody>
      </p:sp>
      <p:sp>
        <p:nvSpPr>
          <p:cNvPr id="7" name="Text 5"/>
          <p:cNvSpPr/>
          <p:nvPr/>
        </p:nvSpPr>
        <p:spPr>
          <a:xfrm>
            <a:off x="649224" y="2761488"/>
            <a:ext cx="2310384" cy="768096"/>
          </a:xfrm>
          <a:prstGeom prst="rect">
            <a:avLst/>
          </a:prstGeom>
          <a:noFill/>
          <a:ln/>
        </p:spPr>
        <p:txBody>
          <a:bodyPr wrap="square" rtlCol="0" anchor="t"/>
          <a:lstStyle/>
          <a:p>
            <a:pPr indent="0" marL="0">
              <a:lnSpc>
                <a:spcPct val="115000"/>
              </a:lnSpc>
              <a:buNone/>
            </a:pPr>
            <a:r>
              <a:rPr lang="en-US" sz="900" dirty="0">
                <a:solidFill>
                  <a:srgbClr val="A8A296"/>
                </a:solidFill>
                <a:latin typeface="Calibri" pitchFamily="34" charset="0"/>
                <a:ea typeface="Calibri" pitchFamily="34" charset="-122"/>
                <a:cs typeface="Calibri" pitchFamily="34" charset="-120"/>
              </a:rPr>
              <a:t>Founding memberships, hard capped and sold during construction.</a:t>
            </a:r>
            <a:endParaRPr lang="en-US" sz="900" dirty="0"/>
          </a:p>
        </p:txBody>
      </p:sp>
      <p:sp>
        <p:nvSpPr>
          <p:cNvPr id="8" name="Shape 6"/>
          <p:cNvSpPr/>
          <p:nvPr/>
        </p:nvSpPr>
        <p:spPr>
          <a:xfrm>
            <a:off x="3270504" y="2194560"/>
            <a:ext cx="2602992" cy="1463040"/>
          </a:xfrm>
          <a:prstGeom prst="roundRect">
            <a:avLst>
              <a:gd name="adj" fmla="val 3750"/>
            </a:avLst>
          </a:prstGeom>
          <a:solidFill>
            <a:srgbClr val="241C1A"/>
          </a:solidFill>
          <a:ln w="12700">
            <a:solidFill>
              <a:srgbClr val="C08D7C"/>
            </a:solidFill>
            <a:prstDash val="solid"/>
          </a:ln>
        </p:spPr>
      </p:sp>
      <p:sp>
        <p:nvSpPr>
          <p:cNvPr id="9" name="Text 7"/>
          <p:cNvSpPr/>
          <p:nvPr/>
        </p:nvSpPr>
        <p:spPr>
          <a:xfrm>
            <a:off x="3416808" y="2322576"/>
            <a:ext cx="2310384" cy="420624"/>
          </a:xfrm>
          <a:prstGeom prst="rect">
            <a:avLst/>
          </a:prstGeom>
          <a:noFill/>
          <a:ln/>
        </p:spPr>
        <p:txBody>
          <a:bodyPr wrap="square" rtlCol="0" anchor="ctr"/>
          <a:lstStyle/>
          <a:p>
            <a:pPr indent="0" marL="0">
              <a:buNone/>
            </a:pPr>
            <a:r>
              <a:rPr lang="en-US" sz="2000" dirty="0">
                <a:solidFill>
                  <a:srgbClr val="C08D7C"/>
                </a:solidFill>
                <a:latin typeface="Century Gothic" pitchFamily="34" charset="0"/>
                <a:ea typeface="Century Gothic" pitchFamily="34" charset="-122"/>
                <a:cs typeface="Century Gothic" pitchFamily="34" charset="-120"/>
              </a:rPr>
              <a:t>$3,600</a:t>
            </a:r>
            <a:endParaRPr lang="en-US" sz="2000" dirty="0"/>
          </a:p>
        </p:txBody>
      </p:sp>
      <p:sp>
        <p:nvSpPr>
          <p:cNvPr id="10" name="Text 8"/>
          <p:cNvSpPr/>
          <p:nvPr/>
        </p:nvSpPr>
        <p:spPr>
          <a:xfrm>
            <a:off x="3416808" y="2761488"/>
            <a:ext cx="2310384" cy="768096"/>
          </a:xfrm>
          <a:prstGeom prst="rect">
            <a:avLst/>
          </a:prstGeom>
          <a:noFill/>
          <a:ln/>
        </p:spPr>
        <p:txBody>
          <a:bodyPr wrap="square" rtlCol="0" anchor="t"/>
          <a:lstStyle/>
          <a:p>
            <a:pPr indent="0" marL="0">
              <a:lnSpc>
                <a:spcPct val="115000"/>
              </a:lnSpc>
              <a:buNone/>
            </a:pPr>
            <a:r>
              <a:rPr lang="en-US" sz="900" dirty="0">
                <a:solidFill>
                  <a:srgbClr val="A8A296"/>
                </a:solidFill>
                <a:latin typeface="Calibri" pitchFamily="34" charset="0"/>
                <a:ea typeface="Calibri" pitchFamily="34" charset="-122"/>
                <a:cs typeface="Calibri" pitchFamily="34" charset="-120"/>
              </a:rPr>
              <a:t>Prepaid for the first year, a 33% discount against list.</a:t>
            </a:r>
            <a:endParaRPr lang="en-US" sz="900" dirty="0"/>
          </a:p>
        </p:txBody>
      </p:sp>
      <p:sp>
        <p:nvSpPr>
          <p:cNvPr id="11" name="Shape 9"/>
          <p:cNvSpPr/>
          <p:nvPr/>
        </p:nvSpPr>
        <p:spPr>
          <a:xfrm>
            <a:off x="6038088" y="2194560"/>
            <a:ext cx="2602992" cy="1463040"/>
          </a:xfrm>
          <a:prstGeom prst="roundRect">
            <a:avLst>
              <a:gd name="adj" fmla="val 3750"/>
            </a:avLst>
          </a:prstGeom>
          <a:solidFill>
            <a:srgbClr val="241C1A"/>
          </a:solidFill>
          <a:ln w="12700">
            <a:solidFill>
              <a:srgbClr val="C08D7C"/>
            </a:solidFill>
            <a:prstDash val="solid"/>
          </a:ln>
        </p:spPr>
      </p:sp>
      <p:sp>
        <p:nvSpPr>
          <p:cNvPr id="12" name="Text 10"/>
          <p:cNvSpPr/>
          <p:nvPr/>
        </p:nvSpPr>
        <p:spPr>
          <a:xfrm>
            <a:off x="6184392" y="2322576"/>
            <a:ext cx="2310384" cy="420624"/>
          </a:xfrm>
          <a:prstGeom prst="rect">
            <a:avLst/>
          </a:prstGeom>
          <a:noFill/>
          <a:ln/>
        </p:spPr>
        <p:txBody>
          <a:bodyPr wrap="square" rtlCol="0" anchor="ctr"/>
          <a:lstStyle/>
          <a:p>
            <a:pPr indent="0" marL="0">
              <a:buNone/>
            </a:pPr>
            <a:r>
              <a:rPr lang="en-US" sz="2000" dirty="0">
                <a:solidFill>
                  <a:srgbClr val="C08D7C"/>
                </a:solidFill>
                <a:latin typeface="Century Gothic" pitchFamily="34" charset="0"/>
                <a:ea typeface="Century Gothic" pitchFamily="34" charset="-122"/>
                <a:cs typeface="Century Gothic" pitchFamily="34" charset="-120"/>
              </a:rPr>
              <a:t>$540,000</a:t>
            </a:r>
            <a:endParaRPr lang="en-US" sz="2000" dirty="0"/>
          </a:p>
        </p:txBody>
      </p:sp>
      <p:sp>
        <p:nvSpPr>
          <p:cNvPr id="13" name="Text 11"/>
          <p:cNvSpPr/>
          <p:nvPr/>
        </p:nvSpPr>
        <p:spPr>
          <a:xfrm>
            <a:off x="6184392" y="2761488"/>
            <a:ext cx="2310384" cy="768096"/>
          </a:xfrm>
          <a:prstGeom prst="rect">
            <a:avLst/>
          </a:prstGeom>
          <a:noFill/>
          <a:ln/>
        </p:spPr>
        <p:txBody>
          <a:bodyPr wrap="square" rtlCol="0" anchor="t"/>
          <a:lstStyle/>
          <a:p>
            <a:pPr indent="0" marL="0">
              <a:lnSpc>
                <a:spcPct val="115000"/>
              </a:lnSpc>
              <a:buNone/>
            </a:pPr>
            <a:r>
              <a:rPr lang="en-US" sz="900" dirty="0">
                <a:solidFill>
                  <a:srgbClr val="A8A296"/>
                </a:solidFill>
                <a:latin typeface="Calibri" pitchFamily="34" charset="0"/>
                <a:ea typeface="Calibri" pitchFamily="34" charset="-122"/>
                <a:cs typeface="Calibri" pitchFamily="34" charset="-120"/>
              </a:rPr>
              <a:t>Collected before opening, offsetting the construction-period burn.</a:t>
            </a:r>
            <a:endParaRPr lang="en-US" sz="900" dirty="0"/>
          </a:p>
        </p:txBody>
      </p:sp>
      <p:sp>
        <p:nvSpPr>
          <p:cNvPr id="14" name="Text 12"/>
          <p:cNvSpPr/>
          <p:nvPr/>
        </p:nvSpPr>
        <p:spPr>
          <a:xfrm>
            <a:off x="502920" y="3840480"/>
            <a:ext cx="8138160" cy="548640"/>
          </a:xfrm>
          <a:prstGeom prst="rect">
            <a:avLst/>
          </a:prstGeom>
          <a:noFill/>
          <a:ln/>
        </p:spPr>
        <p:txBody>
          <a:bodyPr wrap="square" rtlCol="0" anchor="ctr"/>
          <a:lstStyle/>
          <a:p>
            <a:pPr indent="0" marL="0">
              <a:lnSpc>
                <a:spcPct val="125000"/>
              </a:lnSpc>
              <a:buNone/>
            </a:pPr>
            <a:r>
              <a:rPr lang="en-US" sz="1050" dirty="0">
                <a:solidFill>
                  <a:srgbClr val="A8A296"/>
                </a:solidFill>
                <a:latin typeface="Calibri" pitchFamily="34" charset="0"/>
                <a:ea typeface="Calibri" pitchFamily="34" charset="-122"/>
                <a:cs typeface="Calibri" pitchFamily="34" charset="-120"/>
              </a:rPr>
              <a:t>This converts the opening ramp from a projection into a partially pre-sold book. It is also the cheapest possible market test: if the founding cohort does not sell, that is a signal worth having before the buildout is committed rather than after.</a:t>
            </a:r>
            <a:endParaRPr lang="en-US" sz="1050" dirty="0"/>
          </a:p>
        </p:txBody>
      </p:sp>
      <p:sp>
        <p:nvSpPr>
          <p:cNvPr id="15" name="Text 13"/>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 $2.0M PRIVATE CASE  ·  CONFIDENTIAL</a:t>
            </a:r>
            <a:endParaRPr lang="en-US" sz="700" dirty="0"/>
          </a:p>
        </p:txBody>
      </p:sp>
      <p:sp>
        <p:nvSpPr>
          <p:cNvPr id="16" name="Text 14"/>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8</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HOW THE LADDER FILLS</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The open clinic is the top of the funnel.</a:t>
            </a:r>
            <a:endParaRPr lang="en-US" sz="2600" dirty="0"/>
          </a:p>
        </p:txBody>
      </p:sp>
      <p:sp>
        <p:nvSpPr>
          <p:cNvPr id="4" name="Text 2"/>
          <p:cNvSpPr/>
          <p:nvPr/>
        </p:nvSpPr>
        <p:spPr>
          <a:xfrm>
            <a:off x="502920" y="1097280"/>
            <a:ext cx="8138160" cy="457200"/>
          </a:xfrm>
          <a:prstGeom prst="rect">
            <a:avLst/>
          </a:prstGeom>
          <a:noFill/>
          <a:ln/>
        </p:spPr>
        <p:txBody>
          <a:bodyPr wrap="square" rtlCol="0" anchor="t"/>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Because anyone can book a procedure without joining, every non-member treatment is a paid introduction. The conversion path runs in one direction and each step is cheap to take.</a:t>
            </a:r>
            <a:endParaRPr lang="en-US" sz="1150" dirty="0"/>
          </a:p>
        </p:txBody>
      </p:sp>
      <p:sp>
        <p:nvSpPr>
          <p:cNvPr id="5" name="Shape 3"/>
          <p:cNvSpPr/>
          <p:nvPr/>
        </p:nvSpPr>
        <p:spPr>
          <a:xfrm>
            <a:off x="502920" y="2103120"/>
            <a:ext cx="1924812" cy="2103120"/>
          </a:xfrm>
          <a:prstGeom prst="roundRect">
            <a:avLst>
              <a:gd name="adj" fmla="val 2850"/>
            </a:avLst>
          </a:prstGeom>
          <a:solidFill>
            <a:srgbClr val="16241C"/>
          </a:solidFill>
          <a:ln w="12700">
            <a:solidFill>
              <a:srgbClr val="2E4237"/>
            </a:solidFill>
            <a:prstDash val="solid"/>
          </a:ln>
        </p:spPr>
      </p:sp>
      <p:sp>
        <p:nvSpPr>
          <p:cNvPr id="6" name="Text 4"/>
          <p:cNvSpPr/>
          <p:nvPr/>
        </p:nvSpPr>
        <p:spPr>
          <a:xfrm>
            <a:off x="630936" y="2231136"/>
            <a:ext cx="1668780" cy="182880"/>
          </a:xfrm>
          <a:prstGeom prst="rect">
            <a:avLst/>
          </a:prstGeom>
          <a:noFill/>
          <a:ln/>
        </p:spPr>
        <p:txBody>
          <a:bodyPr wrap="square" rtlCol="0" anchor="ctr"/>
          <a:lstStyle/>
          <a:p>
            <a:pPr indent="0" marL="0">
              <a:buNone/>
            </a:pPr>
            <a:r>
              <a:rPr lang="en-US" sz="750" spc="140" kern="0" dirty="0">
                <a:solidFill>
                  <a:srgbClr val="6E6A62"/>
                </a:solidFill>
                <a:latin typeface="Century Gothic" pitchFamily="34" charset="0"/>
                <a:ea typeface="Century Gothic" pitchFamily="34" charset="-122"/>
                <a:cs typeface="Century Gothic" pitchFamily="34" charset="-120"/>
              </a:rPr>
              <a:t>STEP ONE</a:t>
            </a:r>
            <a:endParaRPr lang="en-US" sz="750" dirty="0"/>
          </a:p>
        </p:txBody>
      </p:sp>
      <p:sp>
        <p:nvSpPr>
          <p:cNvPr id="7" name="Text 5"/>
          <p:cNvSpPr/>
          <p:nvPr/>
        </p:nvSpPr>
        <p:spPr>
          <a:xfrm>
            <a:off x="630936" y="2432304"/>
            <a:ext cx="1668780" cy="457200"/>
          </a:xfrm>
          <a:prstGeom prst="rect">
            <a:avLst/>
          </a:prstGeom>
          <a:noFill/>
          <a:ln/>
        </p:spPr>
        <p:txBody>
          <a:bodyPr wrap="square" rtlCol="0" anchor="t"/>
          <a:lstStyle/>
          <a:p>
            <a:pPr indent="0" marL="0">
              <a:buNone/>
            </a:pPr>
            <a:r>
              <a:rPr lang="en-US" sz="1300" dirty="0">
                <a:solidFill>
                  <a:srgbClr val="EDE6DA"/>
                </a:solidFill>
                <a:latin typeface="Century Gothic" pitchFamily="34" charset="0"/>
                <a:ea typeface="Century Gothic" pitchFamily="34" charset="-122"/>
                <a:cs typeface="Century Gothic" pitchFamily="34" charset="-120"/>
              </a:rPr>
              <a:t>Walks in</a:t>
            </a:r>
            <a:endParaRPr lang="en-US" sz="1300" dirty="0"/>
          </a:p>
        </p:txBody>
      </p:sp>
      <p:sp>
        <p:nvSpPr>
          <p:cNvPr id="8" name="Text 6"/>
          <p:cNvSpPr/>
          <p:nvPr/>
        </p:nvSpPr>
        <p:spPr>
          <a:xfrm>
            <a:off x="630936" y="2889504"/>
            <a:ext cx="1668780" cy="1188720"/>
          </a:xfrm>
          <a:prstGeom prst="rect">
            <a:avLst/>
          </a:prstGeom>
          <a:noFill/>
          <a:ln/>
        </p:spPr>
        <p:txBody>
          <a:bodyPr wrap="square" rtlCol="0" anchor="t"/>
          <a:lstStyle/>
          <a:p>
            <a:pPr indent="0" marL="0">
              <a:lnSpc>
                <a:spcPct val="120000"/>
              </a:lnSpc>
              <a:buNone/>
            </a:pPr>
            <a:r>
              <a:rPr lang="en-US" sz="850" dirty="0">
                <a:solidFill>
                  <a:srgbClr val="A8A296"/>
                </a:solidFill>
                <a:latin typeface="Calibri" pitchFamily="34" charset="0"/>
                <a:ea typeface="Calibri" pitchFamily="34" charset="-122"/>
                <a:cs typeface="Calibri" pitchFamily="34" charset="-120"/>
              </a:rPr>
              <a:t>Books a procedure or buys a day pass. Pays list price. Owes nothing further.</a:t>
            </a:r>
            <a:endParaRPr lang="en-US" sz="850" dirty="0"/>
          </a:p>
        </p:txBody>
      </p:sp>
      <p:sp>
        <p:nvSpPr>
          <p:cNvPr id="9" name="Shape 7"/>
          <p:cNvSpPr/>
          <p:nvPr/>
        </p:nvSpPr>
        <p:spPr>
          <a:xfrm>
            <a:off x="2574036" y="2103120"/>
            <a:ext cx="1924812" cy="2103120"/>
          </a:xfrm>
          <a:prstGeom prst="roundRect">
            <a:avLst>
              <a:gd name="adj" fmla="val 2850"/>
            </a:avLst>
          </a:prstGeom>
          <a:solidFill>
            <a:srgbClr val="16241C"/>
          </a:solidFill>
          <a:ln w="12700">
            <a:solidFill>
              <a:srgbClr val="2E4237"/>
            </a:solidFill>
            <a:prstDash val="solid"/>
          </a:ln>
        </p:spPr>
      </p:sp>
      <p:sp>
        <p:nvSpPr>
          <p:cNvPr id="10" name="Text 8"/>
          <p:cNvSpPr/>
          <p:nvPr/>
        </p:nvSpPr>
        <p:spPr>
          <a:xfrm>
            <a:off x="2702052" y="2231136"/>
            <a:ext cx="1668780" cy="182880"/>
          </a:xfrm>
          <a:prstGeom prst="rect">
            <a:avLst/>
          </a:prstGeom>
          <a:noFill/>
          <a:ln/>
        </p:spPr>
        <p:txBody>
          <a:bodyPr wrap="square" rtlCol="0" anchor="ctr"/>
          <a:lstStyle/>
          <a:p>
            <a:pPr indent="0" marL="0">
              <a:buNone/>
            </a:pPr>
            <a:r>
              <a:rPr lang="en-US" sz="750" spc="140" kern="0" dirty="0">
                <a:solidFill>
                  <a:srgbClr val="6E6A62"/>
                </a:solidFill>
                <a:latin typeface="Century Gothic" pitchFamily="34" charset="0"/>
                <a:ea typeface="Century Gothic" pitchFamily="34" charset="-122"/>
                <a:cs typeface="Century Gothic" pitchFamily="34" charset="-120"/>
              </a:rPr>
              <a:t>STEP TWO</a:t>
            </a:r>
            <a:endParaRPr lang="en-US" sz="750" dirty="0"/>
          </a:p>
        </p:txBody>
      </p:sp>
      <p:sp>
        <p:nvSpPr>
          <p:cNvPr id="11" name="Text 9"/>
          <p:cNvSpPr/>
          <p:nvPr/>
        </p:nvSpPr>
        <p:spPr>
          <a:xfrm>
            <a:off x="2702052" y="2432304"/>
            <a:ext cx="1668780" cy="457200"/>
          </a:xfrm>
          <a:prstGeom prst="rect">
            <a:avLst/>
          </a:prstGeom>
          <a:noFill/>
          <a:ln/>
        </p:spPr>
        <p:txBody>
          <a:bodyPr wrap="square" rtlCol="0" anchor="t"/>
          <a:lstStyle/>
          <a:p>
            <a:pPr indent="0" marL="0">
              <a:buNone/>
            </a:pPr>
            <a:r>
              <a:rPr lang="en-US" sz="1300" dirty="0">
                <a:solidFill>
                  <a:srgbClr val="EDE6DA"/>
                </a:solidFill>
                <a:latin typeface="Century Gothic" pitchFamily="34" charset="0"/>
                <a:ea typeface="Century Gothic" pitchFamily="34" charset="-122"/>
                <a:cs typeface="Century Gothic" pitchFamily="34" charset="-120"/>
              </a:rPr>
              <a:t>Becomes a Friend</a:t>
            </a:r>
            <a:endParaRPr lang="en-US" sz="1300" dirty="0"/>
          </a:p>
        </p:txBody>
      </p:sp>
      <p:sp>
        <p:nvSpPr>
          <p:cNvPr id="12" name="Text 10"/>
          <p:cNvSpPr/>
          <p:nvPr/>
        </p:nvSpPr>
        <p:spPr>
          <a:xfrm>
            <a:off x="2702052" y="2889504"/>
            <a:ext cx="1668780" cy="1188720"/>
          </a:xfrm>
          <a:prstGeom prst="rect">
            <a:avLst/>
          </a:prstGeom>
          <a:noFill/>
          <a:ln/>
        </p:spPr>
        <p:txBody>
          <a:bodyPr wrap="square" rtlCol="0" anchor="t"/>
          <a:lstStyle/>
          <a:p>
            <a:pPr indent="0" marL="0">
              <a:lnSpc>
                <a:spcPct val="120000"/>
              </a:lnSpc>
              <a:buNone/>
            </a:pPr>
            <a:r>
              <a:rPr lang="en-US" sz="850" dirty="0">
                <a:solidFill>
                  <a:srgbClr val="A8A296"/>
                </a:solidFill>
                <a:latin typeface="Calibri" pitchFamily="34" charset="0"/>
                <a:ea typeface="Calibri" pitchFamily="34" charset="-122"/>
                <a:cs typeface="Calibri" pitchFamily="34" charset="-120"/>
              </a:rPr>
              <a:t>$300 a year pays for itself on roughly two procedures. Low friction, high volume, and it captures the database.</a:t>
            </a:r>
            <a:endParaRPr lang="en-US" sz="850" dirty="0"/>
          </a:p>
        </p:txBody>
      </p:sp>
      <p:sp>
        <p:nvSpPr>
          <p:cNvPr id="13" name="Shape 11"/>
          <p:cNvSpPr/>
          <p:nvPr/>
        </p:nvSpPr>
        <p:spPr>
          <a:xfrm>
            <a:off x="4645152" y="2103120"/>
            <a:ext cx="1924812" cy="2103120"/>
          </a:xfrm>
          <a:prstGeom prst="roundRect">
            <a:avLst>
              <a:gd name="adj" fmla="val 2850"/>
            </a:avLst>
          </a:prstGeom>
          <a:solidFill>
            <a:srgbClr val="16241C"/>
          </a:solidFill>
          <a:ln w="12700">
            <a:solidFill>
              <a:srgbClr val="2E4237"/>
            </a:solidFill>
            <a:prstDash val="solid"/>
          </a:ln>
        </p:spPr>
      </p:sp>
      <p:sp>
        <p:nvSpPr>
          <p:cNvPr id="14" name="Text 12"/>
          <p:cNvSpPr/>
          <p:nvPr/>
        </p:nvSpPr>
        <p:spPr>
          <a:xfrm>
            <a:off x="4773168" y="2231136"/>
            <a:ext cx="1668780" cy="182880"/>
          </a:xfrm>
          <a:prstGeom prst="rect">
            <a:avLst/>
          </a:prstGeom>
          <a:noFill/>
          <a:ln/>
        </p:spPr>
        <p:txBody>
          <a:bodyPr wrap="square" rtlCol="0" anchor="ctr"/>
          <a:lstStyle/>
          <a:p>
            <a:pPr indent="0" marL="0">
              <a:buNone/>
            </a:pPr>
            <a:r>
              <a:rPr lang="en-US" sz="750" spc="140" kern="0" dirty="0">
                <a:solidFill>
                  <a:srgbClr val="6E6A62"/>
                </a:solidFill>
                <a:latin typeface="Century Gothic" pitchFamily="34" charset="0"/>
                <a:ea typeface="Century Gothic" pitchFamily="34" charset="-122"/>
                <a:cs typeface="Century Gothic" pitchFamily="34" charset="-120"/>
              </a:rPr>
              <a:t>STEP THREE</a:t>
            </a:r>
            <a:endParaRPr lang="en-US" sz="750" dirty="0"/>
          </a:p>
        </p:txBody>
      </p:sp>
      <p:sp>
        <p:nvSpPr>
          <p:cNvPr id="15" name="Text 13"/>
          <p:cNvSpPr/>
          <p:nvPr/>
        </p:nvSpPr>
        <p:spPr>
          <a:xfrm>
            <a:off x="4773168" y="2432304"/>
            <a:ext cx="1668780" cy="457200"/>
          </a:xfrm>
          <a:prstGeom prst="rect">
            <a:avLst/>
          </a:prstGeom>
          <a:noFill/>
          <a:ln/>
        </p:spPr>
        <p:txBody>
          <a:bodyPr wrap="square" rtlCol="0" anchor="t"/>
          <a:lstStyle/>
          <a:p>
            <a:pPr indent="0" marL="0">
              <a:buNone/>
            </a:pPr>
            <a:r>
              <a:rPr lang="en-US" sz="1300" dirty="0">
                <a:solidFill>
                  <a:srgbClr val="EDE6DA"/>
                </a:solidFill>
                <a:latin typeface="Century Gothic" pitchFamily="34" charset="0"/>
                <a:ea typeface="Century Gothic" pitchFamily="34" charset="-122"/>
                <a:cs typeface="Century Gothic" pitchFamily="34" charset="-120"/>
              </a:rPr>
              <a:t>Becomes a Resident</a:t>
            </a:r>
            <a:endParaRPr lang="en-US" sz="1300" dirty="0"/>
          </a:p>
        </p:txBody>
      </p:sp>
      <p:sp>
        <p:nvSpPr>
          <p:cNvPr id="16" name="Text 14"/>
          <p:cNvSpPr/>
          <p:nvPr/>
        </p:nvSpPr>
        <p:spPr>
          <a:xfrm>
            <a:off x="4773168" y="2889504"/>
            <a:ext cx="1668780" cy="1188720"/>
          </a:xfrm>
          <a:prstGeom prst="rect">
            <a:avLst/>
          </a:prstGeom>
          <a:noFill/>
          <a:ln/>
        </p:spPr>
        <p:txBody>
          <a:bodyPr wrap="square" rtlCol="0" anchor="t"/>
          <a:lstStyle/>
          <a:p>
            <a:pPr indent="0" marL="0">
              <a:lnSpc>
                <a:spcPct val="120000"/>
              </a:lnSpc>
              <a:buNone/>
            </a:pPr>
            <a:r>
              <a:rPr lang="en-US" sz="850" dirty="0">
                <a:solidFill>
                  <a:srgbClr val="A8A296"/>
                </a:solidFill>
                <a:latin typeface="Calibri" pitchFamily="34" charset="0"/>
                <a:ea typeface="Calibri" pitchFamily="34" charset="-122"/>
                <a:cs typeface="Calibri" pitchFamily="34" charset="-120"/>
              </a:rPr>
              <a:t>Wants the circuit and the room, not just the treatment. This is where recurring revenue begins.</a:t>
            </a:r>
            <a:endParaRPr lang="en-US" sz="850" dirty="0"/>
          </a:p>
        </p:txBody>
      </p:sp>
      <p:sp>
        <p:nvSpPr>
          <p:cNvPr id="17" name="Shape 15"/>
          <p:cNvSpPr/>
          <p:nvPr/>
        </p:nvSpPr>
        <p:spPr>
          <a:xfrm>
            <a:off x="6716268" y="2103120"/>
            <a:ext cx="1924812" cy="2103120"/>
          </a:xfrm>
          <a:prstGeom prst="roundRect">
            <a:avLst>
              <a:gd name="adj" fmla="val 2850"/>
            </a:avLst>
          </a:prstGeom>
          <a:solidFill>
            <a:srgbClr val="241C1A"/>
          </a:solidFill>
          <a:ln w="12700">
            <a:solidFill>
              <a:srgbClr val="C08D7C"/>
            </a:solidFill>
            <a:prstDash val="solid"/>
          </a:ln>
        </p:spPr>
      </p:sp>
      <p:sp>
        <p:nvSpPr>
          <p:cNvPr id="18" name="Text 16"/>
          <p:cNvSpPr/>
          <p:nvPr/>
        </p:nvSpPr>
        <p:spPr>
          <a:xfrm>
            <a:off x="6844284" y="2231136"/>
            <a:ext cx="1668780" cy="182880"/>
          </a:xfrm>
          <a:prstGeom prst="rect">
            <a:avLst/>
          </a:prstGeom>
          <a:noFill/>
          <a:ln/>
        </p:spPr>
        <p:txBody>
          <a:bodyPr wrap="square" rtlCol="0" anchor="ctr"/>
          <a:lstStyle/>
          <a:p>
            <a:pPr indent="0" marL="0">
              <a:buNone/>
            </a:pPr>
            <a:r>
              <a:rPr lang="en-US" sz="750" spc="140" kern="0" dirty="0">
                <a:solidFill>
                  <a:srgbClr val="C08D7C"/>
                </a:solidFill>
                <a:latin typeface="Century Gothic" pitchFamily="34" charset="0"/>
                <a:ea typeface="Century Gothic" pitchFamily="34" charset="-122"/>
                <a:cs typeface="Century Gothic" pitchFamily="34" charset="-120"/>
              </a:rPr>
              <a:t>STEP FOUR</a:t>
            </a:r>
            <a:endParaRPr lang="en-US" sz="750" dirty="0"/>
          </a:p>
        </p:txBody>
      </p:sp>
      <p:sp>
        <p:nvSpPr>
          <p:cNvPr id="19" name="Text 17"/>
          <p:cNvSpPr/>
          <p:nvPr/>
        </p:nvSpPr>
        <p:spPr>
          <a:xfrm>
            <a:off x="6844284" y="2432304"/>
            <a:ext cx="1668780" cy="457200"/>
          </a:xfrm>
          <a:prstGeom prst="rect">
            <a:avLst/>
          </a:prstGeom>
          <a:noFill/>
          <a:ln/>
        </p:spPr>
        <p:txBody>
          <a:bodyPr wrap="square" rtlCol="0" anchor="t"/>
          <a:lstStyle/>
          <a:p>
            <a:pPr indent="0" marL="0">
              <a:buNone/>
            </a:pPr>
            <a:r>
              <a:rPr lang="en-US" sz="1300" dirty="0">
                <a:solidFill>
                  <a:srgbClr val="EDE6DA"/>
                </a:solidFill>
                <a:latin typeface="Century Gothic" pitchFamily="34" charset="0"/>
                <a:ea typeface="Century Gothic" pitchFamily="34" charset="-122"/>
                <a:cs typeface="Century Gothic" pitchFamily="34" charset="-120"/>
              </a:rPr>
              <a:t>Becomes Longevity</a:t>
            </a:r>
            <a:endParaRPr lang="en-US" sz="1300" dirty="0"/>
          </a:p>
        </p:txBody>
      </p:sp>
      <p:sp>
        <p:nvSpPr>
          <p:cNvPr id="20" name="Text 18"/>
          <p:cNvSpPr/>
          <p:nvPr/>
        </p:nvSpPr>
        <p:spPr>
          <a:xfrm>
            <a:off x="6844284" y="2889504"/>
            <a:ext cx="1668780" cy="1188720"/>
          </a:xfrm>
          <a:prstGeom prst="rect">
            <a:avLst/>
          </a:prstGeom>
          <a:noFill/>
          <a:ln/>
        </p:spPr>
        <p:txBody>
          <a:bodyPr wrap="square" rtlCol="0" anchor="t"/>
          <a:lstStyle/>
          <a:p>
            <a:pPr indent="0" marL="0">
              <a:lnSpc>
                <a:spcPct val="120000"/>
              </a:lnSpc>
              <a:buNone/>
            </a:pPr>
            <a:r>
              <a:rPr lang="en-US" sz="850" dirty="0">
                <a:solidFill>
                  <a:srgbClr val="A8A296"/>
                </a:solidFill>
                <a:latin typeface="Calibri" pitchFamily="34" charset="0"/>
                <a:ea typeface="Calibri" pitchFamily="34" charset="-122"/>
                <a:cs typeface="Calibri" pitchFamily="34" charset="-120"/>
              </a:rPr>
              <a:t>Physician-delivered programming. Hard capped. The highest retention and the highest lifetime value in the building.</a:t>
            </a:r>
            <a:endParaRPr lang="en-US" sz="850" dirty="0"/>
          </a:p>
        </p:txBody>
      </p:sp>
      <p:sp>
        <p:nvSpPr>
          <p:cNvPr id="21" name="Text 19"/>
          <p:cNvSpPr/>
          <p:nvPr/>
        </p:nvSpPr>
        <p:spPr>
          <a:xfrm>
            <a:off x="2409444" y="3017520"/>
            <a:ext cx="182880" cy="274320"/>
          </a:xfrm>
          <a:prstGeom prst="rect">
            <a:avLst/>
          </a:prstGeom>
          <a:noFill/>
          <a:ln/>
        </p:spPr>
        <p:txBody>
          <a:bodyPr wrap="square" rtlCol="0" anchor="ctr"/>
          <a:lstStyle/>
          <a:p>
            <a:pPr algn="ctr" indent="0" marL="0">
              <a:buNone/>
            </a:pPr>
            <a:r>
              <a:rPr lang="en-US" sz="1300" dirty="0">
                <a:solidFill>
                  <a:srgbClr val="2E4237"/>
                </a:solidFill>
                <a:latin typeface="Century Gothic" pitchFamily="34" charset="0"/>
                <a:ea typeface="Century Gothic" pitchFamily="34" charset="-122"/>
                <a:cs typeface="Century Gothic" pitchFamily="34" charset="-120"/>
              </a:rPr>
              <a:t>›</a:t>
            </a:r>
            <a:endParaRPr lang="en-US" sz="1300" dirty="0"/>
          </a:p>
        </p:txBody>
      </p:sp>
      <p:sp>
        <p:nvSpPr>
          <p:cNvPr id="22" name="Text 20"/>
          <p:cNvSpPr/>
          <p:nvPr/>
        </p:nvSpPr>
        <p:spPr>
          <a:xfrm>
            <a:off x="4480560" y="3017520"/>
            <a:ext cx="182880" cy="274320"/>
          </a:xfrm>
          <a:prstGeom prst="rect">
            <a:avLst/>
          </a:prstGeom>
          <a:noFill/>
          <a:ln/>
        </p:spPr>
        <p:txBody>
          <a:bodyPr wrap="square" rtlCol="0" anchor="ctr"/>
          <a:lstStyle/>
          <a:p>
            <a:pPr algn="ctr" indent="0" marL="0">
              <a:buNone/>
            </a:pPr>
            <a:r>
              <a:rPr lang="en-US" sz="1300" dirty="0">
                <a:solidFill>
                  <a:srgbClr val="2E4237"/>
                </a:solidFill>
                <a:latin typeface="Century Gothic" pitchFamily="34" charset="0"/>
                <a:ea typeface="Century Gothic" pitchFamily="34" charset="-122"/>
                <a:cs typeface="Century Gothic" pitchFamily="34" charset="-120"/>
              </a:rPr>
              <a:t>›</a:t>
            </a:r>
            <a:endParaRPr lang="en-US" sz="1300" dirty="0"/>
          </a:p>
        </p:txBody>
      </p:sp>
      <p:sp>
        <p:nvSpPr>
          <p:cNvPr id="23" name="Text 21"/>
          <p:cNvSpPr/>
          <p:nvPr/>
        </p:nvSpPr>
        <p:spPr>
          <a:xfrm>
            <a:off x="6551676" y="3017520"/>
            <a:ext cx="182880" cy="274320"/>
          </a:xfrm>
          <a:prstGeom prst="rect">
            <a:avLst/>
          </a:prstGeom>
          <a:noFill/>
          <a:ln/>
        </p:spPr>
        <p:txBody>
          <a:bodyPr wrap="square" rtlCol="0" anchor="ctr"/>
          <a:lstStyle/>
          <a:p>
            <a:pPr algn="ctr" indent="0" marL="0">
              <a:buNone/>
            </a:pPr>
            <a:r>
              <a:rPr lang="en-US" sz="1300" dirty="0">
                <a:solidFill>
                  <a:srgbClr val="2E4237"/>
                </a:solidFill>
                <a:latin typeface="Century Gothic" pitchFamily="34" charset="0"/>
                <a:ea typeface="Century Gothic" pitchFamily="34" charset="-122"/>
                <a:cs typeface="Century Gothic" pitchFamily="34" charset="-120"/>
              </a:rPr>
              <a:t>›</a:t>
            </a:r>
            <a:endParaRPr lang="en-US" sz="1300" dirty="0"/>
          </a:p>
        </p:txBody>
      </p:sp>
      <p:sp>
        <p:nvSpPr>
          <p:cNvPr id="24" name="Text 22"/>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 $2.0M PRIVATE CASE  ·  CONFIDENTIAL</a:t>
            </a:r>
            <a:endParaRPr lang="en-US" sz="700" dirty="0"/>
          </a:p>
        </p:txBody>
      </p:sp>
      <p:sp>
        <p:nvSpPr>
          <p:cNvPr id="25" name="Text 23"/>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9</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THE FACILITY</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5,825 SF in Playa Vista.</a:t>
            </a:r>
            <a:endParaRPr lang="en-US" sz="2600" dirty="0"/>
          </a:p>
        </p:txBody>
      </p:sp>
      <p:sp>
        <p:nvSpPr>
          <p:cNvPr id="4" name="Text 2"/>
          <p:cNvSpPr/>
          <p:nvPr/>
        </p:nvSpPr>
        <p:spPr>
          <a:xfrm>
            <a:off x="502920" y="1097280"/>
            <a:ext cx="8138160" cy="457200"/>
          </a:xfrm>
          <a:prstGeom prst="rect">
            <a:avLst/>
          </a:prstGeom>
          <a:noFill/>
          <a:ln/>
        </p:spPr>
        <p:txBody>
          <a:bodyPr wrap="square" rtlCol="0" anchor="t"/>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Everything in the ample case, plus one accredited office-based surgery suite.</a:t>
            </a:r>
            <a:endParaRPr lang="en-US" sz="11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02920" y="1481328"/>
          <a:ext cx="3931920" cy="914400"/>
        </p:xfrm>
        <a:graphic>
          <a:graphicData uri="http://schemas.openxmlformats.org/drawingml/2006/table">
            <a:tbl>
              <a:tblPr/>
              <a:tblGrid>
                <a:gridCol w="3017520"/>
                <a:gridCol w="914400"/>
              </a:tblGrid>
              <a:tr h="214884">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Space</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SF</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Arrival, concierge, retail</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350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The Lounge</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700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Contrast suite (2 saunas, 2 plunges)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250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Aescape</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120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Ammortal chamber</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90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Hyperbaric room (seated)</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120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Red light beds (2)</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150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IV and regenerative lounge (8 chairs)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375</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Treatment rooms (3)</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300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Diagnostics and consult (2)</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250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Diagnostic imaging (GE iDXA densitometer)</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125</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Operating room</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350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Pre-op and PACU (3 monitored bays)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220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bl>
          </a:graphicData>
        </a:graphic>
      </p:graphicFrame>
      <p:graphicFrame>
        <p:nvGraphicFramePr>
          <p:cNvPr id="21" name="Table 1"/>
          <p:cNvGraphicFramePr>
            <a:graphicFrameLocks noGrp="1"/>
          </p:cNvGraphicFramePr>
          <p:nvPr>
            <p:extLst>
              <p:ext uri="{D42A27DB-BD31-4B8C-83A1-F6EECF244321}">
                <p14:modId xmlns:p14="http://schemas.microsoft.com/office/powerpoint/2010/main" val="1579011935"/>
              </p:ext>
            </p:extLst>
          </p:nvPr>
        </p:nvGraphicFramePr>
        <p:xfrm>
          <a:off x="4754880" y="1481328"/>
          <a:ext cx="3520440" cy="914400"/>
        </p:xfrm>
        <a:graphic>
          <a:graphicData uri="http://schemas.openxmlformats.org/drawingml/2006/table">
            <a:tbl>
              <a:tblPr/>
              <a:tblGrid>
                <a:gridCol w="2651760"/>
                <a:gridCol w="868680"/>
              </a:tblGrid>
              <a:tr h="214884">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Space</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SF</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Sterile processing</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110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Sterile supply</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90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Soiled utility</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50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Surgical suite circulation</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80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Locker, shower, changing, bathrooms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550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Admin offices (2)</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200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Kitchen and breakroom</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200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Storage</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150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MEP</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75</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Biohazard and linen closets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30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Circulation and grossing factor</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890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b="1" dirty="0">
                          <a:solidFill>
                            <a:srgbClr val="C08D7C"/>
                          </a:solidFill>
                          <a:latin typeface="Calibri" pitchFamily="34" charset="0"/>
                          <a:ea typeface="Calibri" pitchFamily="34" charset="-122"/>
                          <a:cs typeface="Calibri" pitchFamily="34" charset="-120"/>
                        </a:rPr>
                        <a:t>Total</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950" b="1" dirty="0">
                          <a:solidFill>
                            <a:srgbClr val="C08D7C"/>
                          </a:solidFill>
                          <a:latin typeface="Calibri" pitchFamily="34" charset="0"/>
                          <a:ea typeface="Calibri" pitchFamily="34" charset="-122"/>
                          <a:cs typeface="Calibri" pitchFamily="34" charset="-120"/>
                        </a:rPr>
                        <a:t>5,825</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bl>
          </a:graphicData>
        </a:graphic>
      </p:graphicFrame>
      <p:sp>
        <p:nvSpPr>
          <p:cNvPr id="7" name="Text 3"/>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 $2.0M PRIVATE CASE  ·  CONFIDENTIAL</a:t>
            </a:r>
            <a:endParaRPr lang="en-US" sz="700" dirty="0"/>
          </a:p>
        </p:txBody>
      </p:sp>
      <p:sp>
        <p:nvSpPr>
          <p:cNvPr id="8" name="Text 4"/>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10</a:t>
            </a:r>
            <a:endParaRPr lang="en-US"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THE FACILITY</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Stations and equipment.</a:t>
            </a:r>
            <a:endParaRPr lang="en-US" sz="2600" dirty="0"/>
          </a:p>
        </p:txBody>
      </p:sp>
      <p:sp>
        <p:nvSpPr>
          <p:cNvPr id="4" name="Text 2"/>
          <p:cNvSpPr/>
          <p:nvPr/>
        </p:nvSpPr>
        <p:spPr>
          <a:xfrm>
            <a:off x="502920" y="1097280"/>
            <a:ext cx="8138160" cy="457200"/>
          </a:xfrm>
          <a:prstGeom prst="rect">
            <a:avLst/>
          </a:prstGeom>
          <a:noFill/>
          <a:ln/>
        </p:spPr>
        <p:txBody>
          <a:bodyPr wrap="square" rtlCol="0" anchor="t"/>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What sits in the 5,825 square feet, and how it is paid for.</a:t>
            </a:r>
            <a:endParaRPr lang="en-US" sz="11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02920" y="1645920"/>
          <a:ext cx="3931920" cy="914400"/>
        </p:xfrm>
        <a:graphic>
          <a:graphicData uri="http://schemas.openxmlformats.org/drawingml/2006/table">
            <a:tbl>
              <a:tblPr/>
              <a:tblGrid>
                <a:gridCol w="3017520"/>
                <a:gridCol w="914400"/>
              </a:tblGrid>
              <a:tr h="237744">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Stations</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Count</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23774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Treatment rooms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3</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3774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IV / regenerative chairs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8</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3774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Saunas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3774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Cold plunges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3774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Aescape robotic massage</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3774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Ammortal chambers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bl>
          </a:graphicData>
        </a:graphic>
      </p:graphicFrame>
      <p:graphicFrame>
        <p:nvGraphicFramePr>
          <p:cNvPr id="23" name="Table 1"/>
          <p:cNvGraphicFramePr>
            <a:graphicFrameLocks noGrp="1"/>
          </p:cNvGraphicFramePr>
          <p:nvPr>
            <p:extLst>
              <p:ext uri="{D42A27DB-BD31-4B8C-83A1-F6EECF244321}">
                <p14:modId xmlns:p14="http://schemas.microsoft.com/office/powerpoint/2010/main" val="1579011935"/>
              </p:ext>
            </p:extLst>
          </p:nvPr>
        </p:nvGraphicFramePr>
        <p:xfrm>
          <a:off x="4754880" y="1645920"/>
          <a:ext cx="3520440" cy="914400"/>
        </p:xfrm>
        <a:graphic>
          <a:graphicData uri="http://schemas.openxmlformats.org/drawingml/2006/table">
            <a:tbl>
              <a:tblPr/>
              <a:tblGrid>
                <a:gridCol w="2606040"/>
                <a:gridCol w="914400"/>
              </a:tblGrid>
              <a:tr h="237744">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Stations</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Count</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23774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Hyperbaric chambers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3774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Redlight rooms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3774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Diagnostic / consult rooms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3774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DEXA scan room</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3774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Recovery stations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4</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3774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OR</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bl>
          </a:graphicData>
        </a:graphic>
      </p:graphicFrame>
      <p:sp>
        <p:nvSpPr>
          <p:cNvPr id="7" name="Shape 3"/>
          <p:cNvSpPr/>
          <p:nvPr/>
        </p:nvSpPr>
        <p:spPr>
          <a:xfrm>
            <a:off x="502920" y="3456432"/>
            <a:ext cx="8138160" cy="1024128"/>
          </a:xfrm>
          <a:prstGeom prst="roundRect">
            <a:avLst>
              <a:gd name="adj" fmla="val 5357"/>
            </a:avLst>
          </a:prstGeom>
          <a:solidFill>
            <a:srgbClr val="16241C"/>
          </a:solidFill>
          <a:ln w="12700">
            <a:solidFill>
              <a:srgbClr val="2E4237"/>
            </a:solidFill>
            <a:prstDash val="solid"/>
          </a:ln>
        </p:spPr>
      </p:sp>
      <p:sp>
        <p:nvSpPr>
          <p:cNvPr id="8" name="Text 4"/>
          <p:cNvSpPr/>
          <p:nvPr/>
        </p:nvSpPr>
        <p:spPr>
          <a:xfrm>
            <a:off x="649224" y="3566160"/>
            <a:ext cx="7845552" cy="182880"/>
          </a:xfrm>
          <a:prstGeom prst="rect">
            <a:avLst/>
          </a:prstGeom>
          <a:noFill/>
          <a:ln/>
        </p:spPr>
        <p:txBody>
          <a:bodyPr wrap="square" rtlCol="0" anchor="ctr"/>
          <a:lstStyle/>
          <a:p>
            <a:pPr indent="0" marL="0">
              <a:buNone/>
            </a:pPr>
            <a:r>
              <a:rPr lang="en-US" sz="750" spc="200" kern="0" dirty="0">
                <a:solidFill>
                  <a:srgbClr val="C08D7C"/>
                </a:solidFill>
                <a:latin typeface="Century Gothic" pitchFamily="34" charset="0"/>
                <a:ea typeface="Century Gothic" pitchFamily="34" charset="-122"/>
                <a:cs typeface="Century Gothic" pitchFamily="34" charset="-120"/>
              </a:rPr>
              <a:t>EQUIPMENT STRATEGY</a:t>
            </a:r>
            <a:endParaRPr lang="en-US" sz="750" dirty="0"/>
          </a:p>
        </p:txBody>
      </p:sp>
      <p:sp>
        <p:nvSpPr>
          <p:cNvPr id="9" name="Text 5"/>
          <p:cNvSpPr/>
          <p:nvPr/>
        </p:nvSpPr>
        <p:spPr>
          <a:xfrm>
            <a:off x="649224" y="3767328"/>
            <a:ext cx="7845552" cy="640080"/>
          </a:xfrm>
          <a:prstGeom prst="rect">
            <a:avLst/>
          </a:prstGeom>
          <a:noFill/>
          <a:ln/>
        </p:spPr>
        <p:txBody>
          <a:bodyPr wrap="square" rtlCol="0" anchor="t"/>
          <a:lstStyle/>
          <a:p>
            <a:pPr indent="0" marL="0">
              <a:lnSpc>
                <a:spcPct val="120000"/>
              </a:lnSpc>
              <a:buNone/>
            </a:pPr>
            <a:r>
              <a:rPr lang="en-US" sz="900" dirty="0">
                <a:solidFill>
                  <a:srgbClr val="A8A296"/>
                </a:solidFill>
                <a:latin typeface="Calibri" pitchFamily="34" charset="0"/>
                <a:ea typeface="Calibri" pitchFamily="34" charset="-122"/>
                <a:cs typeface="Calibri" pitchFamily="34" charset="-120"/>
              </a:rPr>
              <a:t>Purchased where payback justifies it, surgical equipment part leased. Wet areas drive cost, plunges, saunas and steam carry a materially higher per-SF buildout than a dry medspa, which is why the lean case trims the contrast suite before it trims treatment rooms.</a:t>
            </a:r>
            <a:endParaRPr lang="en-US" sz="900" dirty="0"/>
          </a:p>
        </p:txBody>
      </p:sp>
      <p:sp>
        <p:nvSpPr>
          <p:cNvPr id="10" name="Text 6"/>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 $2.0M PRIVATE CASE  ·  CONFIDENTIAL</a:t>
            </a:r>
            <a:endParaRPr lang="en-US" sz="700" dirty="0"/>
          </a:p>
        </p:txBody>
      </p:sp>
      <p:sp>
        <p:nvSpPr>
          <p:cNvPr id="11" name="Text 7"/>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11</a:t>
            </a:r>
            <a:endParaRPr lang="en-US" sz="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CAPACITY</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Enough capacity for what is sold.</a:t>
            </a:r>
            <a:endParaRPr lang="en-US" sz="2600" dirty="0"/>
          </a:p>
        </p:txBody>
      </p:sp>
      <p:sp>
        <p:nvSpPr>
          <p:cNvPr id="4" name="Text 2"/>
          <p:cNvSpPr/>
          <p:nvPr/>
        </p:nvSpPr>
        <p:spPr>
          <a:xfrm>
            <a:off x="502920" y="1097280"/>
            <a:ext cx="8138160" cy="457200"/>
          </a:xfrm>
          <a:prstGeom prst="rect">
            <a:avLst/>
          </a:prstGeom>
          <a:noFill/>
          <a:ln/>
        </p:spPr>
        <p:txBody>
          <a:bodyPr wrap="square" rtlCol="0" anchor="t"/>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Built bottom-up from station hours, not assumed. The circuit bottleneck is the cold plunge, not the sauna; the clinical bottleneck is treatment rooms.</a:t>
            </a:r>
            <a:endParaRPr lang="en-US" sz="1150" dirty="0"/>
          </a:p>
        </p:txBody>
      </p:sp>
      <p:sp>
        <p:nvSpPr>
          <p:cNvPr id="5" name="Shape 3"/>
          <p:cNvSpPr/>
          <p:nvPr/>
        </p:nvSpPr>
        <p:spPr>
          <a:xfrm>
            <a:off x="502920" y="2240280"/>
            <a:ext cx="2602992" cy="1554480"/>
          </a:xfrm>
          <a:prstGeom prst="roundRect">
            <a:avLst>
              <a:gd name="adj" fmla="val 3529"/>
            </a:avLst>
          </a:prstGeom>
          <a:solidFill>
            <a:srgbClr val="241C1A"/>
          </a:solidFill>
          <a:ln w="12700">
            <a:solidFill>
              <a:srgbClr val="C08D7C"/>
            </a:solidFill>
            <a:prstDash val="solid"/>
          </a:ln>
        </p:spPr>
      </p:sp>
      <p:sp>
        <p:nvSpPr>
          <p:cNvPr id="6" name="Text 4"/>
          <p:cNvSpPr/>
          <p:nvPr/>
        </p:nvSpPr>
        <p:spPr>
          <a:xfrm>
            <a:off x="649224" y="2368296"/>
            <a:ext cx="2310384" cy="420624"/>
          </a:xfrm>
          <a:prstGeom prst="rect">
            <a:avLst/>
          </a:prstGeom>
          <a:noFill/>
          <a:ln/>
        </p:spPr>
        <p:txBody>
          <a:bodyPr wrap="square" rtlCol="0" anchor="ctr"/>
          <a:lstStyle/>
          <a:p>
            <a:pPr indent="0" marL="0">
              <a:buNone/>
            </a:pPr>
            <a:r>
              <a:rPr lang="en-US" sz="2000" dirty="0">
                <a:solidFill>
                  <a:srgbClr val="C08D7C"/>
                </a:solidFill>
                <a:latin typeface="Century Gothic" pitchFamily="34" charset="0"/>
                <a:ea typeface="Century Gothic" pitchFamily="34" charset="-122"/>
                <a:cs typeface="Century Gothic" pitchFamily="34" charset="-120"/>
              </a:rPr>
              <a:t>73%</a:t>
            </a:r>
            <a:endParaRPr lang="en-US" sz="2000" dirty="0"/>
          </a:p>
        </p:txBody>
      </p:sp>
      <p:sp>
        <p:nvSpPr>
          <p:cNvPr id="7" name="Text 5"/>
          <p:cNvSpPr/>
          <p:nvPr/>
        </p:nvSpPr>
        <p:spPr>
          <a:xfrm>
            <a:off x="649224" y="2807208"/>
            <a:ext cx="2310384" cy="859536"/>
          </a:xfrm>
          <a:prstGeom prst="rect">
            <a:avLst/>
          </a:prstGeom>
          <a:noFill/>
          <a:ln/>
        </p:spPr>
        <p:txBody>
          <a:bodyPr wrap="square" rtlCol="0" anchor="t"/>
          <a:lstStyle/>
          <a:p>
            <a:pPr indent="0" marL="0">
              <a:lnSpc>
                <a:spcPct val="115000"/>
              </a:lnSpc>
              <a:buNone/>
            </a:pPr>
            <a:r>
              <a:rPr lang="en-US" sz="900" dirty="0">
                <a:solidFill>
                  <a:srgbClr val="A8A296"/>
                </a:solidFill>
                <a:latin typeface="Calibri" pitchFamily="34" charset="0"/>
                <a:ea typeface="Calibri" pitchFamily="34" charset="-122"/>
                <a:cs typeface="Calibri" pitchFamily="34" charset="-120"/>
              </a:rPr>
              <a:t>Recovery circuit utilization. 2,345 modeled visits against 3,192 practical capacity, leaving 847 visits of headroom.</a:t>
            </a:r>
            <a:endParaRPr lang="en-US" sz="900" dirty="0"/>
          </a:p>
        </p:txBody>
      </p:sp>
      <p:sp>
        <p:nvSpPr>
          <p:cNvPr id="8" name="Shape 6"/>
          <p:cNvSpPr/>
          <p:nvPr/>
        </p:nvSpPr>
        <p:spPr>
          <a:xfrm>
            <a:off x="3270504" y="2240280"/>
            <a:ext cx="2602992" cy="1554480"/>
          </a:xfrm>
          <a:prstGeom prst="roundRect">
            <a:avLst>
              <a:gd name="adj" fmla="val 3529"/>
            </a:avLst>
          </a:prstGeom>
          <a:solidFill>
            <a:srgbClr val="241C1A"/>
          </a:solidFill>
          <a:ln w="12700">
            <a:solidFill>
              <a:srgbClr val="C08D7C"/>
            </a:solidFill>
            <a:prstDash val="solid"/>
          </a:ln>
        </p:spPr>
      </p:sp>
      <p:sp>
        <p:nvSpPr>
          <p:cNvPr id="9" name="Text 7"/>
          <p:cNvSpPr/>
          <p:nvPr/>
        </p:nvSpPr>
        <p:spPr>
          <a:xfrm>
            <a:off x="3416808" y="2368296"/>
            <a:ext cx="2310384" cy="420624"/>
          </a:xfrm>
          <a:prstGeom prst="rect">
            <a:avLst/>
          </a:prstGeom>
          <a:noFill/>
          <a:ln/>
        </p:spPr>
        <p:txBody>
          <a:bodyPr wrap="square" rtlCol="0" anchor="ctr"/>
          <a:lstStyle/>
          <a:p>
            <a:pPr indent="0" marL="0">
              <a:buNone/>
            </a:pPr>
            <a:r>
              <a:rPr lang="en-US" sz="2000" dirty="0">
                <a:solidFill>
                  <a:srgbClr val="C08D7C"/>
                </a:solidFill>
                <a:latin typeface="Century Gothic" pitchFamily="34" charset="0"/>
                <a:ea typeface="Century Gothic" pitchFamily="34" charset="-122"/>
                <a:cs typeface="Century Gothic" pitchFamily="34" charset="-120"/>
              </a:rPr>
              <a:t>87%</a:t>
            </a:r>
            <a:endParaRPr lang="en-US" sz="2000" dirty="0"/>
          </a:p>
        </p:txBody>
      </p:sp>
      <p:sp>
        <p:nvSpPr>
          <p:cNvPr id="10" name="Text 8"/>
          <p:cNvSpPr/>
          <p:nvPr/>
        </p:nvSpPr>
        <p:spPr>
          <a:xfrm>
            <a:off x="3416808" y="2807208"/>
            <a:ext cx="2310384" cy="859536"/>
          </a:xfrm>
          <a:prstGeom prst="rect">
            <a:avLst/>
          </a:prstGeom>
          <a:noFill/>
          <a:ln/>
        </p:spPr>
        <p:txBody>
          <a:bodyPr wrap="square" rtlCol="0" anchor="t"/>
          <a:lstStyle/>
          <a:p>
            <a:pPr indent="0" marL="0">
              <a:lnSpc>
                <a:spcPct val="115000"/>
              </a:lnSpc>
              <a:buNone/>
            </a:pPr>
            <a:r>
              <a:rPr lang="en-US" sz="900" dirty="0">
                <a:solidFill>
                  <a:srgbClr val="A8A296"/>
                </a:solidFill>
                <a:latin typeface="Calibri" pitchFamily="34" charset="0"/>
                <a:ea typeface="Calibri" pitchFamily="34" charset="-122"/>
                <a:cs typeface="Calibri" pitchFamily="34" charset="-120"/>
              </a:rPr>
              <a:t>Treatment room utilization. 439 procedures against 507 practical capacity, leaving 68 slots of headroom.</a:t>
            </a:r>
            <a:endParaRPr lang="en-US" sz="900" dirty="0"/>
          </a:p>
        </p:txBody>
      </p:sp>
      <p:sp>
        <p:nvSpPr>
          <p:cNvPr id="11" name="Shape 9"/>
          <p:cNvSpPr/>
          <p:nvPr/>
        </p:nvSpPr>
        <p:spPr>
          <a:xfrm>
            <a:off x="6038088" y="2240280"/>
            <a:ext cx="2602992" cy="1554480"/>
          </a:xfrm>
          <a:prstGeom prst="roundRect">
            <a:avLst>
              <a:gd name="adj" fmla="val 3529"/>
            </a:avLst>
          </a:prstGeom>
          <a:solidFill>
            <a:srgbClr val="241C1A"/>
          </a:solidFill>
          <a:ln w="12700">
            <a:solidFill>
              <a:srgbClr val="C08D7C"/>
            </a:solidFill>
            <a:prstDash val="solid"/>
          </a:ln>
        </p:spPr>
      </p:sp>
      <p:sp>
        <p:nvSpPr>
          <p:cNvPr id="12" name="Text 10"/>
          <p:cNvSpPr/>
          <p:nvPr/>
        </p:nvSpPr>
        <p:spPr>
          <a:xfrm>
            <a:off x="6184392" y="2368296"/>
            <a:ext cx="2310384" cy="420624"/>
          </a:xfrm>
          <a:prstGeom prst="rect">
            <a:avLst/>
          </a:prstGeom>
          <a:noFill/>
          <a:ln/>
        </p:spPr>
        <p:txBody>
          <a:bodyPr wrap="square" rtlCol="0" anchor="ctr"/>
          <a:lstStyle/>
          <a:p>
            <a:pPr indent="0" marL="0">
              <a:buNone/>
            </a:pPr>
            <a:r>
              <a:rPr lang="en-US" sz="2000" dirty="0">
                <a:solidFill>
                  <a:srgbClr val="C08D7C"/>
                </a:solidFill>
                <a:latin typeface="Century Gothic" pitchFamily="34" charset="0"/>
                <a:ea typeface="Century Gothic" pitchFamily="34" charset="-122"/>
                <a:cs typeface="Century Gothic" pitchFamily="34" charset="-120"/>
              </a:rPr>
              <a:t>61%</a:t>
            </a:r>
            <a:endParaRPr lang="en-US" sz="2000" dirty="0"/>
          </a:p>
        </p:txBody>
      </p:sp>
      <p:sp>
        <p:nvSpPr>
          <p:cNvPr id="13" name="Text 11"/>
          <p:cNvSpPr/>
          <p:nvPr/>
        </p:nvSpPr>
        <p:spPr>
          <a:xfrm>
            <a:off x="6184392" y="2807208"/>
            <a:ext cx="2310384" cy="859536"/>
          </a:xfrm>
          <a:prstGeom prst="rect">
            <a:avLst/>
          </a:prstGeom>
          <a:noFill/>
          <a:ln/>
        </p:spPr>
        <p:txBody>
          <a:bodyPr wrap="square" rtlCol="0" anchor="t"/>
          <a:lstStyle/>
          <a:p>
            <a:pPr indent="0" marL="0">
              <a:lnSpc>
                <a:spcPct val="115000"/>
              </a:lnSpc>
              <a:buNone/>
            </a:pPr>
            <a:r>
              <a:rPr lang="en-US" sz="900" dirty="0">
                <a:solidFill>
                  <a:srgbClr val="A8A296"/>
                </a:solidFill>
                <a:latin typeface="Calibri" pitchFamily="34" charset="0"/>
                <a:ea typeface="Calibri" pitchFamily="34" charset="-122"/>
                <a:cs typeface="Calibri" pitchFamily="34" charset="-120"/>
              </a:rPr>
              <a:t>Operating room utilization. 22 cases needing 38.5 hours against 63 practical hours across nine block days, leaving 24.5 hours of headroom.</a:t>
            </a:r>
            <a:endParaRPr lang="en-US" sz="900" dirty="0"/>
          </a:p>
        </p:txBody>
      </p:sp>
      <p:sp>
        <p:nvSpPr>
          <p:cNvPr id="14" name="Text 12"/>
          <p:cNvSpPr/>
          <p:nvPr/>
        </p:nvSpPr>
        <p:spPr>
          <a:xfrm>
            <a:off x="502920" y="3977640"/>
            <a:ext cx="8138160" cy="457200"/>
          </a:xfrm>
          <a:prstGeom prst="rect">
            <a:avLst/>
          </a:prstGeom>
          <a:noFill/>
          <a:ln/>
        </p:spPr>
        <p:txBody>
          <a:bodyPr wrap="square" rtlCol="0" anchor="ctr"/>
          <a:lstStyle/>
          <a:p>
            <a:pPr indent="0" marL="0">
              <a:lnSpc>
                <a:spcPct val="120000"/>
              </a:lnSpc>
              <a:buNone/>
            </a:pPr>
            <a:r>
              <a:rPr lang="en-US" sz="1000" dirty="0">
                <a:solidFill>
                  <a:srgbClr val="6E6A62"/>
                </a:solidFill>
                <a:latin typeface="Calibri" pitchFamily="34" charset="0"/>
                <a:ea typeface="Calibri" pitchFamily="34" charset="-122"/>
                <a:cs typeface="Calibri" pitchFamily="34" charset="-120"/>
              </a:rPr>
              <a:t>Practical capacity applies a utilization ceiling to theoretical station hours, because demand concentrates at peak times and nothing runs flat out. Headroom is the growth the facility can absorb without further capital.</a:t>
            </a:r>
            <a:endParaRPr lang="en-US" sz="1000" dirty="0"/>
          </a:p>
        </p:txBody>
      </p:sp>
      <p:sp>
        <p:nvSpPr>
          <p:cNvPr id="15" name="Text 13"/>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 $2.0M PRIVATE CASE  ·  CONFIDENTIAL</a:t>
            </a:r>
            <a:endParaRPr lang="en-US" sz="700" dirty="0"/>
          </a:p>
        </p:txBody>
      </p:sp>
      <p:sp>
        <p:nvSpPr>
          <p:cNvPr id="16" name="Text 14"/>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12</a:t>
            </a:r>
            <a:endParaRPr lang="en-US" sz="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MARKET</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A large, fast, cash-pay category.</a:t>
            </a:r>
            <a:endParaRPr lang="en-US" sz="2600" dirty="0"/>
          </a:p>
        </p:txBody>
      </p:sp>
      <p:sp>
        <p:nvSpPr>
          <p:cNvPr id="4" name="Text 2"/>
          <p:cNvSpPr/>
          <p:nvPr/>
        </p:nvSpPr>
        <p:spPr>
          <a:xfrm>
            <a:off x="502920" y="1097280"/>
            <a:ext cx="8138160" cy="457200"/>
          </a:xfrm>
          <a:prstGeom prst="rect">
            <a:avLst/>
          </a:prstGeom>
          <a:noFill/>
          <a:ln/>
        </p:spPr>
        <p:txBody>
          <a:bodyPr wrap="square" rtlCol="0" anchor="t"/>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Every figure carries its source. Anything we could not source was cut rather than estimated.</a:t>
            </a:r>
            <a:endParaRPr lang="en-US" sz="11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02920" y="1600200"/>
          <a:ext cx="8138160" cy="914400"/>
        </p:xfrm>
        <a:graphic>
          <a:graphicData uri="http://schemas.openxmlformats.org/drawingml/2006/table">
            <a:tbl>
              <a:tblPr/>
              <a:tblGrid>
                <a:gridCol w="4206240"/>
                <a:gridCol w="1371600"/>
                <a:gridCol w="2560320"/>
              </a:tblGrid>
              <a:tr h="274320">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Figure</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Value</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Source</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27432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Global wellness economy, 2024</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$6.8T</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Global Wellness Institute</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Global medical spa market, 2026</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$27.8B</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Grand View Research</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US medical spas, 2023</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10,488</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Grand View Research</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US consumers calling wellness a top or important priority</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82%</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McKinsey</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US concierge medicine market by 2034</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$19.4B</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Cited in Patientfy longevity market map</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US adults currently taking a GLP-1</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 in 8</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KFF</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Longevity retreats market, 2026</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$11.1B</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Research and Markets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bl>
          </a:graphicData>
        </a:graphic>
      </p:graphicFrame>
      <p:sp>
        <p:nvSpPr>
          <p:cNvPr id="6" name="Text 3"/>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 $2.0M PRIVATE CASE  ·  CONFIDENTIAL</a:t>
            </a:r>
            <a:endParaRPr lang="en-US" sz="700" dirty="0"/>
          </a:p>
        </p:txBody>
      </p:sp>
      <p:sp>
        <p:nvSpPr>
          <p:cNvPr id="7" name="Text 4"/>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13</a:t>
            </a:r>
            <a:endParaRPr lang="en-US" sz="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MARKET</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Silicon Beach, at its densest.</a:t>
            </a:r>
            <a:endParaRPr lang="en-US" sz="2600" dirty="0"/>
          </a:p>
        </p:txBody>
      </p:sp>
      <p:sp>
        <p:nvSpPr>
          <p:cNvPr id="4" name="Text 2"/>
          <p:cNvSpPr/>
          <p:nvPr/>
        </p:nvSpPr>
        <p:spPr>
          <a:xfrm>
            <a:off x="502920" y="1097280"/>
            <a:ext cx="8138160" cy="457200"/>
          </a:xfrm>
          <a:prstGeom prst="rect">
            <a:avLst/>
          </a:prstGeom>
          <a:noFill/>
          <a:ln/>
        </p:spPr>
        <p:txBody>
          <a:bodyPr wrap="square" rtlCol="0" anchor="t"/>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Playa Vista is a master-planned innovation district on the old Hughes Aircraft site, and it has become the centre of gravity for the Westside’s technology, media, advertising and creator economy. Google, YouTube and Meta campuses sit within a walk of one another. LAX is four miles south, the studios fifteen minutes north, and the district was designed to be walked rather than driven.</a:t>
            </a:r>
            <a:endParaRPr lang="en-US" sz="1150" dirty="0"/>
          </a:p>
        </p:txBody>
      </p:sp>
      <p:sp>
        <p:nvSpPr>
          <p:cNvPr id="5" name="Shape 3"/>
          <p:cNvSpPr/>
          <p:nvPr/>
        </p:nvSpPr>
        <p:spPr>
          <a:xfrm>
            <a:off x="502920" y="2286000"/>
            <a:ext cx="2602992" cy="1554480"/>
          </a:xfrm>
          <a:prstGeom prst="roundRect">
            <a:avLst>
              <a:gd name="adj" fmla="val 3529"/>
            </a:avLst>
          </a:prstGeom>
          <a:solidFill>
            <a:srgbClr val="16241C"/>
          </a:solidFill>
          <a:ln w="12700">
            <a:solidFill>
              <a:srgbClr val="2E4237"/>
            </a:solidFill>
            <a:prstDash val="solid"/>
          </a:ln>
        </p:spPr>
      </p:sp>
      <p:sp>
        <p:nvSpPr>
          <p:cNvPr id="6" name="Text 4"/>
          <p:cNvSpPr/>
          <p:nvPr/>
        </p:nvSpPr>
        <p:spPr>
          <a:xfrm>
            <a:off x="649224" y="2414016"/>
            <a:ext cx="2310384" cy="420624"/>
          </a:xfrm>
          <a:prstGeom prst="rect">
            <a:avLst/>
          </a:prstGeom>
          <a:noFill/>
          <a:ln/>
        </p:spPr>
        <p:txBody>
          <a:bodyPr wrap="square" rtlCol="0" anchor="ctr"/>
          <a:lstStyle/>
          <a:p>
            <a:pPr indent="0" marL="0">
              <a:buNone/>
            </a:pPr>
            <a:r>
              <a:rPr lang="en-US" sz="2000" dirty="0">
                <a:solidFill>
                  <a:srgbClr val="C08D7C"/>
                </a:solidFill>
                <a:latin typeface="Century Gothic" pitchFamily="34" charset="0"/>
                <a:ea typeface="Century Gothic" pitchFamily="34" charset="-122"/>
                <a:cs typeface="Century Gothic" pitchFamily="34" charset="-120"/>
              </a:rPr>
              <a:t>$129,942</a:t>
            </a:r>
            <a:endParaRPr lang="en-US" sz="2000" dirty="0"/>
          </a:p>
        </p:txBody>
      </p:sp>
      <p:sp>
        <p:nvSpPr>
          <p:cNvPr id="7" name="Text 5"/>
          <p:cNvSpPr/>
          <p:nvPr/>
        </p:nvSpPr>
        <p:spPr>
          <a:xfrm>
            <a:off x="649224" y="2852928"/>
            <a:ext cx="2310384" cy="859536"/>
          </a:xfrm>
          <a:prstGeom prst="rect">
            <a:avLst/>
          </a:prstGeom>
          <a:noFill/>
          <a:ln/>
        </p:spPr>
        <p:txBody>
          <a:bodyPr wrap="square" rtlCol="0" anchor="t"/>
          <a:lstStyle/>
          <a:p>
            <a:pPr indent="0" marL="0">
              <a:lnSpc>
                <a:spcPct val="115000"/>
              </a:lnSpc>
              <a:buNone/>
            </a:pPr>
            <a:r>
              <a:rPr lang="en-US" sz="900" dirty="0">
                <a:solidFill>
                  <a:srgbClr val="A8A296"/>
                </a:solidFill>
                <a:latin typeface="Calibri" pitchFamily="34" charset="0"/>
                <a:ea typeface="Calibri" pitchFamily="34" charset="-122"/>
                <a:cs typeface="Calibri" pitchFamily="34" charset="-120"/>
              </a:rPr>
              <a:t>Playa Vista median household income. Against a Los Angeles County median well below it. This is a cash-pay market.  (US Census Bureau, via Point2Homes)</a:t>
            </a:r>
            <a:endParaRPr lang="en-US" sz="900" dirty="0"/>
          </a:p>
        </p:txBody>
      </p:sp>
      <p:sp>
        <p:nvSpPr>
          <p:cNvPr id="8" name="Shape 6"/>
          <p:cNvSpPr/>
          <p:nvPr/>
        </p:nvSpPr>
        <p:spPr>
          <a:xfrm>
            <a:off x="3270504" y="2286000"/>
            <a:ext cx="2602992" cy="1554480"/>
          </a:xfrm>
          <a:prstGeom prst="roundRect">
            <a:avLst>
              <a:gd name="adj" fmla="val 3529"/>
            </a:avLst>
          </a:prstGeom>
          <a:solidFill>
            <a:srgbClr val="16241C"/>
          </a:solidFill>
          <a:ln w="12700">
            <a:solidFill>
              <a:srgbClr val="2E4237"/>
            </a:solidFill>
            <a:prstDash val="solid"/>
          </a:ln>
        </p:spPr>
      </p:sp>
      <p:sp>
        <p:nvSpPr>
          <p:cNvPr id="9" name="Text 7"/>
          <p:cNvSpPr/>
          <p:nvPr/>
        </p:nvSpPr>
        <p:spPr>
          <a:xfrm>
            <a:off x="3416808" y="2414016"/>
            <a:ext cx="2310384" cy="420624"/>
          </a:xfrm>
          <a:prstGeom prst="rect">
            <a:avLst/>
          </a:prstGeom>
          <a:noFill/>
          <a:ln/>
        </p:spPr>
        <p:txBody>
          <a:bodyPr wrap="square" rtlCol="0" anchor="ctr"/>
          <a:lstStyle/>
          <a:p>
            <a:pPr indent="0" marL="0">
              <a:buNone/>
            </a:pPr>
            <a:r>
              <a:rPr lang="en-US" sz="2000" dirty="0">
                <a:solidFill>
                  <a:srgbClr val="C08D7C"/>
                </a:solidFill>
                <a:latin typeface="Century Gothic" pitchFamily="34" charset="0"/>
                <a:ea typeface="Century Gothic" pitchFamily="34" charset="-122"/>
                <a:cs typeface="Century Gothic" pitchFamily="34" charset="-120"/>
              </a:rPr>
              <a:t>500+</a:t>
            </a:r>
            <a:endParaRPr lang="en-US" sz="2000" dirty="0"/>
          </a:p>
        </p:txBody>
      </p:sp>
      <p:sp>
        <p:nvSpPr>
          <p:cNvPr id="10" name="Text 8"/>
          <p:cNvSpPr/>
          <p:nvPr/>
        </p:nvSpPr>
        <p:spPr>
          <a:xfrm>
            <a:off x="3416808" y="2852928"/>
            <a:ext cx="2310384" cy="859536"/>
          </a:xfrm>
          <a:prstGeom prst="rect">
            <a:avLst/>
          </a:prstGeom>
          <a:noFill/>
          <a:ln/>
        </p:spPr>
        <p:txBody>
          <a:bodyPr wrap="square" rtlCol="0" anchor="t"/>
          <a:lstStyle/>
          <a:p>
            <a:pPr indent="0" marL="0">
              <a:lnSpc>
                <a:spcPct val="115000"/>
              </a:lnSpc>
              <a:buNone/>
            </a:pPr>
            <a:r>
              <a:rPr lang="en-US" sz="900" dirty="0">
                <a:solidFill>
                  <a:srgbClr val="A8A296"/>
                </a:solidFill>
                <a:latin typeface="Calibri" pitchFamily="34" charset="0"/>
                <a:ea typeface="Calibri" pitchFamily="34" charset="-122"/>
                <a:cs typeface="Calibri" pitchFamily="34" charset="-120"/>
              </a:rPr>
              <a:t>Technology companies in Silicon Beach. The Westside tech corridor that Playa Vista sits at the center of.  (Wikipedia, Silicon Beach)</a:t>
            </a:r>
            <a:endParaRPr lang="en-US" sz="900" dirty="0"/>
          </a:p>
        </p:txBody>
      </p:sp>
      <p:sp>
        <p:nvSpPr>
          <p:cNvPr id="11" name="Shape 9"/>
          <p:cNvSpPr/>
          <p:nvPr/>
        </p:nvSpPr>
        <p:spPr>
          <a:xfrm>
            <a:off x="6038088" y="2286000"/>
            <a:ext cx="2602992" cy="1554480"/>
          </a:xfrm>
          <a:prstGeom prst="roundRect">
            <a:avLst>
              <a:gd name="adj" fmla="val 3529"/>
            </a:avLst>
          </a:prstGeom>
          <a:solidFill>
            <a:srgbClr val="16241C"/>
          </a:solidFill>
          <a:ln w="12700">
            <a:solidFill>
              <a:srgbClr val="2E4237"/>
            </a:solidFill>
            <a:prstDash val="solid"/>
          </a:ln>
        </p:spPr>
      </p:sp>
      <p:sp>
        <p:nvSpPr>
          <p:cNvPr id="12" name="Text 10"/>
          <p:cNvSpPr/>
          <p:nvPr/>
        </p:nvSpPr>
        <p:spPr>
          <a:xfrm>
            <a:off x="6184392" y="2414016"/>
            <a:ext cx="2310384" cy="420624"/>
          </a:xfrm>
          <a:prstGeom prst="rect">
            <a:avLst/>
          </a:prstGeom>
          <a:noFill/>
          <a:ln/>
        </p:spPr>
        <p:txBody>
          <a:bodyPr wrap="square" rtlCol="0" anchor="ctr"/>
          <a:lstStyle/>
          <a:p>
            <a:pPr indent="0" marL="0">
              <a:buNone/>
            </a:pPr>
            <a:r>
              <a:rPr lang="en-US" sz="2000" dirty="0">
                <a:solidFill>
                  <a:srgbClr val="C08D7C"/>
                </a:solidFill>
                <a:latin typeface="Century Gothic" pitchFamily="34" charset="0"/>
                <a:ea typeface="Century Gothic" pitchFamily="34" charset="-122"/>
                <a:cs typeface="Century Gothic" pitchFamily="34" charset="-120"/>
              </a:rPr>
              <a:t>~5,100</a:t>
            </a:r>
            <a:endParaRPr lang="en-US" sz="2000" dirty="0"/>
          </a:p>
        </p:txBody>
      </p:sp>
      <p:sp>
        <p:nvSpPr>
          <p:cNvPr id="13" name="Text 11"/>
          <p:cNvSpPr/>
          <p:nvPr/>
        </p:nvSpPr>
        <p:spPr>
          <a:xfrm>
            <a:off x="6184392" y="2852928"/>
            <a:ext cx="2310384" cy="859536"/>
          </a:xfrm>
          <a:prstGeom prst="rect">
            <a:avLst/>
          </a:prstGeom>
          <a:noFill/>
          <a:ln/>
        </p:spPr>
        <p:txBody>
          <a:bodyPr wrap="square" rtlCol="0" anchor="t"/>
          <a:lstStyle/>
          <a:p>
            <a:pPr indent="0" marL="0">
              <a:lnSpc>
                <a:spcPct val="115000"/>
              </a:lnSpc>
              <a:buNone/>
            </a:pPr>
            <a:r>
              <a:rPr lang="en-US" sz="900" dirty="0">
                <a:solidFill>
                  <a:srgbClr val="A8A296"/>
                </a:solidFill>
                <a:latin typeface="Calibri" pitchFamily="34" charset="0"/>
                <a:ea typeface="Calibri" pitchFamily="34" charset="-122"/>
                <a:cs typeface="Calibri" pitchFamily="34" charset="-120"/>
              </a:rPr>
              <a:t>Employed at The Campus at Playa Vista. Up from roughly 2,000 in 2015, a 150% increase. A dense, high-income daytime population inside walking distance.  (Los Angeles Business Journal)</a:t>
            </a:r>
            <a:endParaRPr lang="en-US" sz="900" dirty="0"/>
          </a:p>
        </p:txBody>
      </p:sp>
      <p:sp>
        <p:nvSpPr>
          <p:cNvPr id="14" name="Text 12"/>
          <p:cNvSpPr/>
          <p:nvPr/>
        </p:nvSpPr>
        <p:spPr>
          <a:xfrm>
            <a:off x="502920" y="3520440"/>
            <a:ext cx="8138160" cy="201168"/>
          </a:xfrm>
          <a:prstGeom prst="rect">
            <a:avLst/>
          </a:prstGeom>
          <a:noFill/>
          <a:ln/>
        </p:spPr>
        <p:txBody>
          <a:bodyPr wrap="square" rtlCol="0" anchor="ctr"/>
          <a:lstStyle/>
          <a:p>
            <a:pPr indent="0" marL="0">
              <a:buNone/>
            </a:pPr>
            <a:r>
              <a:rPr lang="en-US" sz="850" spc="260" kern="0" dirty="0">
                <a:solidFill>
                  <a:srgbClr val="C08D7C"/>
                </a:solidFill>
                <a:latin typeface="Century Gothic" pitchFamily="34" charset="0"/>
                <a:ea typeface="Century Gothic" pitchFamily="34" charset="-122"/>
                <a:cs typeface="Century Gothic" pitchFamily="34" charset="-120"/>
              </a:rPr>
              <a:t>INSIDE A REALISTIC DRIVE TIME</a:t>
            </a:r>
            <a:endParaRPr lang="en-US" sz="850" dirty="0"/>
          </a:p>
        </p:txBody>
      </p:sp>
      <p:sp>
        <p:nvSpPr>
          <p:cNvPr id="15" name="Text 13"/>
          <p:cNvSpPr/>
          <p:nvPr/>
        </p:nvSpPr>
        <p:spPr>
          <a:xfrm>
            <a:off x="502920" y="3749040"/>
            <a:ext cx="8138160" cy="457200"/>
          </a:xfrm>
          <a:prstGeom prst="rect">
            <a:avLst/>
          </a:prstGeom>
          <a:noFill/>
          <a:ln/>
        </p:spPr>
        <p:txBody>
          <a:bodyPr wrap="square" rtlCol="0" anchor="ctr"/>
          <a:lstStyle/>
          <a:p>
            <a:pPr indent="0" marL="0">
              <a:lnSpc>
                <a:spcPct val="120000"/>
              </a:lnSpc>
              <a:buNone/>
            </a:pPr>
            <a:r>
              <a:rPr lang="en-US" sz="1100" dirty="0">
                <a:solidFill>
                  <a:srgbClr val="A8A296"/>
                </a:solidFill>
                <a:latin typeface="Calibri" pitchFamily="34" charset="0"/>
                <a:ea typeface="Calibri" pitchFamily="34" charset="-122"/>
                <a:cs typeface="Calibri" pitchFamily="34" charset="-120"/>
              </a:rPr>
              <a:t>Playa Vista   ·   Marina del Rey   ·   Culver City   ·   Venice   ·   Santa Monica   ·   Playa del Rey   ·   El Segundo   ·   Westchester   ·   Mar Vista   ·   Manhattan Beach</a:t>
            </a:r>
            <a:endParaRPr lang="en-US" sz="1100" dirty="0"/>
          </a:p>
        </p:txBody>
      </p:sp>
      <p:sp>
        <p:nvSpPr>
          <p:cNvPr id="16" name="Text 14"/>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 $2.0M PRIVATE CASE  ·  CONFIDENTIAL</a:t>
            </a:r>
            <a:endParaRPr lang="en-US" sz="700" dirty="0"/>
          </a:p>
        </p:txBody>
      </p:sp>
      <p:sp>
        <p:nvSpPr>
          <p:cNvPr id="17" name="Text 15"/>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14</a:t>
            </a:r>
            <a:endParaRPr lang="en-US" sz="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UNIT ECONOMICS</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30 wellness lines, every one cash-pay (1 of 2).</a:t>
            </a:r>
            <a:endParaRPr lang="en-US" sz="2600" dirty="0"/>
          </a:p>
        </p:txBody>
      </p:sp>
      <p:sp>
        <p:nvSpPr>
          <p:cNvPr id="4" name="Text 2"/>
          <p:cNvSpPr/>
          <p:nvPr/>
        </p:nvSpPr>
        <p:spPr>
          <a:xfrm>
            <a:off x="502920" y="1097280"/>
            <a:ext cx="8138160" cy="457200"/>
          </a:xfrm>
          <a:prstGeom prst="rect">
            <a:avLst/>
          </a:prstGeom>
          <a:noFill/>
          <a:ln/>
        </p:spPr>
        <p:txBody>
          <a:bodyPr wrap="square" rtlCol="0" anchor="t"/>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No insurance contracts, no payer mix, no receivables aging. Prices are exact, not banded.</a:t>
            </a:r>
            <a:endParaRPr lang="en-US" sz="11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02920" y="1691640"/>
          <a:ext cx="8138160" cy="914400"/>
        </p:xfrm>
        <a:graphic>
          <a:graphicData uri="http://schemas.openxmlformats.org/drawingml/2006/table">
            <a:tbl>
              <a:tblPr/>
              <a:tblGrid>
                <a:gridCol w="2103120"/>
                <a:gridCol w="960120"/>
                <a:gridCol w="777240"/>
                <a:gridCol w="685800"/>
                <a:gridCol w="868680"/>
                <a:gridCol w="1143000"/>
                <a:gridCol w="1143000"/>
              </a:tblGrid>
              <a:tr h="132588">
                <a:tc>
                  <a:txBody>
                    <a:bodyPr/>
                    <a:lstStyle/>
                    <a:p>
                      <a:pPr algn="l" indent="0" marL="0">
                        <a:buNone/>
                      </a:pPr>
                      <a:r>
                        <a:rPr lang="en-US" sz="750" spc="140" kern="0" dirty="0">
                          <a:solidFill>
                            <a:srgbClr val="C08D7C"/>
                          </a:solidFill>
                          <a:latin typeface="Century Gothic" pitchFamily="34" charset="0"/>
                          <a:ea typeface="Century Gothic" pitchFamily="34" charset="-122"/>
                          <a:cs typeface="Century Gothic" pitchFamily="34" charset="-120"/>
                        </a:rPr>
                        <a:t>Service</a:t>
                      </a:r>
                      <a:endParaRPr lang="en-US" sz="750" dirty="0">
                        <a:latin typeface="Century Gothic" charset="0"/>
                        <a:ea typeface="Century Gothic" charset="0"/>
                        <a:cs typeface="Century Gothic"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l" indent="0" marL="0">
                        <a:buNone/>
                      </a:pPr>
                      <a:r>
                        <a:rPr lang="en-US" sz="750" spc="140" kern="0" dirty="0">
                          <a:solidFill>
                            <a:srgbClr val="C08D7C"/>
                          </a:solidFill>
                          <a:latin typeface="Century Gothic" pitchFamily="34" charset="0"/>
                          <a:ea typeface="Century Gothic" pitchFamily="34" charset="-122"/>
                          <a:cs typeface="Century Gothic" pitchFamily="34" charset="-120"/>
                        </a:rPr>
                        <a:t>Category</a:t>
                      </a:r>
                      <a:endParaRPr lang="en-US" sz="750" dirty="0">
                        <a:latin typeface="Century Gothic" charset="0"/>
                        <a:ea typeface="Century Gothic" charset="0"/>
                        <a:cs typeface="Century Gothic"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C08D7C"/>
                          </a:solidFill>
                          <a:latin typeface="Century Gothic" pitchFamily="34" charset="0"/>
                          <a:ea typeface="Century Gothic" pitchFamily="34" charset="-122"/>
                          <a:cs typeface="Century Gothic" pitchFamily="34" charset="-120"/>
                        </a:rPr>
                        <a:t>Price</a:t>
                      </a:r>
                      <a:endParaRPr lang="en-US" sz="750" dirty="0">
                        <a:latin typeface="Century Gothic" charset="0"/>
                        <a:ea typeface="Century Gothic" charset="0"/>
                        <a:cs typeface="Century Gothic"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C08D7C"/>
                          </a:solidFill>
                          <a:latin typeface="Century Gothic" pitchFamily="34" charset="0"/>
                          <a:ea typeface="Century Gothic" pitchFamily="34" charset="-122"/>
                          <a:cs typeface="Century Gothic" pitchFamily="34" charset="-120"/>
                        </a:rPr>
                        <a:t>Margin</a:t>
                      </a:r>
                      <a:endParaRPr lang="en-US" sz="750" dirty="0">
                        <a:latin typeface="Century Gothic" charset="0"/>
                        <a:ea typeface="Century Gothic" charset="0"/>
                        <a:cs typeface="Century Gothic"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C08D7C"/>
                          </a:solidFill>
                          <a:latin typeface="Century Gothic" pitchFamily="34" charset="0"/>
                          <a:ea typeface="Century Gothic" pitchFamily="34" charset="-122"/>
                          <a:cs typeface="Century Gothic" pitchFamily="34" charset="-120"/>
                        </a:rPr>
                        <a:t>Sessions/mo</a:t>
                      </a:r>
                      <a:endParaRPr lang="en-US" sz="750" dirty="0">
                        <a:latin typeface="Century Gothic" charset="0"/>
                        <a:ea typeface="Century Gothic" charset="0"/>
                        <a:cs typeface="Century Gothic"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C08D7C"/>
                          </a:solidFill>
                          <a:latin typeface="Century Gothic" pitchFamily="34" charset="0"/>
                          <a:ea typeface="Century Gothic" pitchFamily="34" charset="-122"/>
                          <a:cs typeface="Century Gothic" pitchFamily="34" charset="-120"/>
                        </a:rPr>
                        <a:t>Gross/mo</a:t>
                      </a:r>
                      <a:endParaRPr lang="en-US" sz="750" dirty="0">
                        <a:latin typeface="Century Gothic" charset="0"/>
                        <a:ea typeface="Century Gothic" charset="0"/>
                        <a:cs typeface="Century Gothic"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C08D7C"/>
                          </a:solidFill>
                          <a:latin typeface="Century Gothic" pitchFamily="34" charset="0"/>
                          <a:ea typeface="Century Gothic" pitchFamily="34" charset="-122"/>
                          <a:cs typeface="Century Gothic" pitchFamily="34" charset="-120"/>
                        </a:rPr>
                        <a:t>After margin</a:t>
                      </a:r>
                      <a:endParaRPr lang="en-US" sz="750" dirty="0">
                        <a:latin typeface="Century Gothic" charset="0"/>
                        <a:ea typeface="Century Gothic" charset="0"/>
                        <a:cs typeface="Century Gothic"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Aescape Robotic Massage</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Recovery</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82%</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$14,000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$11,480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Ammortal Chamber</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Recovery</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$140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82%</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120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$16,800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$13,776</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Red Light Therapy</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Recovery</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82%</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650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$39,000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$31,980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Hyperbaric Oxygen</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Recovery</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80%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50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$10,000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$8,000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Compression Therapy</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Recovery</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$45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82%</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225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$10,125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$8,303</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PRP: Hair &amp; Scalp</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PRP</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$995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72%</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33</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$32,835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$23,641</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PRP: Face &amp; Aesthetic</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PRP</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68%</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35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$24,500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$16,660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PRP: Scar &amp; Skin Repair</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PRP</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$6,000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$3,900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PRP: Soft Tissue</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PRP</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$1,000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$25,000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$16,250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PRP: Joint &amp; Cartilage</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PRP</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$1,200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62%</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$30,000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$18,600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PRP: Post-procedure</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PRP</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$650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$9,750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$5,850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Basic Hydration</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Regenerative</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$99</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68%</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71</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$7,029</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$4,780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Myers Cocktail</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Regenerative</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$199</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56%</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34</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$6,766</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$3,789</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Recovery / Hangover</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Regenerative</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$249</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62%</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34</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$8,466</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$5,249</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Immunity / High-Dose C</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Regenerative</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$289</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61%</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$7,225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$4,407</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b="1" dirty="0">
                          <a:solidFill>
                            <a:srgbClr val="C08D7C"/>
                          </a:solidFill>
                          <a:latin typeface="Calibri" pitchFamily="34" charset="0"/>
                          <a:ea typeface="Calibri" pitchFamily="34" charset="-122"/>
                          <a:cs typeface="Calibri" pitchFamily="34" charset="-120"/>
                        </a:rPr>
                        <a:t>Subtotal, continued overleaf</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l" indent="0" marL="0">
                        <a:buNone/>
                      </a:pP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750" b="1" dirty="0">
                          <a:solidFill>
                            <a:srgbClr val="C08D7C"/>
                          </a:solidFill>
                          <a:latin typeface="Calibri" pitchFamily="34" charset="0"/>
                          <a:ea typeface="Calibri" pitchFamily="34" charset="-122"/>
                          <a:cs typeface="Calibri" pitchFamily="34" charset="-120"/>
                        </a:rPr>
                        <a:t>71%</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750" b="1" dirty="0">
                          <a:solidFill>
                            <a:srgbClr val="C08D7C"/>
                          </a:solidFill>
                          <a:latin typeface="Calibri" pitchFamily="34" charset="0"/>
                          <a:ea typeface="Calibri" pitchFamily="34" charset="-122"/>
                          <a:cs typeface="Calibri" pitchFamily="34" charset="-120"/>
                        </a:rPr>
                        <a:t>1,552</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750" b="1" dirty="0">
                          <a:solidFill>
                            <a:srgbClr val="C08D7C"/>
                          </a:solidFill>
                          <a:latin typeface="Calibri" pitchFamily="34" charset="0"/>
                          <a:ea typeface="Calibri" pitchFamily="34" charset="-122"/>
                          <a:cs typeface="Calibri" pitchFamily="34" charset="-120"/>
                        </a:rPr>
                        <a:t>$247,496</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750" b="1" dirty="0">
                          <a:solidFill>
                            <a:srgbClr val="C08D7C"/>
                          </a:solidFill>
                          <a:latin typeface="Calibri" pitchFamily="34" charset="0"/>
                          <a:ea typeface="Calibri" pitchFamily="34" charset="-122"/>
                          <a:cs typeface="Calibri" pitchFamily="34" charset="-120"/>
                        </a:rPr>
                        <a:t>$176,665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bl>
          </a:graphicData>
        </a:graphic>
      </p:graphicFrame>
      <p:sp>
        <p:nvSpPr>
          <p:cNvPr id="6" name="Text 3"/>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 $2.0M PRIVATE CASE  ·  CONFIDENTIAL</a:t>
            </a:r>
            <a:endParaRPr lang="en-US" sz="700" dirty="0"/>
          </a:p>
        </p:txBody>
      </p:sp>
      <p:sp>
        <p:nvSpPr>
          <p:cNvPr id="7" name="Text 4"/>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15</a:t>
            </a:r>
            <a:endParaRPr lang="en-US" sz="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UNIT ECONOMICS</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30 wellness lines, every one cash-pay (2 of 2).</a:t>
            </a:r>
            <a:endParaRPr lang="en-US" sz="26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02920" y="1691640"/>
          <a:ext cx="8138160" cy="914400"/>
        </p:xfrm>
        <a:graphic>
          <a:graphicData uri="http://schemas.openxmlformats.org/drawingml/2006/table">
            <a:tbl>
              <a:tblPr/>
              <a:tblGrid>
                <a:gridCol w="2103120"/>
                <a:gridCol w="960120"/>
                <a:gridCol w="777240"/>
                <a:gridCol w="685800"/>
                <a:gridCol w="868680"/>
                <a:gridCol w="1143000"/>
                <a:gridCol w="1143000"/>
              </a:tblGrid>
              <a:tr h="132588">
                <a:tc>
                  <a:txBody>
                    <a:bodyPr/>
                    <a:lstStyle/>
                    <a:p>
                      <a:pPr algn="l" indent="0" marL="0">
                        <a:buNone/>
                      </a:pPr>
                      <a:r>
                        <a:rPr lang="en-US" sz="750" spc="140" kern="0" dirty="0">
                          <a:solidFill>
                            <a:srgbClr val="C08D7C"/>
                          </a:solidFill>
                          <a:latin typeface="Century Gothic" pitchFamily="34" charset="0"/>
                          <a:ea typeface="Century Gothic" pitchFamily="34" charset="-122"/>
                          <a:cs typeface="Century Gothic" pitchFamily="34" charset="-120"/>
                        </a:rPr>
                        <a:t>Service</a:t>
                      </a:r>
                      <a:endParaRPr lang="en-US" sz="750" dirty="0">
                        <a:latin typeface="Century Gothic" charset="0"/>
                        <a:ea typeface="Century Gothic" charset="0"/>
                        <a:cs typeface="Century Gothic"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l" indent="0" marL="0">
                        <a:buNone/>
                      </a:pPr>
                      <a:r>
                        <a:rPr lang="en-US" sz="750" spc="140" kern="0" dirty="0">
                          <a:solidFill>
                            <a:srgbClr val="C08D7C"/>
                          </a:solidFill>
                          <a:latin typeface="Century Gothic" pitchFamily="34" charset="0"/>
                          <a:ea typeface="Century Gothic" pitchFamily="34" charset="-122"/>
                          <a:cs typeface="Century Gothic" pitchFamily="34" charset="-120"/>
                        </a:rPr>
                        <a:t>Category</a:t>
                      </a:r>
                      <a:endParaRPr lang="en-US" sz="750" dirty="0">
                        <a:latin typeface="Century Gothic" charset="0"/>
                        <a:ea typeface="Century Gothic" charset="0"/>
                        <a:cs typeface="Century Gothic"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C08D7C"/>
                          </a:solidFill>
                          <a:latin typeface="Century Gothic" pitchFamily="34" charset="0"/>
                          <a:ea typeface="Century Gothic" pitchFamily="34" charset="-122"/>
                          <a:cs typeface="Century Gothic" pitchFamily="34" charset="-120"/>
                        </a:rPr>
                        <a:t>Price</a:t>
                      </a:r>
                      <a:endParaRPr lang="en-US" sz="750" dirty="0">
                        <a:latin typeface="Century Gothic" charset="0"/>
                        <a:ea typeface="Century Gothic" charset="0"/>
                        <a:cs typeface="Century Gothic"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C08D7C"/>
                          </a:solidFill>
                          <a:latin typeface="Century Gothic" pitchFamily="34" charset="0"/>
                          <a:ea typeface="Century Gothic" pitchFamily="34" charset="-122"/>
                          <a:cs typeface="Century Gothic" pitchFamily="34" charset="-120"/>
                        </a:rPr>
                        <a:t>Margin</a:t>
                      </a:r>
                      <a:endParaRPr lang="en-US" sz="750" dirty="0">
                        <a:latin typeface="Century Gothic" charset="0"/>
                        <a:ea typeface="Century Gothic" charset="0"/>
                        <a:cs typeface="Century Gothic"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C08D7C"/>
                          </a:solidFill>
                          <a:latin typeface="Century Gothic" pitchFamily="34" charset="0"/>
                          <a:ea typeface="Century Gothic" pitchFamily="34" charset="-122"/>
                          <a:cs typeface="Century Gothic" pitchFamily="34" charset="-120"/>
                        </a:rPr>
                        <a:t>Sessions/mo</a:t>
                      </a:r>
                      <a:endParaRPr lang="en-US" sz="750" dirty="0">
                        <a:latin typeface="Century Gothic" charset="0"/>
                        <a:ea typeface="Century Gothic" charset="0"/>
                        <a:cs typeface="Century Gothic"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C08D7C"/>
                          </a:solidFill>
                          <a:latin typeface="Century Gothic" pitchFamily="34" charset="0"/>
                          <a:ea typeface="Century Gothic" pitchFamily="34" charset="-122"/>
                          <a:cs typeface="Century Gothic" pitchFamily="34" charset="-120"/>
                        </a:rPr>
                        <a:t>Gross/mo</a:t>
                      </a:r>
                      <a:endParaRPr lang="en-US" sz="750" dirty="0">
                        <a:latin typeface="Century Gothic" charset="0"/>
                        <a:ea typeface="Century Gothic" charset="0"/>
                        <a:cs typeface="Century Gothic"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C08D7C"/>
                          </a:solidFill>
                          <a:latin typeface="Century Gothic" pitchFamily="34" charset="0"/>
                          <a:ea typeface="Century Gothic" pitchFamily="34" charset="-122"/>
                          <a:cs typeface="Century Gothic" pitchFamily="34" charset="-120"/>
                        </a:rPr>
                        <a:t>After margin</a:t>
                      </a:r>
                      <a:endParaRPr lang="en-US" sz="750" dirty="0">
                        <a:latin typeface="Century Gothic" charset="0"/>
                        <a:ea typeface="Century Gothic" charset="0"/>
                        <a:cs typeface="Century Gothic"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Beauty / Glutathione</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Regenerative</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$165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66%</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57</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$9,405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$6,207</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Athletic Performance</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Regenerative</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$249</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40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$9,960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$6,474</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NAD+ 100mg</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Regenerative</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$289</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74%</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$7,225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$5,347</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NAD+ 250mg</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Regenerative</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$350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76%</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33</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$11,550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$8,778</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NAD+ 500mg</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Regenerative</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$550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78%</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33</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$18,150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$14,157</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IM Shot: B12 / Lipo</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Regenerative</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$95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58</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$5,510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$3,582</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Therapeutic medications</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Regenerative</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$300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$18,000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$13,500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Botox (15-unit minimum)</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Aesthetics</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$240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80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$19,200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$13,440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Filler (0.5 ml)</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Aesthetics</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$850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56</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$47,600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$30,940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RF Microneedling</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Aesthetics</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$1,000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50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$50,000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$37,500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Laser Platform</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Aesthetics</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$850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30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$25,500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$17,850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Advanced Biometrics</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Diagnostics</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$225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$4,500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$3,150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DNA Analysis</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Diagnostics</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67%</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$9,000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$6,030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DUTCH Plus Test</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Diagnostics</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$750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$15,000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$9,750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DEXA Scan</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Diagnostics</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$95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77%</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95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$9,025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$6,949</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b="1" dirty="0">
                          <a:solidFill>
                            <a:srgbClr val="C08D7C"/>
                          </a:solidFill>
                          <a:latin typeface="Calibri" pitchFamily="34" charset="0"/>
                          <a:ea typeface="Calibri" pitchFamily="34" charset="-122"/>
                          <a:cs typeface="Calibri" pitchFamily="34" charset="-120"/>
                        </a:rPr>
                        <a:t>Wellness delivery at list value</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l" indent="0" marL="0">
                        <a:buNone/>
                      </a:pP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750" b="1" dirty="0">
                          <a:solidFill>
                            <a:srgbClr val="C08D7C"/>
                          </a:solidFill>
                          <a:latin typeface="Calibri" pitchFamily="34" charset="0"/>
                          <a:ea typeface="Calibri" pitchFamily="34" charset="-122"/>
                          <a:cs typeface="Calibri" pitchFamily="34" charset="-120"/>
                        </a:rPr>
                        <a:t>71%</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750" b="1" dirty="0">
                          <a:solidFill>
                            <a:srgbClr val="C08D7C"/>
                          </a:solidFill>
                          <a:latin typeface="Calibri" pitchFamily="34" charset="0"/>
                          <a:ea typeface="Calibri" pitchFamily="34" charset="-122"/>
                          <a:cs typeface="Calibri" pitchFamily="34" charset="-120"/>
                        </a:rPr>
                        <a:t>672</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750" b="1" dirty="0">
                          <a:solidFill>
                            <a:srgbClr val="C08D7C"/>
                          </a:solidFill>
                          <a:latin typeface="Calibri" pitchFamily="34" charset="0"/>
                          <a:ea typeface="Calibri" pitchFamily="34" charset="-122"/>
                          <a:cs typeface="Calibri" pitchFamily="34" charset="-120"/>
                        </a:rPr>
                        <a:t>$259,625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750" b="1" dirty="0">
                          <a:solidFill>
                            <a:srgbClr val="C08D7C"/>
                          </a:solidFill>
                          <a:latin typeface="Calibri" pitchFamily="34" charset="0"/>
                          <a:ea typeface="Calibri" pitchFamily="34" charset="-122"/>
                          <a:cs typeface="Calibri" pitchFamily="34" charset="-120"/>
                        </a:rPr>
                        <a:t>$183,654</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bl>
          </a:graphicData>
        </a:graphic>
      </p:graphicFrame>
      <p:sp>
        <p:nvSpPr>
          <p:cNvPr id="5" name="Text 2"/>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 $2.0M PRIVATE CASE  ·  CONFIDENTIAL</a:t>
            </a:r>
            <a:endParaRPr lang="en-US" sz="700" dirty="0"/>
          </a:p>
        </p:txBody>
      </p:sp>
      <p:sp>
        <p:nvSpPr>
          <p:cNvPr id="6" name="Text 3"/>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16</a:t>
            </a:r>
            <a:endParaRPr lang="en-US" sz="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UNIT ECONOMICS</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Seven surgical lines, also cash-pay.</a:t>
            </a:r>
            <a:endParaRPr lang="en-US" sz="2600" dirty="0"/>
          </a:p>
        </p:txBody>
      </p:sp>
      <p:sp>
        <p:nvSpPr>
          <p:cNvPr id="4" name="Text 2"/>
          <p:cNvSpPr/>
          <p:nvPr/>
        </p:nvSpPr>
        <p:spPr>
          <a:xfrm>
            <a:off x="502920" y="1097280"/>
            <a:ext cx="8138160" cy="457200"/>
          </a:xfrm>
          <a:prstGeom prst="rect">
            <a:avLst/>
          </a:prstGeom>
          <a:noFill/>
          <a:ln/>
        </p:spPr>
        <p:txBody>
          <a:bodyPr wrap="square" rtlCol="0" anchor="t"/>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Elective self-pay only. No payer contracts on the surgical side either, which is the direct result of holding the menu to the sedation ceiling.</a:t>
            </a:r>
            <a:endParaRPr lang="en-US" sz="115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02920" y="1691640"/>
          <a:ext cx="8138160" cy="914400"/>
        </p:xfrm>
        <a:graphic>
          <a:graphicData uri="http://schemas.openxmlformats.org/drawingml/2006/table">
            <a:tbl>
              <a:tblPr/>
              <a:tblGrid>
                <a:gridCol w="2103120"/>
                <a:gridCol w="960120"/>
                <a:gridCol w="777240"/>
                <a:gridCol w="685800"/>
                <a:gridCol w="868680"/>
                <a:gridCol w="1143000"/>
                <a:gridCol w="1143000"/>
              </a:tblGrid>
              <a:tr h="132588">
                <a:tc>
                  <a:txBody>
                    <a:bodyPr/>
                    <a:lstStyle/>
                    <a:p>
                      <a:pPr algn="l" indent="0" marL="0">
                        <a:buNone/>
                      </a:pPr>
                      <a:r>
                        <a:rPr lang="en-US" sz="750" spc="140" kern="0" dirty="0">
                          <a:solidFill>
                            <a:srgbClr val="C08D7C"/>
                          </a:solidFill>
                          <a:latin typeface="Century Gothic" pitchFamily="34" charset="0"/>
                          <a:ea typeface="Century Gothic" pitchFamily="34" charset="-122"/>
                          <a:cs typeface="Century Gothic" pitchFamily="34" charset="-120"/>
                        </a:rPr>
                        <a:t>Service</a:t>
                      </a:r>
                      <a:endParaRPr lang="en-US" sz="750" dirty="0">
                        <a:latin typeface="Century Gothic" charset="0"/>
                        <a:ea typeface="Century Gothic" charset="0"/>
                        <a:cs typeface="Century Gothic"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l" indent="0" marL="0">
                        <a:buNone/>
                      </a:pPr>
                      <a:r>
                        <a:rPr lang="en-US" sz="750" spc="140" kern="0" dirty="0">
                          <a:solidFill>
                            <a:srgbClr val="C08D7C"/>
                          </a:solidFill>
                          <a:latin typeface="Century Gothic" pitchFamily="34" charset="0"/>
                          <a:ea typeface="Century Gothic" pitchFamily="34" charset="-122"/>
                          <a:cs typeface="Century Gothic" pitchFamily="34" charset="-120"/>
                        </a:rPr>
                        <a:t>Category</a:t>
                      </a:r>
                      <a:endParaRPr lang="en-US" sz="750" dirty="0">
                        <a:latin typeface="Century Gothic" charset="0"/>
                        <a:ea typeface="Century Gothic" charset="0"/>
                        <a:cs typeface="Century Gothic"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C08D7C"/>
                          </a:solidFill>
                          <a:latin typeface="Century Gothic" pitchFamily="34" charset="0"/>
                          <a:ea typeface="Century Gothic" pitchFamily="34" charset="-122"/>
                          <a:cs typeface="Century Gothic" pitchFamily="34" charset="-120"/>
                        </a:rPr>
                        <a:t>Price</a:t>
                      </a:r>
                      <a:endParaRPr lang="en-US" sz="750" dirty="0">
                        <a:latin typeface="Century Gothic" charset="0"/>
                        <a:ea typeface="Century Gothic" charset="0"/>
                        <a:cs typeface="Century Gothic"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C08D7C"/>
                          </a:solidFill>
                          <a:latin typeface="Century Gothic" pitchFamily="34" charset="0"/>
                          <a:ea typeface="Century Gothic" pitchFamily="34" charset="-122"/>
                          <a:cs typeface="Century Gothic" pitchFamily="34" charset="-120"/>
                        </a:rPr>
                        <a:t>Margin</a:t>
                      </a:r>
                      <a:endParaRPr lang="en-US" sz="750" dirty="0">
                        <a:latin typeface="Century Gothic" charset="0"/>
                        <a:ea typeface="Century Gothic" charset="0"/>
                        <a:cs typeface="Century Gothic"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C08D7C"/>
                          </a:solidFill>
                          <a:latin typeface="Century Gothic" pitchFamily="34" charset="0"/>
                          <a:ea typeface="Century Gothic" pitchFamily="34" charset="-122"/>
                          <a:cs typeface="Century Gothic" pitchFamily="34" charset="-120"/>
                        </a:rPr>
                        <a:t>Sessions/mo</a:t>
                      </a:r>
                      <a:endParaRPr lang="en-US" sz="750" dirty="0">
                        <a:latin typeface="Century Gothic" charset="0"/>
                        <a:ea typeface="Century Gothic" charset="0"/>
                        <a:cs typeface="Century Gothic"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C08D7C"/>
                          </a:solidFill>
                          <a:latin typeface="Century Gothic" pitchFamily="34" charset="0"/>
                          <a:ea typeface="Century Gothic" pitchFamily="34" charset="-122"/>
                          <a:cs typeface="Century Gothic" pitchFamily="34" charset="-120"/>
                        </a:rPr>
                        <a:t>Gross/mo</a:t>
                      </a:r>
                      <a:endParaRPr lang="en-US" sz="750" dirty="0">
                        <a:latin typeface="Century Gothic" charset="0"/>
                        <a:ea typeface="Century Gothic" charset="0"/>
                        <a:cs typeface="Century Gothic"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C08D7C"/>
                          </a:solidFill>
                          <a:latin typeface="Century Gothic" pitchFamily="34" charset="0"/>
                          <a:ea typeface="Century Gothic" pitchFamily="34" charset="-122"/>
                          <a:cs typeface="Century Gothic" pitchFamily="34" charset="-120"/>
                        </a:rPr>
                        <a:t>After margin</a:t>
                      </a:r>
                      <a:endParaRPr lang="en-US" sz="750" dirty="0">
                        <a:latin typeface="Century Gothic" charset="0"/>
                        <a:ea typeface="Century Gothic" charset="0"/>
                        <a:cs typeface="Century Gothic"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Blepharoplasty (facility fee)</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Surgery</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$2,800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80%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$19,600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$15,680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Facial Contouring Surgery (facility fee)</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Surgery</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$2,800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80%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$14,000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$11,200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Awake Liposuction &amp; Body Contouring (facility fee)</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Surgery</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$3,800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78%</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$22,800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$17,784</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Fat Grafting &amp; Transfer (facility fee)</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Surgery</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$2,800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80%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4</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$11,200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$8,960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Hair Restoration Surgery</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Surgery</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$10,000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74%</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3</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$30,000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$22,200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Office Surgical Procedures</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Surgery</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$2,200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76%</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12</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$26,400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$20,064</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Ablative Laser &amp; Skin Tightening</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Surgery</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$4,250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73%</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$21,250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$15,513</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b="1" dirty="0">
                          <a:solidFill>
                            <a:srgbClr val="C08D7C"/>
                          </a:solidFill>
                          <a:latin typeface="Calibri" pitchFamily="34" charset="0"/>
                          <a:ea typeface="Calibri" pitchFamily="34" charset="-122"/>
                          <a:cs typeface="Calibri" pitchFamily="34" charset="-120"/>
                        </a:rPr>
                        <a:t>Surgical delivery at list value</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l" indent="0" marL="0">
                        <a:buNone/>
                      </a:pP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750" b="1" dirty="0">
                          <a:solidFill>
                            <a:srgbClr val="C08D7C"/>
                          </a:solidFill>
                          <a:latin typeface="Calibri" pitchFamily="34" charset="0"/>
                          <a:ea typeface="Calibri" pitchFamily="34" charset="-122"/>
                          <a:cs typeface="Calibri" pitchFamily="34" charset="-120"/>
                        </a:rPr>
                        <a:t>77%</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750" b="1" dirty="0">
                          <a:solidFill>
                            <a:srgbClr val="C08D7C"/>
                          </a:solidFill>
                          <a:latin typeface="Calibri" pitchFamily="34" charset="0"/>
                          <a:ea typeface="Calibri" pitchFamily="34" charset="-122"/>
                          <a:cs typeface="Calibri" pitchFamily="34" charset="-120"/>
                        </a:rPr>
                        <a:t>42</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750" b="1" dirty="0">
                          <a:solidFill>
                            <a:srgbClr val="C08D7C"/>
                          </a:solidFill>
                          <a:latin typeface="Calibri" pitchFamily="34" charset="0"/>
                          <a:ea typeface="Calibri" pitchFamily="34" charset="-122"/>
                          <a:cs typeface="Calibri" pitchFamily="34" charset="-120"/>
                        </a:rPr>
                        <a:t>$145,250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750" b="1" dirty="0">
                          <a:solidFill>
                            <a:srgbClr val="C08D7C"/>
                          </a:solidFill>
                          <a:latin typeface="Calibri" pitchFamily="34" charset="0"/>
                          <a:ea typeface="Calibri" pitchFamily="34" charset="-122"/>
                          <a:cs typeface="Calibri" pitchFamily="34" charset="-120"/>
                        </a:rPr>
                        <a:t>$111,401</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bl>
          </a:graphicData>
        </a:graphic>
      </p:graphicFrame>
      <p:sp>
        <p:nvSpPr>
          <p:cNvPr id="6" name="Text 3"/>
          <p:cNvSpPr/>
          <p:nvPr/>
        </p:nvSpPr>
        <p:spPr>
          <a:xfrm>
            <a:off x="502920" y="3310128"/>
            <a:ext cx="8138160" cy="868680"/>
          </a:xfrm>
          <a:prstGeom prst="rect">
            <a:avLst/>
          </a:prstGeom>
          <a:noFill/>
          <a:ln/>
        </p:spPr>
        <p:txBody>
          <a:bodyPr wrap="square" rtlCol="0" anchor="ctr"/>
          <a:lstStyle/>
          <a:p>
            <a:pPr indent="0" marL="0">
              <a:lnSpc>
                <a:spcPct val="118000"/>
              </a:lnSpc>
              <a:buNone/>
            </a:pPr>
            <a:r>
              <a:rPr lang="en-US" sz="850" b="1" dirty="0">
                <a:solidFill>
                  <a:srgbClr val="C08D7C"/>
                </a:solidFill>
                <a:latin typeface="Calibri" pitchFamily="34" charset="0"/>
                <a:ea typeface="Calibri" pitchFamily="34" charset="-122"/>
                <a:cs typeface="Calibri" pitchFamily="34" charset="-120"/>
              </a:rPr>
              <a:t>The four operating-room lines are FACILITY FEES. </a:t>
            </a:r>
            <a:pPr indent="0" marL="0">
              <a:lnSpc>
                <a:spcPct val="118000"/>
              </a:lnSpc>
              <a:buNone/>
            </a:pPr>
            <a:r>
              <a:rPr lang="en-US" sz="850" dirty="0">
                <a:solidFill>
                  <a:srgbClr val="6E6A62"/>
                </a:solidFill>
                <a:latin typeface="Calibri" pitchFamily="34" charset="0"/>
                <a:ea typeface="Calibri" pitchFamily="34" charset="-122"/>
                <a:cs typeface="Calibri" pitchFamily="34" charset="-120"/>
              </a:rPr>
              <a:t>They are what L&amp;K collects for the room, clinical staff, supplies, sedation monitoring and recovery. The surgeon is a principal who bills the patient directly for their professional fee, which never appears on these books, so the all-in price a patient pays is materially higher than the figures above. That is also why OR margins exceed the treatment-room lines: with no surgeon share to pay, facility cost of goods is disposables, implants, drugs and linens only. Across 38.5 OR hours a month the schedule works out to about $1,756 per operating-room hour. Hair restoration, ablative laser and office excisions bill the full fee, because the clinic’s own clinicians perform them in treatment rooms it already has.</a:t>
            </a:r>
            <a:endParaRPr lang="en-US" sz="850" dirty="0"/>
          </a:p>
        </p:txBody>
      </p:sp>
      <p:sp>
        <p:nvSpPr>
          <p:cNvPr id="7" name="Text 4"/>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 $2.0M PRIVATE CASE  ·  CONFIDENTIAL</a:t>
            </a:r>
            <a:endParaRPr lang="en-US" sz="700" dirty="0"/>
          </a:p>
        </p:txBody>
      </p:sp>
      <p:sp>
        <p:nvSpPr>
          <p:cNvPr id="8" name="Text 5"/>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17</a:t>
            </a:r>
            <a:endParaRPr lang="en-US" sz="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REVENUE MODEL</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Membership revenue is not additive.</a:t>
            </a:r>
            <a:endParaRPr lang="en-US" sz="2600" dirty="0"/>
          </a:p>
        </p:txBody>
      </p:sp>
      <p:sp>
        <p:nvSpPr>
          <p:cNvPr id="4" name="Text 2"/>
          <p:cNvSpPr/>
          <p:nvPr/>
        </p:nvSpPr>
        <p:spPr>
          <a:xfrm>
            <a:off x="502920" y="1097280"/>
            <a:ext cx="8138160" cy="457200"/>
          </a:xfrm>
          <a:prstGeom prst="rect">
            <a:avLst/>
          </a:prstGeom>
          <a:noFill/>
          <a:ln/>
        </p:spPr>
        <p:txBody>
          <a:bodyPr wrap="square" rtlCol="0" anchor="t"/>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The easy mistake is to stack membership fees on top of full a la carte revenue. Members draw down a credit bank against services that would otherwise be paid at list price, so redemption is netted out first.</a:t>
            </a:r>
            <a:endParaRPr lang="en-US" sz="11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02920" y="1783080"/>
          <a:ext cx="8138160" cy="914400"/>
        </p:xfrm>
        <a:graphic>
          <a:graphicData uri="http://schemas.openxmlformats.org/drawingml/2006/table">
            <a:tbl>
              <a:tblPr/>
              <a:tblGrid>
                <a:gridCol w="5486400"/>
                <a:gridCol w="2651760"/>
              </a:tblGrid>
              <a:tr h="274320">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Build</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Monthly</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27432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Service delivery at list value</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$652,371</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950" dirty="0">
                          <a:solidFill>
                            <a:srgbClr val="A8A296"/>
                          </a:solidFill>
                          <a:latin typeface="Calibri" pitchFamily="34" charset="0"/>
                          <a:ea typeface="Calibri" pitchFamily="34" charset="-122"/>
                          <a:cs typeface="Calibri" pitchFamily="34" charset="-120"/>
                        </a:rPr>
                        <a:t>less member credit redemption</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A8A296"/>
                          </a:solidFill>
                          <a:latin typeface="Calibri" pitchFamily="34" charset="0"/>
                          <a:ea typeface="Calibri" pitchFamily="34" charset="-122"/>
                          <a:cs typeface="Calibri" pitchFamily="34" charset="-120"/>
                        </a:rPr>
                        <a:t>-$129,500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950" dirty="0">
                          <a:solidFill>
                            <a:srgbClr val="A8A296"/>
                          </a:solidFill>
                          <a:latin typeface="Calibri" pitchFamily="34" charset="0"/>
                          <a:ea typeface="Calibri" pitchFamily="34" charset="-122"/>
                          <a:cs typeface="Calibri" pitchFamily="34" charset="-120"/>
                        </a:rPr>
                        <a:t>less member and Friends discount</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A8A296"/>
                          </a:solidFill>
                          <a:latin typeface="Calibri" pitchFamily="34" charset="0"/>
                          <a:ea typeface="Calibri" pitchFamily="34" charset="-122"/>
                          <a:cs typeface="Calibri" pitchFamily="34" charset="-120"/>
                        </a:rPr>
                        <a:t>-$41,830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950" b="1" dirty="0">
                          <a:solidFill>
                            <a:srgbClr val="C08D7C"/>
                          </a:solidFill>
                          <a:latin typeface="Calibri" pitchFamily="34" charset="0"/>
                          <a:ea typeface="Calibri" pitchFamily="34" charset="-122"/>
                          <a:cs typeface="Calibri" pitchFamily="34" charset="-120"/>
                        </a:rPr>
                        <a:t>A la carte revenue</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950" b="1" dirty="0">
                          <a:solidFill>
                            <a:srgbClr val="C08D7C"/>
                          </a:solidFill>
                          <a:latin typeface="Calibri" pitchFamily="34" charset="0"/>
                          <a:ea typeface="Calibri" pitchFamily="34" charset="-122"/>
                          <a:cs typeface="Calibri" pitchFamily="34" charset="-120"/>
                        </a:rPr>
                        <a:t>$481,041</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r h="27432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plus membership fees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$230,000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plus day pass and access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$20,625</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950" b="1" dirty="0">
                          <a:solidFill>
                            <a:srgbClr val="C08D7C"/>
                          </a:solidFill>
                          <a:latin typeface="Calibri" pitchFamily="34" charset="0"/>
                          <a:ea typeface="Calibri" pitchFamily="34" charset="-122"/>
                          <a:cs typeface="Calibri" pitchFamily="34" charset="-120"/>
                        </a:rPr>
                        <a:t>TOTAL REVENUE PER MONTH</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950" b="1" dirty="0">
                          <a:solidFill>
                            <a:srgbClr val="C08D7C"/>
                          </a:solidFill>
                          <a:latin typeface="Calibri" pitchFamily="34" charset="0"/>
                          <a:ea typeface="Calibri" pitchFamily="34" charset="-122"/>
                          <a:cs typeface="Calibri" pitchFamily="34" charset="-120"/>
                        </a:rPr>
                        <a:t>$731,666</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bl>
          </a:graphicData>
        </a:graphic>
      </p:graphicFrame>
      <p:sp>
        <p:nvSpPr>
          <p:cNvPr id="6" name="Text 3"/>
          <p:cNvSpPr/>
          <p:nvPr/>
        </p:nvSpPr>
        <p:spPr>
          <a:xfrm>
            <a:off x="502920" y="4114800"/>
            <a:ext cx="8138160" cy="457200"/>
          </a:xfrm>
          <a:prstGeom prst="rect">
            <a:avLst/>
          </a:prstGeom>
          <a:noFill/>
          <a:ln/>
        </p:spPr>
        <p:txBody>
          <a:bodyPr wrap="square" rtlCol="0" anchor="ctr"/>
          <a:lstStyle/>
          <a:p>
            <a:pPr indent="0" marL="0">
              <a:lnSpc>
                <a:spcPct val="120000"/>
              </a:lnSpc>
              <a:buNone/>
            </a:pPr>
            <a:r>
              <a:rPr lang="en-US" sz="900" dirty="0">
                <a:solidFill>
                  <a:srgbClr val="6E6A62"/>
                </a:solidFill>
                <a:latin typeface="Calibri" pitchFamily="34" charset="0"/>
                <a:ea typeface="Calibri" pitchFamily="34" charset="-122"/>
                <a:cs typeface="Calibri" pitchFamily="34" charset="-120"/>
              </a:rPr>
              <a:t>Residents and Longevity members pay $207,500 a month and redeem $129,500 of service at retail. Redemption ratio 62.4%. If that exceeded 100% the credit bank would be underpriced; the model asserts it cannot.</a:t>
            </a:r>
            <a:endParaRPr lang="en-US" sz="900" dirty="0"/>
          </a:p>
        </p:txBody>
      </p:sp>
      <p:sp>
        <p:nvSpPr>
          <p:cNvPr id="7" name="Text 4"/>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 $2.0M PRIVATE CASE  ·  CONFIDENTIAL</a:t>
            </a:r>
            <a:endParaRPr lang="en-US" sz="700" dirty="0"/>
          </a:p>
        </p:txBody>
      </p:sp>
      <p:sp>
        <p:nvSpPr>
          <p:cNvPr id="8" name="Text 5"/>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18</a:t>
            </a:r>
            <a:endParaRPr lang="en-US" sz="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RAMP</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Breakeven at month 12.</a:t>
            </a:r>
            <a:endParaRPr lang="en-US" sz="2600" dirty="0"/>
          </a:p>
        </p:txBody>
      </p:sp>
      <p:sp>
        <p:nvSpPr>
          <p:cNvPr id="4" name="Text 2"/>
          <p:cNvSpPr/>
          <p:nvPr/>
        </p:nvSpPr>
        <p:spPr>
          <a:xfrm>
            <a:off x="502920" y="1097280"/>
            <a:ext cx="8138160" cy="457200"/>
          </a:xfrm>
          <a:prstGeom prst="rect">
            <a:avLst/>
          </a:prstGeom>
          <a:noFill/>
          <a:ln/>
        </p:spPr>
        <p:txBody>
          <a:bodyPr wrap="square" rtlCol="0" anchor="t"/>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Months one through six are construction and founding presales. Debt service is interest-only through construction and the ramp, then amortizes.</a:t>
            </a:r>
            <a:endParaRPr lang="en-US" sz="1150" dirty="0"/>
          </a:p>
        </p:txBody>
      </p:sp>
      <p:sp>
        <p:nvSpPr>
          <p:cNvPr id="5" name="Shape 3"/>
          <p:cNvSpPr/>
          <p:nvPr/>
        </p:nvSpPr>
        <p:spPr>
          <a:xfrm>
            <a:off x="502920" y="1572768"/>
            <a:ext cx="8138160" cy="2377440"/>
          </a:xfrm>
          <a:prstGeom prst="rect">
            <a:avLst/>
          </a:prstGeom>
          <a:solidFill>
            <a:srgbClr val="000000"/>
          </a:solidFill>
          <a:ln w="9525">
            <a:solidFill>
              <a:srgbClr val="2E4237"/>
            </a:solidFill>
            <a:prstDash val="solid"/>
          </a:ln>
        </p:spPr>
      </p:sp>
      <p:sp>
        <p:nvSpPr>
          <p:cNvPr id="6" name="Shape 4"/>
          <p:cNvSpPr/>
          <p:nvPr/>
        </p:nvSpPr>
        <p:spPr>
          <a:xfrm>
            <a:off x="502920" y="2861726"/>
            <a:ext cx="8138160" cy="10973"/>
          </a:xfrm>
          <a:prstGeom prst="rect">
            <a:avLst/>
          </a:prstGeom>
          <a:solidFill>
            <a:srgbClr val="2E4237"/>
          </a:solidFill>
          <a:ln w="12700">
            <a:solidFill>
              <a:srgbClr val="2E4237"/>
            </a:solidFill>
            <a:prstDash val="solid"/>
          </a:ln>
        </p:spPr>
      </p:sp>
      <p:sp>
        <p:nvSpPr>
          <p:cNvPr id="7" name="Shape 5"/>
          <p:cNvSpPr/>
          <p:nvPr/>
        </p:nvSpPr>
        <p:spPr>
          <a:xfrm>
            <a:off x="539090" y="2861726"/>
            <a:ext cx="153721" cy="815703"/>
          </a:xfrm>
          <a:prstGeom prst="rect">
            <a:avLst/>
          </a:prstGeom>
          <a:solidFill>
            <a:srgbClr val="2E4237"/>
          </a:solidFill>
          <a:ln w="12700">
            <a:solidFill>
              <a:srgbClr val="2E4237"/>
            </a:solidFill>
            <a:prstDash val="solid"/>
          </a:ln>
        </p:spPr>
      </p:sp>
      <p:sp>
        <p:nvSpPr>
          <p:cNvPr id="8" name="Shape 6"/>
          <p:cNvSpPr/>
          <p:nvPr/>
        </p:nvSpPr>
        <p:spPr>
          <a:xfrm>
            <a:off x="765150" y="2861726"/>
            <a:ext cx="153721" cy="815703"/>
          </a:xfrm>
          <a:prstGeom prst="rect">
            <a:avLst/>
          </a:prstGeom>
          <a:solidFill>
            <a:srgbClr val="2E4237"/>
          </a:solidFill>
          <a:ln w="12700">
            <a:solidFill>
              <a:srgbClr val="2E4237"/>
            </a:solidFill>
            <a:prstDash val="solid"/>
          </a:ln>
        </p:spPr>
      </p:sp>
      <p:sp>
        <p:nvSpPr>
          <p:cNvPr id="9" name="Shape 7"/>
          <p:cNvSpPr/>
          <p:nvPr/>
        </p:nvSpPr>
        <p:spPr>
          <a:xfrm>
            <a:off x="991210" y="2861726"/>
            <a:ext cx="153721" cy="815703"/>
          </a:xfrm>
          <a:prstGeom prst="rect">
            <a:avLst/>
          </a:prstGeom>
          <a:solidFill>
            <a:srgbClr val="2E4237"/>
          </a:solidFill>
          <a:ln w="12700">
            <a:solidFill>
              <a:srgbClr val="2E4237"/>
            </a:solidFill>
            <a:prstDash val="solid"/>
          </a:ln>
        </p:spPr>
      </p:sp>
      <p:sp>
        <p:nvSpPr>
          <p:cNvPr id="10" name="Shape 8"/>
          <p:cNvSpPr/>
          <p:nvPr/>
        </p:nvSpPr>
        <p:spPr>
          <a:xfrm>
            <a:off x="1217270" y="2861726"/>
            <a:ext cx="153721" cy="815703"/>
          </a:xfrm>
          <a:prstGeom prst="rect">
            <a:avLst/>
          </a:prstGeom>
          <a:solidFill>
            <a:srgbClr val="2E4237"/>
          </a:solidFill>
          <a:ln w="12700">
            <a:solidFill>
              <a:srgbClr val="2E4237"/>
            </a:solidFill>
            <a:prstDash val="solid"/>
          </a:ln>
        </p:spPr>
      </p:sp>
      <p:sp>
        <p:nvSpPr>
          <p:cNvPr id="11" name="Shape 9"/>
          <p:cNvSpPr/>
          <p:nvPr/>
        </p:nvSpPr>
        <p:spPr>
          <a:xfrm>
            <a:off x="1443330" y="2861726"/>
            <a:ext cx="153721" cy="815703"/>
          </a:xfrm>
          <a:prstGeom prst="rect">
            <a:avLst/>
          </a:prstGeom>
          <a:solidFill>
            <a:srgbClr val="2E4237"/>
          </a:solidFill>
          <a:ln w="12700">
            <a:solidFill>
              <a:srgbClr val="2E4237"/>
            </a:solidFill>
            <a:prstDash val="solid"/>
          </a:ln>
        </p:spPr>
      </p:sp>
      <p:sp>
        <p:nvSpPr>
          <p:cNvPr id="12" name="Shape 10"/>
          <p:cNvSpPr/>
          <p:nvPr/>
        </p:nvSpPr>
        <p:spPr>
          <a:xfrm>
            <a:off x="1669390" y="2861726"/>
            <a:ext cx="153721" cy="815703"/>
          </a:xfrm>
          <a:prstGeom prst="rect">
            <a:avLst/>
          </a:prstGeom>
          <a:solidFill>
            <a:srgbClr val="2E4237"/>
          </a:solidFill>
          <a:ln w="12700">
            <a:solidFill>
              <a:srgbClr val="2E4237"/>
            </a:solidFill>
            <a:prstDash val="solid"/>
          </a:ln>
        </p:spPr>
      </p:sp>
      <p:sp>
        <p:nvSpPr>
          <p:cNvPr id="13" name="Text 11"/>
          <p:cNvSpPr/>
          <p:nvPr/>
        </p:nvSpPr>
        <p:spPr>
          <a:xfrm>
            <a:off x="1443330" y="3977640"/>
            <a:ext cx="678180" cy="164592"/>
          </a:xfrm>
          <a:prstGeom prst="rect">
            <a:avLst/>
          </a:prstGeom>
          <a:noFill/>
          <a:ln/>
        </p:spPr>
        <p:txBody>
          <a:bodyPr wrap="square" rtlCol="0" anchor="ctr"/>
          <a:lstStyle/>
          <a:p>
            <a:pPr algn="ctr" indent="0" marL="0">
              <a:buNone/>
            </a:pPr>
            <a:r>
              <a:rPr lang="en-US" sz="700" dirty="0">
                <a:solidFill>
                  <a:srgbClr val="6E6A62"/>
                </a:solidFill>
                <a:latin typeface="Calibri" pitchFamily="34" charset="0"/>
                <a:ea typeface="Calibri" pitchFamily="34" charset="-122"/>
                <a:cs typeface="Calibri" pitchFamily="34" charset="-120"/>
              </a:rPr>
              <a:t>M6</a:t>
            </a:r>
            <a:endParaRPr lang="en-US" sz="700" dirty="0"/>
          </a:p>
        </p:txBody>
      </p:sp>
      <p:sp>
        <p:nvSpPr>
          <p:cNvPr id="14" name="Shape 12"/>
          <p:cNvSpPr/>
          <p:nvPr/>
        </p:nvSpPr>
        <p:spPr>
          <a:xfrm>
            <a:off x="1895450" y="2861726"/>
            <a:ext cx="153721" cy="1088482"/>
          </a:xfrm>
          <a:prstGeom prst="rect">
            <a:avLst/>
          </a:prstGeom>
          <a:solidFill>
            <a:srgbClr val="2E4237"/>
          </a:solidFill>
          <a:ln w="12700">
            <a:solidFill>
              <a:srgbClr val="2E4237"/>
            </a:solidFill>
            <a:prstDash val="solid"/>
          </a:ln>
        </p:spPr>
      </p:sp>
      <p:sp>
        <p:nvSpPr>
          <p:cNvPr id="15" name="Shape 13"/>
          <p:cNvSpPr/>
          <p:nvPr/>
        </p:nvSpPr>
        <p:spPr>
          <a:xfrm>
            <a:off x="2121510" y="2861726"/>
            <a:ext cx="153721" cy="835112"/>
          </a:xfrm>
          <a:prstGeom prst="rect">
            <a:avLst/>
          </a:prstGeom>
          <a:solidFill>
            <a:srgbClr val="2E4237"/>
          </a:solidFill>
          <a:ln w="12700">
            <a:solidFill>
              <a:srgbClr val="2E4237"/>
            </a:solidFill>
            <a:prstDash val="solid"/>
          </a:ln>
        </p:spPr>
      </p:sp>
      <p:sp>
        <p:nvSpPr>
          <p:cNvPr id="16" name="Shape 14"/>
          <p:cNvSpPr/>
          <p:nvPr/>
        </p:nvSpPr>
        <p:spPr>
          <a:xfrm>
            <a:off x="2347570" y="2861726"/>
            <a:ext cx="153721" cy="545550"/>
          </a:xfrm>
          <a:prstGeom prst="rect">
            <a:avLst/>
          </a:prstGeom>
          <a:solidFill>
            <a:srgbClr val="2E4237"/>
          </a:solidFill>
          <a:ln w="12700">
            <a:solidFill>
              <a:srgbClr val="2E4237"/>
            </a:solidFill>
            <a:prstDash val="solid"/>
          </a:ln>
        </p:spPr>
      </p:sp>
      <p:sp>
        <p:nvSpPr>
          <p:cNvPr id="17" name="Shape 15"/>
          <p:cNvSpPr/>
          <p:nvPr/>
        </p:nvSpPr>
        <p:spPr>
          <a:xfrm>
            <a:off x="2573630" y="2861726"/>
            <a:ext cx="153721" cy="328372"/>
          </a:xfrm>
          <a:prstGeom prst="rect">
            <a:avLst/>
          </a:prstGeom>
          <a:solidFill>
            <a:srgbClr val="2E4237"/>
          </a:solidFill>
          <a:ln w="12700">
            <a:solidFill>
              <a:srgbClr val="2E4237"/>
            </a:solidFill>
            <a:prstDash val="solid"/>
          </a:ln>
        </p:spPr>
      </p:sp>
      <p:sp>
        <p:nvSpPr>
          <p:cNvPr id="18" name="Shape 16"/>
          <p:cNvSpPr/>
          <p:nvPr/>
        </p:nvSpPr>
        <p:spPr>
          <a:xfrm>
            <a:off x="2799690" y="2861726"/>
            <a:ext cx="153721" cy="111200"/>
          </a:xfrm>
          <a:prstGeom prst="rect">
            <a:avLst/>
          </a:prstGeom>
          <a:solidFill>
            <a:srgbClr val="2E4237"/>
          </a:solidFill>
          <a:ln w="12700">
            <a:solidFill>
              <a:srgbClr val="2E4237"/>
            </a:solidFill>
            <a:prstDash val="solid"/>
          </a:ln>
        </p:spPr>
      </p:sp>
      <p:sp>
        <p:nvSpPr>
          <p:cNvPr id="19" name="Shape 17"/>
          <p:cNvSpPr/>
          <p:nvPr/>
        </p:nvSpPr>
        <p:spPr>
          <a:xfrm>
            <a:off x="3025750" y="2755755"/>
            <a:ext cx="153721" cy="105971"/>
          </a:xfrm>
          <a:prstGeom prst="rect">
            <a:avLst/>
          </a:prstGeom>
          <a:solidFill>
            <a:srgbClr val="C08D7C"/>
          </a:solidFill>
          <a:ln w="12700">
            <a:solidFill>
              <a:srgbClr val="C08D7C"/>
            </a:solidFill>
            <a:prstDash val="solid"/>
          </a:ln>
        </p:spPr>
      </p:sp>
      <p:sp>
        <p:nvSpPr>
          <p:cNvPr id="20" name="Text 18"/>
          <p:cNvSpPr/>
          <p:nvPr/>
        </p:nvSpPr>
        <p:spPr>
          <a:xfrm>
            <a:off x="2799690" y="3977640"/>
            <a:ext cx="678180" cy="164592"/>
          </a:xfrm>
          <a:prstGeom prst="rect">
            <a:avLst/>
          </a:prstGeom>
          <a:noFill/>
          <a:ln/>
        </p:spPr>
        <p:txBody>
          <a:bodyPr wrap="square" rtlCol="0" anchor="ctr"/>
          <a:lstStyle/>
          <a:p>
            <a:pPr algn="ctr" indent="0" marL="0">
              <a:buNone/>
            </a:pPr>
            <a:r>
              <a:rPr lang="en-US" sz="700" dirty="0">
                <a:solidFill>
                  <a:srgbClr val="6E6A62"/>
                </a:solidFill>
                <a:latin typeface="Calibri" pitchFamily="34" charset="0"/>
                <a:ea typeface="Calibri" pitchFamily="34" charset="-122"/>
                <a:cs typeface="Calibri" pitchFamily="34" charset="-120"/>
              </a:rPr>
              <a:t>M12</a:t>
            </a:r>
            <a:endParaRPr lang="en-US" sz="700" dirty="0"/>
          </a:p>
        </p:txBody>
      </p:sp>
      <p:sp>
        <p:nvSpPr>
          <p:cNvPr id="21" name="Shape 19"/>
          <p:cNvSpPr/>
          <p:nvPr/>
        </p:nvSpPr>
        <p:spPr>
          <a:xfrm>
            <a:off x="3251810" y="2538584"/>
            <a:ext cx="153721" cy="323142"/>
          </a:xfrm>
          <a:prstGeom prst="rect">
            <a:avLst/>
          </a:prstGeom>
          <a:solidFill>
            <a:srgbClr val="C08D7C"/>
          </a:solidFill>
          <a:ln w="12700">
            <a:solidFill>
              <a:srgbClr val="C08D7C"/>
            </a:solidFill>
            <a:prstDash val="solid"/>
          </a:ln>
        </p:spPr>
      </p:sp>
      <p:sp>
        <p:nvSpPr>
          <p:cNvPr id="22" name="Shape 20"/>
          <p:cNvSpPr/>
          <p:nvPr/>
        </p:nvSpPr>
        <p:spPr>
          <a:xfrm>
            <a:off x="3477870" y="2393796"/>
            <a:ext cx="153721" cy="467930"/>
          </a:xfrm>
          <a:prstGeom prst="rect">
            <a:avLst/>
          </a:prstGeom>
          <a:solidFill>
            <a:srgbClr val="C08D7C"/>
          </a:solidFill>
          <a:ln w="12700">
            <a:solidFill>
              <a:srgbClr val="C08D7C"/>
            </a:solidFill>
            <a:prstDash val="solid"/>
          </a:ln>
        </p:spPr>
      </p:sp>
      <p:sp>
        <p:nvSpPr>
          <p:cNvPr id="23" name="Shape 21"/>
          <p:cNvSpPr/>
          <p:nvPr/>
        </p:nvSpPr>
        <p:spPr>
          <a:xfrm>
            <a:off x="3703930" y="2249015"/>
            <a:ext cx="153721" cy="612711"/>
          </a:xfrm>
          <a:prstGeom prst="rect">
            <a:avLst/>
          </a:prstGeom>
          <a:solidFill>
            <a:srgbClr val="C08D7C"/>
          </a:solidFill>
          <a:ln w="12700">
            <a:solidFill>
              <a:srgbClr val="C08D7C"/>
            </a:solidFill>
            <a:prstDash val="solid"/>
          </a:ln>
        </p:spPr>
      </p:sp>
      <p:sp>
        <p:nvSpPr>
          <p:cNvPr id="24" name="Shape 22"/>
          <p:cNvSpPr/>
          <p:nvPr/>
        </p:nvSpPr>
        <p:spPr>
          <a:xfrm>
            <a:off x="3929990" y="2104234"/>
            <a:ext cx="153721" cy="757492"/>
          </a:xfrm>
          <a:prstGeom prst="rect">
            <a:avLst/>
          </a:prstGeom>
          <a:solidFill>
            <a:srgbClr val="C08D7C"/>
          </a:solidFill>
          <a:ln w="12700">
            <a:solidFill>
              <a:srgbClr val="C08D7C"/>
            </a:solidFill>
            <a:prstDash val="solid"/>
          </a:ln>
        </p:spPr>
      </p:sp>
      <p:sp>
        <p:nvSpPr>
          <p:cNvPr id="25" name="Shape 23"/>
          <p:cNvSpPr/>
          <p:nvPr/>
        </p:nvSpPr>
        <p:spPr>
          <a:xfrm>
            <a:off x="4156050" y="1959453"/>
            <a:ext cx="153721" cy="902273"/>
          </a:xfrm>
          <a:prstGeom prst="rect">
            <a:avLst/>
          </a:prstGeom>
          <a:solidFill>
            <a:srgbClr val="C08D7C"/>
          </a:solidFill>
          <a:ln w="12700">
            <a:solidFill>
              <a:srgbClr val="C08D7C"/>
            </a:solidFill>
            <a:prstDash val="solid"/>
          </a:ln>
        </p:spPr>
      </p:sp>
      <p:sp>
        <p:nvSpPr>
          <p:cNvPr id="26" name="Shape 24"/>
          <p:cNvSpPr/>
          <p:nvPr/>
        </p:nvSpPr>
        <p:spPr>
          <a:xfrm>
            <a:off x="4382110" y="1920786"/>
            <a:ext cx="153721" cy="940940"/>
          </a:xfrm>
          <a:prstGeom prst="rect">
            <a:avLst/>
          </a:prstGeom>
          <a:solidFill>
            <a:srgbClr val="C08D7C"/>
          </a:solidFill>
          <a:ln w="12700">
            <a:solidFill>
              <a:srgbClr val="C08D7C"/>
            </a:solidFill>
            <a:prstDash val="solid"/>
          </a:ln>
        </p:spPr>
      </p:sp>
      <p:sp>
        <p:nvSpPr>
          <p:cNvPr id="27" name="Text 25"/>
          <p:cNvSpPr/>
          <p:nvPr/>
        </p:nvSpPr>
        <p:spPr>
          <a:xfrm>
            <a:off x="4156050" y="3977640"/>
            <a:ext cx="678180" cy="164592"/>
          </a:xfrm>
          <a:prstGeom prst="rect">
            <a:avLst/>
          </a:prstGeom>
          <a:noFill/>
          <a:ln/>
        </p:spPr>
        <p:txBody>
          <a:bodyPr wrap="square" rtlCol="0" anchor="ctr"/>
          <a:lstStyle/>
          <a:p>
            <a:pPr algn="ctr" indent="0" marL="0">
              <a:buNone/>
            </a:pPr>
            <a:r>
              <a:rPr lang="en-US" sz="700" dirty="0">
                <a:solidFill>
                  <a:srgbClr val="6E6A62"/>
                </a:solidFill>
                <a:latin typeface="Calibri" pitchFamily="34" charset="0"/>
                <a:ea typeface="Calibri" pitchFamily="34" charset="-122"/>
                <a:cs typeface="Calibri" pitchFamily="34" charset="-120"/>
              </a:rPr>
              <a:t>M18</a:t>
            </a:r>
            <a:endParaRPr lang="en-US" sz="700" dirty="0"/>
          </a:p>
        </p:txBody>
      </p:sp>
      <p:sp>
        <p:nvSpPr>
          <p:cNvPr id="28" name="Shape 26"/>
          <p:cNvSpPr/>
          <p:nvPr/>
        </p:nvSpPr>
        <p:spPr>
          <a:xfrm>
            <a:off x="4608170" y="1882119"/>
            <a:ext cx="153721" cy="979607"/>
          </a:xfrm>
          <a:prstGeom prst="rect">
            <a:avLst/>
          </a:prstGeom>
          <a:solidFill>
            <a:srgbClr val="C08D7C"/>
          </a:solidFill>
          <a:ln w="12700">
            <a:solidFill>
              <a:srgbClr val="C08D7C"/>
            </a:solidFill>
            <a:prstDash val="solid"/>
          </a:ln>
        </p:spPr>
      </p:sp>
      <p:sp>
        <p:nvSpPr>
          <p:cNvPr id="29" name="Shape 27"/>
          <p:cNvSpPr/>
          <p:nvPr/>
        </p:nvSpPr>
        <p:spPr>
          <a:xfrm>
            <a:off x="4834230" y="1843445"/>
            <a:ext cx="153721" cy="1018281"/>
          </a:xfrm>
          <a:prstGeom prst="rect">
            <a:avLst/>
          </a:prstGeom>
          <a:solidFill>
            <a:srgbClr val="C08D7C"/>
          </a:solidFill>
          <a:ln w="12700">
            <a:solidFill>
              <a:srgbClr val="C08D7C"/>
            </a:solidFill>
            <a:prstDash val="solid"/>
          </a:ln>
        </p:spPr>
      </p:sp>
      <p:sp>
        <p:nvSpPr>
          <p:cNvPr id="30" name="Shape 28"/>
          <p:cNvSpPr/>
          <p:nvPr/>
        </p:nvSpPr>
        <p:spPr>
          <a:xfrm>
            <a:off x="5060290" y="1804778"/>
            <a:ext cx="153721" cy="1056948"/>
          </a:xfrm>
          <a:prstGeom prst="rect">
            <a:avLst/>
          </a:prstGeom>
          <a:solidFill>
            <a:srgbClr val="C08D7C"/>
          </a:solidFill>
          <a:ln w="12700">
            <a:solidFill>
              <a:srgbClr val="C08D7C"/>
            </a:solidFill>
            <a:prstDash val="solid"/>
          </a:ln>
        </p:spPr>
      </p:sp>
      <p:sp>
        <p:nvSpPr>
          <p:cNvPr id="31" name="Shape 29"/>
          <p:cNvSpPr/>
          <p:nvPr/>
        </p:nvSpPr>
        <p:spPr>
          <a:xfrm>
            <a:off x="5286350" y="1766111"/>
            <a:ext cx="153721" cy="1095615"/>
          </a:xfrm>
          <a:prstGeom prst="rect">
            <a:avLst/>
          </a:prstGeom>
          <a:solidFill>
            <a:srgbClr val="C08D7C"/>
          </a:solidFill>
          <a:ln w="12700">
            <a:solidFill>
              <a:srgbClr val="C08D7C"/>
            </a:solidFill>
            <a:prstDash val="solid"/>
          </a:ln>
        </p:spPr>
      </p:sp>
      <p:sp>
        <p:nvSpPr>
          <p:cNvPr id="32" name="Shape 30"/>
          <p:cNvSpPr/>
          <p:nvPr/>
        </p:nvSpPr>
        <p:spPr>
          <a:xfrm>
            <a:off x="5512410" y="1740330"/>
            <a:ext cx="153721" cy="1121396"/>
          </a:xfrm>
          <a:prstGeom prst="rect">
            <a:avLst/>
          </a:prstGeom>
          <a:solidFill>
            <a:srgbClr val="C08D7C"/>
          </a:solidFill>
          <a:ln w="12700">
            <a:solidFill>
              <a:srgbClr val="C08D7C"/>
            </a:solidFill>
            <a:prstDash val="solid"/>
          </a:ln>
        </p:spPr>
      </p:sp>
      <p:sp>
        <p:nvSpPr>
          <p:cNvPr id="33" name="Shape 31"/>
          <p:cNvSpPr/>
          <p:nvPr/>
        </p:nvSpPr>
        <p:spPr>
          <a:xfrm>
            <a:off x="5738470" y="1714550"/>
            <a:ext cx="153721" cy="1147176"/>
          </a:xfrm>
          <a:prstGeom prst="rect">
            <a:avLst/>
          </a:prstGeom>
          <a:solidFill>
            <a:srgbClr val="C08D7C"/>
          </a:solidFill>
          <a:ln w="12700">
            <a:solidFill>
              <a:srgbClr val="C08D7C"/>
            </a:solidFill>
            <a:prstDash val="solid"/>
          </a:ln>
        </p:spPr>
      </p:sp>
      <p:sp>
        <p:nvSpPr>
          <p:cNvPr id="34" name="Text 32"/>
          <p:cNvSpPr/>
          <p:nvPr/>
        </p:nvSpPr>
        <p:spPr>
          <a:xfrm>
            <a:off x="5512410" y="3977640"/>
            <a:ext cx="678180" cy="164592"/>
          </a:xfrm>
          <a:prstGeom prst="rect">
            <a:avLst/>
          </a:prstGeom>
          <a:noFill/>
          <a:ln/>
        </p:spPr>
        <p:txBody>
          <a:bodyPr wrap="square" rtlCol="0" anchor="ctr"/>
          <a:lstStyle/>
          <a:p>
            <a:pPr algn="ctr" indent="0" marL="0">
              <a:buNone/>
            </a:pPr>
            <a:r>
              <a:rPr lang="en-US" sz="700" dirty="0">
                <a:solidFill>
                  <a:srgbClr val="6E6A62"/>
                </a:solidFill>
                <a:latin typeface="Calibri" pitchFamily="34" charset="0"/>
                <a:ea typeface="Calibri" pitchFamily="34" charset="-122"/>
                <a:cs typeface="Calibri" pitchFamily="34" charset="-120"/>
              </a:rPr>
              <a:t>M24</a:t>
            </a:r>
            <a:endParaRPr lang="en-US" sz="700" dirty="0"/>
          </a:p>
        </p:txBody>
      </p:sp>
      <p:sp>
        <p:nvSpPr>
          <p:cNvPr id="35" name="Shape 33"/>
          <p:cNvSpPr/>
          <p:nvPr/>
        </p:nvSpPr>
        <p:spPr>
          <a:xfrm>
            <a:off x="5964530" y="1688770"/>
            <a:ext cx="153721" cy="1172957"/>
          </a:xfrm>
          <a:prstGeom prst="rect">
            <a:avLst/>
          </a:prstGeom>
          <a:solidFill>
            <a:srgbClr val="C08D7C"/>
          </a:solidFill>
          <a:ln w="12700">
            <a:solidFill>
              <a:srgbClr val="C08D7C"/>
            </a:solidFill>
            <a:prstDash val="solid"/>
          </a:ln>
        </p:spPr>
      </p:sp>
      <p:sp>
        <p:nvSpPr>
          <p:cNvPr id="36" name="Shape 34"/>
          <p:cNvSpPr/>
          <p:nvPr/>
        </p:nvSpPr>
        <p:spPr>
          <a:xfrm>
            <a:off x="6190590" y="1662989"/>
            <a:ext cx="153721" cy="1198737"/>
          </a:xfrm>
          <a:prstGeom prst="rect">
            <a:avLst/>
          </a:prstGeom>
          <a:solidFill>
            <a:srgbClr val="C08D7C"/>
          </a:solidFill>
          <a:ln w="12700">
            <a:solidFill>
              <a:srgbClr val="C08D7C"/>
            </a:solidFill>
            <a:prstDash val="solid"/>
          </a:ln>
        </p:spPr>
      </p:sp>
      <p:sp>
        <p:nvSpPr>
          <p:cNvPr id="37" name="Shape 35"/>
          <p:cNvSpPr/>
          <p:nvPr/>
        </p:nvSpPr>
        <p:spPr>
          <a:xfrm>
            <a:off x="6416650" y="1650102"/>
            <a:ext cx="153721" cy="1211624"/>
          </a:xfrm>
          <a:prstGeom prst="rect">
            <a:avLst/>
          </a:prstGeom>
          <a:solidFill>
            <a:srgbClr val="C08D7C"/>
          </a:solidFill>
          <a:ln w="12700">
            <a:solidFill>
              <a:srgbClr val="C08D7C"/>
            </a:solidFill>
            <a:prstDash val="solid"/>
          </a:ln>
        </p:spPr>
      </p:sp>
      <p:sp>
        <p:nvSpPr>
          <p:cNvPr id="38" name="Shape 36"/>
          <p:cNvSpPr/>
          <p:nvPr/>
        </p:nvSpPr>
        <p:spPr>
          <a:xfrm>
            <a:off x="6642710" y="1624322"/>
            <a:ext cx="153721" cy="1237404"/>
          </a:xfrm>
          <a:prstGeom prst="rect">
            <a:avLst/>
          </a:prstGeom>
          <a:solidFill>
            <a:srgbClr val="C08D7C"/>
          </a:solidFill>
          <a:ln w="12700">
            <a:solidFill>
              <a:srgbClr val="C08D7C"/>
            </a:solidFill>
            <a:prstDash val="solid"/>
          </a:ln>
        </p:spPr>
      </p:sp>
      <p:sp>
        <p:nvSpPr>
          <p:cNvPr id="39" name="Shape 37"/>
          <p:cNvSpPr/>
          <p:nvPr/>
        </p:nvSpPr>
        <p:spPr>
          <a:xfrm>
            <a:off x="6868770" y="1611435"/>
            <a:ext cx="153721" cy="1250291"/>
          </a:xfrm>
          <a:prstGeom prst="rect">
            <a:avLst/>
          </a:prstGeom>
          <a:solidFill>
            <a:srgbClr val="C08D7C"/>
          </a:solidFill>
          <a:ln w="12700">
            <a:solidFill>
              <a:srgbClr val="C08D7C"/>
            </a:solidFill>
            <a:prstDash val="solid"/>
          </a:ln>
        </p:spPr>
      </p:sp>
      <p:sp>
        <p:nvSpPr>
          <p:cNvPr id="40" name="Shape 38"/>
          <p:cNvSpPr/>
          <p:nvPr/>
        </p:nvSpPr>
        <p:spPr>
          <a:xfrm>
            <a:off x="7094830" y="1598542"/>
            <a:ext cx="153721" cy="1263185"/>
          </a:xfrm>
          <a:prstGeom prst="rect">
            <a:avLst/>
          </a:prstGeom>
          <a:solidFill>
            <a:srgbClr val="C08D7C"/>
          </a:solidFill>
          <a:ln w="12700">
            <a:solidFill>
              <a:srgbClr val="C08D7C"/>
            </a:solidFill>
            <a:prstDash val="solid"/>
          </a:ln>
        </p:spPr>
      </p:sp>
      <p:sp>
        <p:nvSpPr>
          <p:cNvPr id="41" name="Text 39"/>
          <p:cNvSpPr/>
          <p:nvPr/>
        </p:nvSpPr>
        <p:spPr>
          <a:xfrm>
            <a:off x="6868770" y="3977640"/>
            <a:ext cx="678180" cy="164592"/>
          </a:xfrm>
          <a:prstGeom prst="rect">
            <a:avLst/>
          </a:prstGeom>
          <a:noFill/>
          <a:ln/>
        </p:spPr>
        <p:txBody>
          <a:bodyPr wrap="square" rtlCol="0" anchor="ctr"/>
          <a:lstStyle/>
          <a:p>
            <a:pPr algn="ctr" indent="0" marL="0">
              <a:buNone/>
            </a:pPr>
            <a:r>
              <a:rPr lang="en-US" sz="700" dirty="0">
                <a:solidFill>
                  <a:srgbClr val="6E6A62"/>
                </a:solidFill>
                <a:latin typeface="Calibri" pitchFamily="34" charset="0"/>
                <a:ea typeface="Calibri" pitchFamily="34" charset="-122"/>
                <a:cs typeface="Calibri" pitchFamily="34" charset="-120"/>
              </a:rPr>
              <a:t>M30</a:t>
            </a:r>
            <a:endParaRPr lang="en-US" sz="700" dirty="0"/>
          </a:p>
        </p:txBody>
      </p:sp>
      <p:sp>
        <p:nvSpPr>
          <p:cNvPr id="42" name="Shape 40"/>
          <p:cNvSpPr/>
          <p:nvPr/>
        </p:nvSpPr>
        <p:spPr>
          <a:xfrm>
            <a:off x="7320890" y="1585655"/>
            <a:ext cx="153721" cy="1276071"/>
          </a:xfrm>
          <a:prstGeom prst="rect">
            <a:avLst/>
          </a:prstGeom>
          <a:solidFill>
            <a:srgbClr val="C08D7C"/>
          </a:solidFill>
          <a:ln w="12700">
            <a:solidFill>
              <a:srgbClr val="C08D7C"/>
            </a:solidFill>
            <a:prstDash val="solid"/>
          </a:ln>
        </p:spPr>
      </p:sp>
      <p:sp>
        <p:nvSpPr>
          <p:cNvPr id="43" name="Shape 41"/>
          <p:cNvSpPr/>
          <p:nvPr/>
        </p:nvSpPr>
        <p:spPr>
          <a:xfrm>
            <a:off x="7546950" y="1572768"/>
            <a:ext cx="153721" cy="1288958"/>
          </a:xfrm>
          <a:prstGeom prst="rect">
            <a:avLst/>
          </a:prstGeom>
          <a:solidFill>
            <a:srgbClr val="C08D7C"/>
          </a:solidFill>
          <a:ln w="12700">
            <a:solidFill>
              <a:srgbClr val="C08D7C"/>
            </a:solidFill>
            <a:prstDash val="solid"/>
          </a:ln>
        </p:spPr>
      </p:sp>
      <p:sp>
        <p:nvSpPr>
          <p:cNvPr id="44" name="Shape 42"/>
          <p:cNvSpPr/>
          <p:nvPr/>
        </p:nvSpPr>
        <p:spPr>
          <a:xfrm>
            <a:off x="7773010" y="1572768"/>
            <a:ext cx="153721" cy="1288958"/>
          </a:xfrm>
          <a:prstGeom prst="rect">
            <a:avLst/>
          </a:prstGeom>
          <a:solidFill>
            <a:srgbClr val="C08D7C"/>
          </a:solidFill>
          <a:ln w="12700">
            <a:solidFill>
              <a:srgbClr val="C08D7C"/>
            </a:solidFill>
            <a:prstDash val="solid"/>
          </a:ln>
        </p:spPr>
      </p:sp>
      <p:sp>
        <p:nvSpPr>
          <p:cNvPr id="45" name="Shape 43"/>
          <p:cNvSpPr/>
          <p:nvPr/>
        </p:nvSpPr>
        <p:spPr>
          <a:xfrm>
            <a:off x="7999070" y="1572768"/>
            <a:ext cx="153721" cy="1288958"/>
          </a:xfrm>
          <a:prstGeom prst="rect">
            <a:avLst/>
          </a:prstGeom>
          <a:solidFill>
            <a:srgbClr val="C08D7C"/>
          </a:solidFill>
          <a:ln w="12700">
            <a:solidFill>
              <a:srgbClr val="C08D7C"/>
            </a:solidFill>
            <a:prstDash val="solid"/>
          </a:ln>
        </p:spPr>
      </p:sp>
      <p:sp>
        <p:nvSpPr>
          <p:cNvPr id="46" name="Shape 44"/>
          <p:cNvSpPr/>
          <p:nvPr/>
        </p:nvSpPr>
        <p:spPr>
          <a:xfrm>
            <a:off x="8225130" y="1572768"/>
            <a:ext cx="153721" cy="1288958"/>
          </a:xfrm>
          <a:prstGeom prst="rect">
            <a:avLst/>
          </a:prstGeom>
          <a:solidFill>
            <a:srgbClr val="C08D7C"/>
          </a:solidFill>
          <a:ln w="12700">
            <a:solidFill>
              <a:srgbClr val="C08D7C"/>
            </a:solidFill>
            <a:prstDash val="solid"/>
          </a:ln>
        </p:spPr>
      </p:sp>
      <p:sp>
        <p:nvSpPr>
          <p:cNvPr id="47" name="Shape 45"/>
          <p:cNvSpPr/>
          <p:nvPr/>
        </p:nvSpPr>
        <p:spPr>
          <a:xfrm>
            <a:off x="8451190" y="1572768"/>
            <a:ext cx="153721" cy="1288958"/>
          </a:xfrm>
          <a:prstGeom prst="rect">
            <a:avLst/>
          </a:prstGeom>
          <a:solidFill>
            <a:srgbClr val="C08D7C"/>
          </a:solidFill>
          <a:ln w="12700">
            <a:solidFill>
              <a:srgbClr val="C08D7C"/>
            </a:solidFill>
            <a:prstDash val="solid"/>
          </a:ln>
        </p:spPr>
      </p:sp>
      <p:sp>
        <p:nvSpPr>
          <p:cNvPr id="48" name="Text 46"/>
          <p:cNvSpPr/>
          <p:nvPr/>
        </p:nvSpPr>
        <p:spPr>
          <a:xfrm>
            <a:off x="8225130" y="3977640"/>
            <a:ext cx="678180" cy="164592"/>
          </a:xfrm>
          <a:prstGeom prst="rect">
            <a:avLst/>
          </a:prstGeom>
          <a:noFill/>
          <a:ln/>
        </p:spPr>
        <p:txBody>
          <a:bodyPr wrap="square" rtlCol="0" anchor="ctr"/>
          <a:lstStyle/>
          <a:p>
            <a:pPr algn="ctr" indent="0" marL="0">
              <a:buNone/>
            </a:pPr>
            <a:r>
              <a:rPr lang="en-US" sz="700" dirty="0">
                <a:solidFill>
                  <a:srgbClr val="6E6A62"/>
                </a:solidFill>
                <a:latin typeface="Calibri" pitchFamily="34" charset="0"/>
                <a:ea typeface="Calibri" pitchFamily="34" charset="-122"/>
                <a:cs typeface="Calibri" pitchFamily="34" charset="-120"/>
              </a:rPr>
              <a:t>M36</a:t>
            </a:r>
            <a:endParaRPr lang="en-US" sz="700" dirty="0"/>
          </a:p>
        </p:txBody>
      </p:sp>
      <p:sp>
        <p:nvSpPr>
          <p:cNvPr id="49" name="Text 47"/>
          <p:cNvSpPr/>
          <p:nvPr/>
        </p:nvSpPr>
        <p:spPr>
          <a:xfrm>
            <a:off x="576072" y="1618488"/>
            <a:ext cx="1463040" cy="164592"/>
          </a:xfrm>
          <a:prstGeom prst="rect">
            <a:avLst/>
          </a:prstGeom>
          <a:noFill/>
          <a:ln/>
        </p:spPr>
        <p:txBody>
          <a:bodyPr wrap="square" rtlCol="0" anchor="ctr"/>
          <a:lstStyle/>
          <a:p>
            <a:pPr indent="0" marL="0">
              <a:buNone/>
            </a:pPr>
            <a:r>
              <a:rPr lang="en-US" sz="700" dirty="0">
                <a:solidFill>
                  <a:srgbClr val="6E6A62"/>
                </a:solidFill>
                <a:latin typeface="Calibri" pitchFamily="34" charset="0"/>
                <a:ea typeface="Calibri" pitchFamily="34" charset="-122"/>
                <a:cs typeface="Calibri" pitchFamily="34" charset="-120"/>
              </a:rPr>
              <a:t>$189,541 / mo</a:t>
            </a:r>
            <a:endParaRPr lang="en-US" sz="700" dirty="0"/>
          </a:p>
        </p:txBody>
      </p:sp>
      <p:sp>
        <p:nvSpPr>
          <p:cNvPr id="50" name="Text 48"/>
          <p:cNvSpPr/>
          <p:nvPr/>
        </p:nvSpPr>
        <p:spPr>
          <a:xfrm>
            <a:off x="576072" y="3749040"/>
            <a:ext cx="1463040" cy="164592"/>
          </a:xfrm>
          <a:prstGeom prst="rect">
            <a:avLst/>
          </a:prstGeom>
          <a:noFill/>
          <a:ln/>
        </p:spPr>
        <p:txBody>
          <a:bodyPr wrap="square" rtlCol="0" anchor="ctr"/>
          <a:lstStyle/>
          <a:p>
            <a:pPr indent="0" marL="0">
              <a:buNone/>
            </a:pPr>
            <a:r>
              <a:rPr lang="en-US" sz="700" dirty="0">
                <a:solidFill>
                  <a:srgbClr val="6E6A62"/>
                </a:solidFill>
                <a:latin typeface="Calibri" pitchFamily="34" charset="0"/>
                <a:ea typeface="Calibri" pitchFamily="34" charset="-122"/>
                <a:cs typeface="Calibri" pitchFamily="34" charset="-120"/>
              </a:rPr>
              <a:t>$-160,061 / mo</a:t>
            </a:r>
            <a:endParaRPr lang="en-US" sz="700" dirty="0"/>
          </a:p>
        </p:txBody>
      </p:sp>
      <p:sp>
        <p:nvSpPr>
          <p:cNvPr id="51" name="Text 49"/>
          <p:cNvSpPr/>
          <p:nvPr/>
        </p:nvSpPr>
        <p:spPr>
          <a:xfrm>
            <a:off x="502920" y="4206240"/>
            <a:ext cx="8138160" cy="365760"/>
          </a:xfrm>
          <a:prstGeom prst="rect">
            <a:avLst/>
          </a:prstGeom>
          <a:noFill/>
          <a:ln/>
        </p:spPr>
        <p:txBody>
          <a:bodyPr wrap="square" rtlCol="0" anchor="ctr"/>
          <a:lstStyle/>
          <a:p>
            <a:pPr indent="0" marL="0">
              <a:buNone/>
            </a:pPr>
            <a:r>
              <a:rPr lang="en-US" sz="950" dirty="0">
                <a:solidFill>
                  <a:srgbClr val="A8A296"/>
                </a:solidFill>
                <a:latin typeface="Calibri" pitchFamily="34" charset="0"/>
                <a:ea typeface="Calibri" pitchFamily="34" charset="-122"/>
                <a:cs typeface="Calibri" pitchFamily="34" charset="-120"/>
              </a:rPr>
              <a:t>Cash trough -$826,964 at month 12, against a $1,354,800 working capital and debt service reserve funded inside use of funds.</a:t>
            </a:r>
            <a:endParaRPr lang="en-US" sz="950" dirty="0"/>
          </a:p>
        </p:txBody>
      </p:sp>
      <p:sp>
        <p:nvSpPr>
          <p:cNvPr id="52" name="Text 50"/>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 $2.0M PRIVATE CASE  ·  CONFIDENTIAL</a:t>
            </a:r>
            <a:endParaRPr lang="en-US" sz="700" dirty="0"/>
          </a:p>
        </p:txBody>
      </p:sp>
      <p:sp>
        <p:nvSpPr>
          <p:cNvPr id="53" name="Text 51"/>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19</a:t>
            </a:r>
            <a:endParaRPr lang="en-US" sz="7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STABILIZED P&amp;L</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Monthly, at stabilization. Projected.</a:t>
            </a:r>
            <a:endParaRPr lang="en-US" sz="26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02920" y="1207008"/>
          <a:ext cx="8138160" cy="914400"/>
        </p:xfrm>
        <a:graphic>
          <a:graphicData uri="http://schemas.openxmlformats.org/drawingml/2006/table">
            <a:tbl>
              <a:tblPr/>
              <a:tblGrid>
                <a:gridCol w="4480560"/>
                <a:gridCol w="1828800"/>
                <a:gridCol w="1828800"/>
              </a:tblGrid>
              <a:tr h="155448">
                <a:tc>
                  <a:txBody>
                    <a:bodyPr/>
                    <a:lstStyle/>
                    <a:p>
                      <a:pPr algn="l" indent="0" marL="0">
                        <a:buNone/>
                      </a:pPr>
                      <a:r>
                        <a:rPr lang="en-US" sz="800" spc="140" kern="0" dirty="0">
                          <a:solidFill>
                            <a:srgbClr val="C08D7C"/>
                          </a:solidFill>
                          <a:latin typeface="Century Gothic" pitchFamily="34" charset="0"/>
                          <a:ea typeface="Century Gothic" pitchFamily="34" charset="-122"/>
                          <a:cs typeface="Century Gothic" pitchFamily="34" charset="-120"/>
                        </a:rPr>
                        <a:t>Line</a:t>
                      </a:r>
                      <a:endParaRPr lang="en-US" sz="800" dirty="0">
                        <a:latin typeface="Century Gothic" charset="0"/>
                        <a:ea typeface="Century Gothic" charset="0"/>
                        <a:cs typeface="Century Gothic"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00" spc="140" kern="0" dirty="0">
                          <a:solidFill>
                            <a:srgbClr val="C08D7C"/>
                          </a:solidFill>
                          <a:latin typeface="Century Gothic" pitchFamily="34" charset="0"/>
                          <a:ea typeface="Century Gothic" pitchFamily="34" charset="-122"/>
                          <a:cs typeface="Century Gothic" pitchFamily="34" charset="-120"/>
                        </a:rPr>
                        <a:t>Monthly</a:t>
                      </a:r>
                      <a:endParaRPr lang="en-US" sz="800" dirty="0">
                        <a:latin typeface="Century Gothic" charset="0"/>
                        <a:ea typeface="Century Gothic" charset="0"/>
                        <a:cs typeface="Century Gothic"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00" spc="140" kern="0" dirty="0">
                          <a:solidFill>
                            <a:srgbClr val="C08D7C"/>
                          </a:solidFill>
                          <a:latin typeface="Century Gothic" pitchFamily="34" charset="0"/>
                          <a:ea typeface="Century Gothic" pitchFamily="34" charset="-122"/>
                          <a:cs typeface="Century Gothic" pitchFamily="34" charset="-120"/>
                        </a:rPr>
                        <a:t>% of revenue</a:t>
                      </a:r>
                      <a:endParaRPr lang="en-US" sz="800" dirty="0">
                        <a:latin typeface="Century Gothic" charset="0"/>
                        <a:ea typeface="Century Gothic" charset="0"/>
                        <a:cs typeface="Century Gothic"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15544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Total revenue</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$731,666</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100%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A8A296"/>
                          </a:solidFill>
                          <a:latin typeface="Calibri" pitchFamily="34" charset="0"/>
                          <a:ea typeface="Calibri" pitchFamily="34" charset="-122"/>
                          <a:cs typeface="Calibri" pitchFamily="34" charset="-120"/>
                        </a:rPr>
                        <a:t>Cost of services delivered</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-$180,652</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25%</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A8A296"/>
                          </a:solidFill>
                          <a:latin typeface="Calibri" pitchFamily="34" charset="0"/>
                          <a:ea typeface="Calibri" pitchFamily="34" charset="-122"/>
                          <a:cs typeface="Calibri" pitchFamily="34" charset="-120"/>
                        </a:rPr>
                        <a:t>Circuit consumables</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-$18,760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3%</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b="1" dirty="0">
                          <a:solidFill>
                            <a:srgbClr val="C08D7C"/>
                          </a:solidFill>
                          <a:latin typeface="Calibri" pitchFamily="34" charset="0"/>
                          <a:ea typeface="Calibri" pitchFamily="34" charset="-122"/>
                          <a:cs typeface="Calibri" pitchFamily="34" charset="-120"/>
                        </a:rPr>
                        <a:t>Net after COGS</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800" b="1" dirty="0">
                          <a:solidFill>
                            <a:srgbClr val="C08D7C"/>
                          </a:solidFill>
                          <a:latin typeface="Calibri" pitchFamily="34" charset="0"/>
                          <a:ea typeface="Calibri" pitchFamily="34" charset="-122"/>
                          <a:cs typeface="Calibri" pitchFamily="34" charset="-120"/>
                        </a:rPr>
                        <a:t>$532,254</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800" b="1" dirty="0">
                          <a:solidFill>
                            <a:srgbClr val="C08D7C"/>
                          </a:solidFill>
                          <a:latin typeface="Calibri" pitchFamily="34" charset="0"/>
                          <a:ea typeface="Calibri" pitchFamily="34" charset="-122"/>
                          <a:cs typeface="Calibri" pitchFamily="34" charset="-120"/>
                        </a:rPr>
                        <a:t>73%</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r h="155448">
                <a:tc>
                  <a:txBody>
                    <a:bodyPr/>
                    <a:lstStyle/>
                    <a:p>
                      <a:pPr algn="l" indent="0" marL="0">
                        <a:buNone/>
                      </a:pPr>
                      <a:r>
                        <a:rPr lang="en-US" sz="800" dirty="0">
                          <a:solidFill>
                            <a:srgbClr val="A8A296"/>
                          </a:solidFill>
                          <a:latin typeface="Calibri" pitchFamily="34" charset="0"/>
                          <a:ea typeface="Calibri" pitchFamily="34" charset="-122"/>
                          <a:cs typeface="Calibri" pitchFamily="34" charset="-120"/>
                        </a:rPr>
                        <a:t>Rent (5,825 SF NNN)</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-$32,038</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4%</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A8A296"/>
                          </a:solidFill>
                          <a:latin typeface="Calibri" pitchFamily="34" charset="0"/>
                          <a:ea typeface="Calibri" pitchFamily="34" charset="-122"/>
                          <a:cs typeface="Calibri" pitchFamily="34" charset="-120"/>
                        </a:rPr>
                        <a:t>Clinical and club staff</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-$165,000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23%</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A8A296"/>
                          </a:solidFill>
                          <a:latin typeface="Calibri" pitchFamily="34" charset="0"/>
                          <a:ea typeface="Calibri" pitchFamily="34" charset="-122"/>
                          <a:cs typeface="Calibri" pitchFamily="34" charset="-120"/>
                        </a:rPr>
                        <a:t>Admin and management</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-$30,000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4%</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A8A296"/>
                          </a:solidFill>
                          <a:latin typeface="Calibri" pitchFamily="34" charset="0"/>
                          <a:ea typeface="Calibri" pitchFamily="34" charset="-122"/>
                          <a:cs typeface="Calibri" pitchFamily="34" charset="-120"/>
                        </a:rPr>
                        <a:t>Marketing and member acquisition</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-$32,000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4%</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A8A296"/>
                          </a:solidFill>
                          <a:latin typeface="Calibri" pitchFamily="34" charset="0"/>
                          <a:ea typeface="Calibri" pitchFamily="34" charset="-122"/>
                          <a:cs typeface="Calibri" pitchFamily="34" charset="-120"/>
                        </a:rPr>
                        <a:t>Malpractice and liability</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-$26,000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4%</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A8A296"/>
                          </a:solidFill>
                          <a:latin typeface="Calibri" pitchFamily="34" charset="0"/>
                          <a:ea typeface="Calibri" pitchFamily="34" charset="-122"/>
                          <a:cs typeface="Calibri" pitchFamily="34" charset="-120"/>
                        </a:rPr>
                        <a:t>Equipment leases</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-$29,175</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4%</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A8A296"/>
                          </a:solidFill>
                          <a:latin typeface="Calibri" pitchFamily="34" charset="0"/>
                          <a:ea typeface="Calibri" pitchFamily="34" charset="-122"/>
                          <a:cs typeface="Calibri" pitchFamily="34" charset="-120"/>
                        </a:rPr>
                        <a:t>Utilities, software, member platform</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-$18,500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3%</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A8A296"/>
                          </a:solidFill>
                          <a:latin typeface="Calibri" pitchFamily="34" charset="0"/>
                          <a:ea typeface="Calibri" pitchFamily="34" charset="-122"/>
                          <a:cs typeface="Calibri" pitchFamily="34" charset="-120"/>
                        </a:rPr>
                        <a:t>Licensing, compliance and accreditation</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-$10,000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1%</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A8A296"/>
                          </a:solidFill>
                          <a:latin typeface="Calibri" pitchFamily="34" charset="0"/>
                          <a:ea typeface="Calibri" pitchFamily="34" charset="-122"/>
                          <a:cs typeface="Calibri" pitchFamily="34" charset="-120"/>
                        </a:rPr>
                        <a:t>Total fixed overhead</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-$342,713</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47%</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b="1" dirty="0">
                          <a:solidFill>
                            <a:srgbClr val="C08D7C"/>
                          </a:solidFill>
                          <a:latin typeface="Calibri" pitchFamily="34" charset="0"/>
                          <a:ea typeface="Calibri" pitchFamily="34" charset="-122"/>
                          <a:cs typeface="Calibri" pitchFamily="34" charset="-120"/>
                        </a:rPr>
                        <a:t>OPERATING INCOME</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800" b="1" dirty="0">
                          <a:solidFill>
                            <a:srgbClr val="C08D7C"/>
                          </a:solidFill>
                          <a:latin typeface="Calibri" pitchFamily="34" charset="0"/>
                          <a:ea typeface="Calibri" pitchFamily="34" charset="-122"/>
                          <a:cs typeface="Calibri" pitchFamily="34" charset="-120"/>
                        </a:rPr>
                        <a:t>$189,541</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800" b="1" dirty="0">
                          <a:solidFill>
                            <a:srgbClr val="C08D7C"/>
                          </a:solidFill>
                          <a:latin typeface="Calibri" pitchFamily="34" charset="0"/>
                          <a:ea typeface="Calibri" pitchFamily="34" charset="-122"/>
                          <a:cs typeface="Calibri" pitchFamily="34" charset="-120"/>
                        </a:rPr>
                        <a:t>26%</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bl>
          </a:graphicData>
        </a:graphic>
      </p:graphicFrame>
      <p:sp>
        <p:nvSpPr>
          <p:cNvPr id="5" name="Text 2"/>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 $2.0M PRIVATE CASE  ·  CONFIDENTIAL</a:t>
            </a:r>
            <a:endParaRPr lang="en-US" sz="700" dirty="0"/>
          </a:p>
        </p:txBody>
      </p:sp>
      <p:sp>
        <p:nvSpPr>
          <p:cNvPr id="6" name="Text 3"/>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20</a:t>
            </a:r>
            <a:endParaRPr lang="en-US" sz="7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SENSITIVITY</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How wrong can we afford to be?</a:t>
            </a:r>
            <a:endParaRPr lang="en-US" sz="2600" dirty="0"/>
          </a:p>
        </p:txBody>
      </p:sp>
      <p:sp>
        <p:nvSpPr>
          <p:cNvPr id="4" name="Text 2"/>
          <p:cNvSpPr/>
          <p:nvPr/>
        </p:nvSpPr>
        <p:spPr>
          <a:xfrm>
            <a:off x="502920" y="1097280"/>
            <a:ext cx="8138160" cy="457200"/>
          </a:xfrm>
          <a:prstGeom prst="rect">
            <a:avLst/>
          </a:prstGeom>
          <a:noFill/>
          <a:ln/>
        </p:spPr>
        <p:txBody>
          <a:bodyPr wrap="square" rtlCol="0" anchor="t"/>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Volume flexed against the base case with fixed overhead held constant, which is the conservative treatment.</a:t>
            </a:r>
            <a:endParaRPr lang="en-US" sz="1150" dirty="0"/>
          </a:p>
        </p:txBody>
      </p:sp>
      <p:sp>
        <p:nvSpPr>
          <p:cNvPr id="5" name="Shape 3"/>
          <p:cNvSpPr/>
          <p:nvPr/>
        </p:nvSpPr>
        <p:spPr>
          <a:xfrm>
            <a:off x="502920" y="1691640"/>
            <a:ext cx="2602992" cy="2468880"/>
          </a:xfrm>
          <a:prstGeom prst="roundRect">
            <a:avLst>
              <a:gd name="adj" fmla="val 2222"/>
            </a:avLst>
          </a:prstGeom>
          <a:solidFill>
            <a:srgbClr val="16241C"/>
          </a:solidFill>
          <a:ln w="12700">
            <a:solidFill>
              <a:srgbClr val="2E4237"/>
            </a:solidFill>
            <a:prstDash val="solid"/>
          </a:ln>
        </p:spPr>
      </p:sp>
      <p:sp>
        <p:nvSpPr>
          <p:cNvPr id="6" name="Text 4"/>
          <p:cNvSpPr/>
          <p:nvPr/>
        </p:nvSpPr>
        <p:spPr>
          <a:xfrm>
            <a:off x="649224" y="1810512"/>
            <a:ext cx="2310384" cy="182880"/>
          </a:xfrm>
          <a:prstGeom prst="rect">
            <a:avLst/>
          </a:prstGeom>
          <a:noFill/>
          <a:ln/>
        </p:spPr>
        <p:txBody>
          <a:bodyPr wrap="square" rtlCol="0" anchor="ctr"/>
          <a:lstStyle/>
          <a:p>
            <a:pPr indent="0" marL="0">
              <a:buNone/>
            </a:pPr>
            <a:r>
              <a:rPr lang="en-US" sz="850" spc="240" kern="0" dirty="0">
                <a:solidFill>
                  <a:srgbClr val="6E6A62"/>
                </a:solidFill>
                <a:latin typeface="Century Gothic" pitchFamily="34" charset="0"/>
                <a:ea typeface="Century Gothic" pitchFamily="34" charset="-122"/>
                <a:cs typeface="Century Gothic" pitchFamily="34" charset="-120"/>
              </a:rPr>
              <a:t>LOW</a:t>
            </a:r>
            <a:endParaRPr lang="en-US" sz="850" dirty="0"/>
          </a:p>
        </p:txBody>
      </p:sp>
      <p:sp>
        <p:nvSpPr>
          <p:cNvPr id="7" name="Text 5"/>
          <p:cNvSpPr/>
          <p:nvPr/>
        </p:nvSpPr>
        <p:spPr>
          <a:xfrm>
            <a:off x="649224" y="2011680"/>
            <a:ext cx="2310384" cy="365760"/>
          </a:xfrm>
          <a:prstGeom prst="rect">
            <a:avLst/>
          </a:prstGeom>
          <a:noFill/>
          <a:ln/>
        </p:spPr>
        <p:txBody>
          <a:bodyPr wrap="square" rtlCol="0" anchor="ctr"/>
          <a:lstStyle/>
          <a:p>
            <a:pPr indent="0" marL="0">
              <a:buNone/>
            </a:pPr>
            <a:r>
              <a:rPr lang="en-US" sz="1800" dirty="0">
                <a:solidFill>
                  <a:srgbClr val="EDE6DA"/>
                </a:solidFill>
                <a:latin typeface="Century Gothic" pitchFamily="34" charset="0"/>
                <a:ea typeface="Century Gothic" pitchFamily="34" charset="-122"/>
                <a:cs typeface="Century Gothic" pitchFamily="34" charset="-120"/>
              </a:rPr>
              <a:t>$0.49M / yr</a:t>
            </a:r>
            <a:endParaRPr lang="en-US" sz="1800" dirty="0"/>
          </a:p>
        </p:txBody>
      </p:sp>
      <p:sp>
        <p:nvSpPr>
          <p:cNvPr id="8" name="Text 6"/>
          <p:cNvSpPr/>
          <p:nvPr/>
        </p:nvSpPr>
        <p:spPr>
          <a:xfrm>
            <a:off x="649224" y="2395728"/>
            <a:ext cx="2310384" cy="384048"/>
          </a:xfrm>
          <a:prstGeom prst="rect">
            <a:avLst/>
          </a:prstGeom>
          <a:noFill/>
          <a:ln/>
        </p:spPr>
        <p:txBody>
          <a:bodyPr wrap="square" rtlCol="0" anchor="ctr"/>
          <a:lstStyle/>
          <a:p>
            <a:pPr indent="0" marL="0">
              <a:lnSpc>
                <a:spcPct val="115000"/>
              </a:lnSpc>
              <a:buNone/>
            </a:pPr>
            <a:r>
              <a:rPr lang="en-US" sz="850" dirty="0">
                <a:solidFill>
                  <a:srgbClr val="6E6A62"/>
                </a:solidFill>
                <a:latin typeface="Calibri" pitchFamily="34" charset="0"/>
                <a:ea typeface="Calibri" pitchFamily="34" charset="-122"/>
                <a:cs typeface="Calibri" pitchFamily="34" charset="-120"/>
              </a:rPr>
              <a:t>Slow member ramp, 72% of base volume</a:t>
            </a:r>
            <a:endParaRPr lang="en-US" sz="850" dirty="0"/>
          </a:p>
        </p:txBody>
      </p:sp>
      <p:sp>
        <p:nvSpPr>
          <p:cNvPr id="9" name="Text 7"/>
          <p:cNvSpPr/>
          <p:nvPr/>
        </p:nvSpPr>
        <p:spPr>
          <a:xfrm>
            <a:off x="649224" y="2880360"/>
            <a:ext cx="1270711" cy="237744"/>
          </a:xfrm>
          <a:prstGeom prst="rect">
            <a:avLst/>
          </a:prstGeom>
          <a:noFill/>
          <a:ln/>
        </p:spPr>
        <p:txBody>
          <a:bodyPr wrap="square" rtlCol="0" anchor="ctr"/>
          <a:lstStyle/>
          <a:p>
            <a:pPr indent="0" marL="0">
              <a:buNone/>
            </a:pPr>
            <a:r>
              <a:rPr lang="en-US" sz="900" dirty="0">
                <a:solidFill>
                  <a:srgbClr val="A8A296"/>
                </a:solidFill>
                <a:latin typeface="Calibri" pitchFamily="34" charset="0"/>
                <a:ea typeface="Calibri" pitchFamily="34" charset="-122"/>
                <a:cs typeface="Calibri" pitchFamily="34" charset="-120"/>
              </a:rPr>
              <a:t>Revenue / mo</a:t>
            </a:r>
            <a:endParaRPr lang="en-US" sz="900" dirty="0"/>
          </a:p>
        </p:txBody>
      </p:sp>
      <p:sp>
        <p:nvSpPr>
          <p:cNvPr id="10" name="Text 8"/>
          <p:cNvSpPr/>
          <p:nvPr/>
        </p:nvSpPr>
        <p:spPr>
          <a:xfrm>
            <a:off x="1804416" y="2880360"/>
            <a:ext cx="1155192" cy="237744"/>
          </a:xfrm>
          <a:prstGeom prst="rect">
            <a:avLst/>
          </a:prstGeom>
          <a:noFill/>
          <a:ln/>
        </p:spPr>
        <p:txBody>
          <a:bodyPr wrap="square" rtlCol="0" anchor="ctr"/>
          <a:lstStyle/>
          <a:p>
            <a:pPr algn="r" indent="0" marL="0">
              <a:buNone/>
            </a:pPr>
            <a:r>
              <a:rPr lang="en-US" sz="900" b="1" dirty="0">
                <a:solidFill>
                  <a:srgbClr val="EDE6DA"/>
                </a:solidFill>
                <a:latin typeface="Calibri" pitchFamily="34" charset="0"/>
                <a:ea typeface="Calibri" pitchFamily="34" charset="-122"/>
                <a:cs typeface="Calibri" pitchFamily="34" charset="-120"/>
              </a:rPr>
              <a:t>$526,800</a:t>
            </a:r>
            <a:endParaRPr lang="en-US" sz="900" dirty="0"/>
          </a:p>
        </p:txBody>
      </p:sp>
      <p:sp>
        <p:nvSpPr>
          <p:cNvPr id="11" name="Text 9"/>
          <p:cNvSpPr/>
          <p:nvPr/>
        </p:nvSpPr>
        <p:spPr>
          <a:xfrm>
            <a:off x="649224" y="3172968"/>
            <a:ext cx="1270711" cy="237744"/>
          </a:xfrm>
          <a:prstGeom prst="rect">
            <a:avLst/>
          </a:prstGeom>
          <a:noFill/>
          <a:ln/>
        </p:spPr>
        <p:txBody>
          <a:bodyPr wrap="square" rtlCol="0" anchor="ctr"/>
          <a:lstStyle/>
          <a:p>
            <a:pPr indent="0" marL="0">
              <a:buNone/>
            </a:pPr>
            <a:r>
              <a:rPr lang="en-US" sz="900" dirty="0">
                <a:solidFill>
                  <a:srgbClr val="A8A296"/>
                </a:solidFill>
                <a:latin typeface="Calibri" pitchFamily="34" charset="0"/>
                <a:ea typeface="Calibri" pitchFamily="34" charset="-122"/>
                <a:cs typeface="Calibri" pitchFamily="34" charset="-120"/>
              </a:rPr>
              <a:t>Net after COGS</a:t>
            </a:r>
            <a:endParaRPr lang="en-US" sz="900" dirty="0"/>
          </a:p>
        </p:txBody>
      </p:sp>
      <p:sp>
        <p:nvSpPr>
          <p:cNvPr id="12" name="Text 10"/>
          <p:cNvSpPr/>
          <p:nvPr/>
        </p:nvSpPr>
        <p:spPr>
          <a:xfrm>
            <a:off x="1804416" y="3172968"/>
            <a:ext cx="1155192" cy="237744"/>
          </a:xfrm>
          <a:prstGeom prst="rect">
            <a:avLst/>
          </a:prstGeom>
          <a:noFill/>
          <a:ln/>
        </p:spPr>
        <p:txBody>
          <a:bodyPr wrap="square" rtlCol="0" anchor="ctr"/>
          <a:lstStyle/>
          <a:p>
            <a:pPr algn="r" indent="0" marL="0">
              <a:buNone/>
            </a:pPr>
            <a:r>
              <a:rPr lang="en-US" sz="900" b="1" dirty="0">
                <a:solidFill>
                  <a:srgbClr val="EDE6DA"/>
                </a:solidFill>
                <a:latin typeface="Calibri" pitchFamily="34" charset="0"/>
                <a:ea typeface="Calibri" pitchFamily="34" charset="-122"/>
                <a:cs typeface="Calibri" pitchFamily="34" charset="-120"/>
              </a:rPr>
              <a:t>$383,223</a:t>
            </a:r>
            <a:endParaRPr lang="en-US" sz="900" dirty="0"/>
          </a:p>
        </p:txBody>
      </p:sp>
      <p:sp>
        <p:nvSpPr>
          <p:cNvPr id="13" name="Text 11"/>
          <p:cNvSpPr/>
          <p:nvPr/>
        </p:nvSpPr>
        <p:spPr>
          <a:xfrm>
            <a:off x="649224" y="3465576"/>
            <a:ext cx="1270711" cy="237744"/>
          </a:xfrm>
          <a:prstGeom prst="rect">
            <a:avLst/>
          </a:prstGeom>
          <a:noFill/>
          <a:ln/>
        </p:spPr>
        <p:txBody>
          <a:bodyPr wrap="square" rtlCol="0" anchor="ctr"/>
          <a:lstStyle/>
          <a:p>
            <a:pPr indent="0" marL="0">
              <a:buNone/>
            </a:pPr>
            <a:r>
              <a:rPr lang="en-US" sz="900" dirty="0">
                <a:solidFill>
                  <a:srgbClr val="A8A296"/>
                </a:solidFill>
                <a:latin typeface="Calibri" pitchFamily="34" charset="0"/>
                <a:ea typeface="Calibri" pitchFamily="34" charset="-122"/>
                <a:cs typeface="Calibri" pitchFamily="34" charset="-120"/>
              </a:rPr>
              <a:t>Operating / mo</a:t>
            </a:r>
            <a:endParaRPr lang="en-US" sz="900" dirty="0"/>
          </a:p>
        </p:txBody>
      </p:sp>
      <p:sp>
        <p:nvSpPr>
          <p:cNvPr id="14" name="Text 12"/>
          <p:cNvSpPr/>
          <p:nvPr/>
        </p:nvSpPr>
        <p:spPr>
          <a:xfrm>
            <a:off x="1804416" y="3465576"/>
            <a:ext cx="1155192" cy="237744"/>
          </a:xfrm>
          <a:prstGeom prst="rect">
            <a:avLst/>
          </a:prstGeom>
          <a:noFill/>
          <a:ln/>
        </p:spPr>
        <p:txBody>
          <a:bodyPr wrap="square" rtlCol="0" anchor="ctr"/>
          <a:lstStyle/>
          <a:p>
            <a:pPr algn="r" indent="0" marL="0">
              <a:buNone/>
            </a:pPr>
            <a:r>
              <a:rPr lang="en-US" sz="900" b="1" dirty="0">
                <a:solidFill>
                  <a:srgbClr val="EDE6DA"/>
                </a:solidFill>
                <a:latin typeface="Calibri" pitchFamily="34" charset="0"/>
                <a:ea typeface="Calibri" pitchFamily="34" charset="-122"/>
                <a:cs typeface="Calibri" pitchFamily="34" charset="-120"/>
              </a:rPr>
              <a:t>$40,510</a:t>
            </a:r>
            <a:endParaRPr lang="en-US" sz="900" dirty="0"/>
          </a:p>
        </p:txBody>
      </p:sp>
      <p:sp>
        <p:nvSpPr>
          <p:cNvPr id="15" name="Text 13"/>
          <p:cNvSpPr/>
          <p:nvPr/>
        </p:nvSpPr>
        <p:spPr>
          <a:xfrm>
            <a:off x="649224" y="3758184"/>
            <a:ext cx="1270711" cy="237744"/>
          </a:xfrm>
          <a:prstGeom prst="rect">
            <a:avLst/>
          </a:prstGeom>
          <a:noFill/>
          <a:ln/>
        </p:spPr>
        <p:txBody>
          <a:bodyPr wrap="square" rtlCol="0" anchor="ctr"/>
          <a:lstStyle/>
          <a:p>
            <a:pPr indent="0" marL="0">
              <a:buNone/>
            </a:pPr>
            <a:r>
              <a:rPr lang="en-US" sz="900" dirty="0">
                <a:solidFill>
                  <a:srgbClr val="A8A296"/>
                </a:solidFill>
                <a:latin typeface="Calibri" pitchFamily="34" charset="0"/>
                <a:ea typeface="Calibri" pitchFamily="34" charset="-122"/>
                <a:cs typeface="Calibri" pitchFamily="34" charset="-120"/>
              </a:rPr>
              <a:t>DSCR</a:t>
            </a:r>
            <a:endParaRPr lang="en-US" sz="900" dirty="0"/>
          </a:p>
        </p:txBody>
      </p:sp>
      <p:sp>
        <p:nvSpPr>
          <p:cNvPr id="16" name="Text 14"/>
          <p:cNvSpPr/>
          <p:nvPr/>
        </p:nvSpPr>
        <p:spPr>
          <a:xfrm>
            <a:off x="1804416" y="3758184"/>
            <a:ext cx="1155192" cy="237744"/>
          </a:xfrm>
          <a:prstGeom prst="rect">
            <a:avLst/>
          </a:prstGeom>
          <a:noFill/>
          <a:ln/>
        </p:spPr>
        <p:txBody>
          <a:bodyPr wrap="square" rtlCol="0" anchor="ctr"/>
          <a:lstStyle/>
          <a:p>
            <a:pPr algn="r" indent="0" marL="0">
              <a:buNone/>
            </a:pPr>
            <a:r>
              <a:rPr lang="en-US" sz="900" b="1" dirty="0">
                <a:solidFill>
                  <a:srgbClr val="EDE6DA"/>
                </a:solidFill>
                <a:latin typeface="Calibri" pitchFamily="34" charset="0"/>
                <a:ea typeface="Calibri" pitchFamily="34" charset="-122"/>
                <a:cs typeface="Calibri" pitchFamily="34" charset="-120"/>
              </a:rPr>
              <a:t>0.86x</a:t>
            </a:r>
            <a:endParaRPr lang="en-US" sz="900" dirty="0"/>
          </a:p>
        </p:txBody>
      </p:sp>
      <p:sp>
        <p:nvSpPr>
          <p:cNvPr id="17" name="Shape 15"/>
          <p:cNvSpPr/>
          <p:nvPr/>
        </p:nvSpPr>
        <p:spPr>
          <a:xfrm>
            <a:off x="3270504" y="1691640"/>
            <a:ext cx="2602992" cy="2468880"/>
          </a:xfrm>
          <a:prstGeom prst="roundRect">
            <a:avLst>
              <a:gd name="adj" fmla="val 2222"/>
            </a:avLst>
          </a:prstGeom>
          <a:solidFill>
            <a:srgbClr val="241C1A"/>
          </a:solidFill>
          <a:ln w="19050">
            <a:solidFill>
              <a:srgbClr val="C08D7C"/>
            </a:solidFill>
            <a:prstDash val="solid"/>
          </a:ln>
        </p:spPr>
      </p:sp>
      <p:sp>
        <p:nvSpPr>
          <p:cNvPr id="18" name="Text 16"/>
          <p:cNvSpPr/>
          <p:nvPr/>
        </p:nvSpPr>
        <p:spPr>
          <a:xfrm>
            <a:off x="3416808" y="1810512"/>
            <a:ext cx="2310384" cy="182880"/>
          </a:xfrm>
          <a:prstGeom prst="rect">
            <a:avLst/>
          </a:prstGeom>
          <a:noFill/>
          <a:ln/>
        </p:spPr>
        <p:txBody>
          <a:bodyPr wrap="square" rtlCol="0" anchor="ctr"/>
          <a:lstStyle/>
          <a:p>
            <a:pPr indent="0" marL="0">
              <a:buNone/>
            </a:pPr>
            <a:r>
              <a:rPr lang="en-US" sz="850" spc="240" kern="0" dirty="0">
                <a:solidFill>
                  <a:srgbClr val="C08D7C"/>
                </a:solidFill>
                <a:latin typeface="Century Gothic" pitchFamily="34" charset="0"/>
                <a:ea typeface="Century Gothic" pitchFamily="34" charset="-122"/>
                <a:cs typeface="Century Gothic" pitchFamily="34" charset="-120"/>
              </a:rPr>
              <a:t>BASE</a:t>
            </a:r>
            <a:endParaRPr lang="en-US" sz="850" dirty="0"/>
          </a:p>
        </p:txBody>
      </p:sp>
      <p:sp>
        <p:nvSpPr>
          <p:cNvPr id="19" name="Text 17"/>
          <p:cNvSpPr/>
          <p:nvPr/>
        </p:nvSpPr>
        <p:spPr>
          <a:xfrm>
            <a:off x="3416808" y="2011680"/>
            <a:ext cx="2310384" cy="365760"/>
          </a:xfrm>
          <a:prstGeom prst="rect">
            <a:avLst/>
          </a:prstGeom>
          <a:noFill/>
          <a:ln/>
        </p:spPr>
        <p:txBody>
          <a:bodyPr wrap="square" rtlCol="0" anchor="ctr"/>
          <a:lstStyle/>
          <a:p>
            <a:pPr indent="0" marL="0">
              <a:buNone/>
            </a:pPr>
            <a:r>
              <a:rPr lang="en-US" sz="1800" dirty="0">
                <a:solidFill>
                  <a:srgbClr val="C08D7C"/>
                </a:solidFill>
                <a:latin typeface="Century Gothic" pitchFamily="34" charset="0"/>
                <a:ea typeface="Century Gothic" pitchFamily="34" charset="-122"/>
                <a:cs typeface="Century Gothic" pitchFamily="34" charset="-120"/>
              </a:rPr>
              <a:t>$2.27M / yr</a:t>
            </a:r>
            <a:endParaRPr lang="en-US" sz="1800" dirty="0"/>
          </a:p>
        </p:txBody>
      </p:sp>
      <p:sp>
        <p:nvSpPr>
          <p:cNvPr id="20" name="Text 18"/>
          <p:cNvSpPr/>
          <p:nvPr/>
        </p:nvSpPr>
        <p:spPr>
          <a:xfrm>
            <a:off x="3416808" y="2395728"/>
            <a:ext cx="2310384" cy="384048"/>
          </a:xfrm>
          <a:prstGeom prst="rect">
            <a:avLst/>
          </a:prstGeom>
          <a:noFill/>
          <a:ln/>
        </p:spPr>
        <p:txBody>
          <a:bodyPr wrap="square" rtlCol="0" anchor="ctr"/>
          <a:lstStyle/>
          <a:p>
            <a:pPr indent="0" marL="0">
              <a:lnSpc>
                <a:spcPct val="115000"/>
              </a:lnSpc>
              <a:buNone/>
            </a:pPr>
            <a:r>
              <a:rPr lang="en-US" sz="850" dirty="0">
                <a:solidFill>
                  <a:srgbClr val="6E6A62"/>
                </a:solidFill>
                <a:latin typeface="Calibri" pitchFamily="34" charset="0"/>
                <a:ea typeface="Calibri" pitchFamily="34" charset="-122"/>
                <a:cs typeface="Calibri" pitchFamily="34" charset="-120"/>
              </a:rPr>
              <a:t>Stated assumptions at stabilization</a:t>
            </a:r>
            <a:endParaRPr lang="en-US" sz="850" dirty="0"/>
          </a:p>
        </p:txBody>
      </p:sp>
      <p:sp>
        <p:nvSpPr>
          <p:cNvPr id="21" name="Text 19"/>
          <p:cNvSpPr/>
          <p:nvPr/>
        </p:nvSpPr>
        <p:spPr>
          <a:xfrm>
            <a:off x="3416808" y="2880360"/>
            <a:ext cx="1270711" cy="237744"/>
          </a:xfrm>
          <a:prstGeom prst="rect">
            <a:avLst/>
          </a:prstGeom>
          <a:noFill/>
          <a:ln/>
        </p:spPr>
        <p:txBody>
          <a:bodyPr wrap="square" rtlCol="0" anchor="ctr"/>
          <a:lstStyle/>
          <a:p>
            <a:pPr indent="0" marL="0">
              <a:buNone/>
            </a:pPr>
            <a:r>
              <a:rPr lang="en-US" sz="900" dirty="0">
                <a:solidFill>
                  <a:srgbClr val="A8A296"/>
                </a:solidFill>
                <a:latin typeface="Calibri" pitchFamily="34" charset="0"/>
                <a:ea typeface="Calibri" pitchFamily="34" charset="-122"/>
                <a:cs typeface="Calibri" pitchFamily="34" charset="-120"/>
              </a:rPr>
              <a:t>Revenue / mo</a:t>
            </a:r>
            <a:endParaRPr lang="en-US" sz="900" dirty="0"/>
          </a:p>
        </p:txBody>
      </p:sp>
      <p:sp>
        <p:nvSpPr>
          <p:cNvPr id="22" name="Text 20"/>
          <p:cNvSpPr/>
          <p:nvPr/>
        </p:nvSpPr>
        <p:spPr>
          <a:xfrm>
            <a:off x="4572000" y="2880360"/>
            <a:ext cx="1155192" cy="237744"/>
          </a:xfrm>
          <a:prstGeom prst="rect">
            <a:avLst/>
          </a:prstGeom>
          <a:noFill/>
          <a:ln/>
        </p:spPr>
        <p:txBody>
          <a:bodyPr wrap="square" rtlCol="0" anchor="ctr"/>
          <a:lstStyle/>
          <a:p>
            <a:pPr algn="r" indent="0" marL="0">
              <a:buNone/>
            </a:pPr>
            <a:r>
              <a:rPr lang="en-US" sz="900" b="1" dirty="0">
                <a:solidFill>
                  <a:srgbClr val="EDE6DA"/>
                </a:solidFill>
                <a:latin typeface="Calibri" pitchFamily="34" charset="0"/>
                <a:ea typeface="Calibri" pitchFamily="34" charset="-122"/>
                <a:cs typeface="Calibri" pitchFamily="34" charset="-120"/>
              </a:rPr>
              <a:t>$731,666</a:t>
            </a:r>
            <a:endParaRPr lang="en-US" sz="900" dirty="0"/>
          </a:p>
        </p:txBody>
      </p:sp>
      <p:sp>
        <p:nvSpPr>
          <p:cNvPr id="23" name="Text 21"/>
          <p:cNvSpPr/>
          <p:nvPr/>
        </p:nvSpPr>
        <p:spPr>
          <a:xfrm>
            <a:off x="3416808" y="3172968"/>
            <a:ext cx="1270711" cy="237744"/>
          </a:xfrm>
          <a:prstGeom prst="rect">
            <a:avLst/>
          </a:prstGeom>
          <a:noFill/>
          <a:ln/>
        </p:spPr>
        <p:txBody>
          <a:bodyPr wrap="square" rtlCol="0" anchor="ctr"/>
          <a:lstStyle/>
          <a:p>
            <a:pPr indent="0" marL="0">
              <a:buNone/>
            </a:pPr>
            <a:r>
              <a:rPr lang="en-US" sz="900" dirty="0">
                <a:solidFill>
                  <a:srgbClr val="A8A296"/>
                </a:solidFill>
                <a:latin typeface="Calibri" pitchFamily="34" charset="0"/>
                <a:ea typeface="Calibri" pitchFamily="34" charset="-122"/>
                <a:cs typeface="Calibri" pitchFamily="34" charset="-120"/>
              </a:rPr>
              <a:t>Net after COGS</a:t>
            </a:r>
            <a:endParaRPr lang="en-US" sz="900" dirty="0"/>
          </a:p>
        </p:txBody>
      </p:sp>
      <p:sp>
        <p:nvSpPr>
          <p:cNvPr id="24" name="Text 22"/>
          <p:cNvSpPr/>
          <p:nvPr/>
        </p:nvSpPr>
        <p:spPr>
          <a:xfrm>
            <a:off x="4572000" y="3172968"/>
            <a:ext cx="1155192" cy="237744"/>
          </a:xfrm>
          <a:prstGeom prst="rect">
            <a:avLst/>
          </a:prstGeom>
          <a:noFill/>
          <a:ln/>
        </p:spPr>
        <p:txBody>
          <a:bodyPr wrap="square" rtlCol="0" anchor="ctr"/>
          <a:lstStyle/>
          <a:p>
            <a:pPr algn="r" indent="0" marL="0">
              <a:buNone/>
            </a:pPr>
            <a:r>
              <a:rPr lang="en-US" sz="900" b="1" dirty="0">
                <a:solidFill>
                  <a:srgbClr val="EDE6DA"/>
                </a:solidFill>
                <a:latin typeface="Calibri" pitchFamily="34" charset="0"/>
                <a:ea typeface="Calibri" pitchFamily="34" charset="-122"/>
                <a:cs typeface="Calibri" pitchFamily="34" charset="-120"/>
              </a:rPr>
              <a:t>$532,254</a:t>
            </a:r>
            <a:endParaRPr lang="en-US" sz="900" dirty="0"/>
          </a:p>
        </p:txBody>
      </p:sp>
      <p:sp>
        <p:nvSpPr>
          <p:cNvPr id="25" name="Text 23"/>
          <p:cNvSpPr/>
          <p:nvPr/>
        </p:nvSpPr>
        <p:spPr>
          <a:xfrm>
            <a:off x="3416808" y="3465576"/>
            <a:ext cx="1270711" cy="237744"/>
          </a:xfrm>
          <a:prstGeom prst="rect">
            <a:avLst/>
          </a:prstGeom>
          <a:noFill/>
          <a:ln/>
        </p:spPr>
        <p:txBody>
          <a:bodyPr wrap="square" rtlCol="0" anchor="ctr"/>
          <a:lstStyle/>
          <a:p>
            <a:pPr indent="0" marL="0">
              <a:buNone/>
            </a:pPr>
            <a:r>
              <a:rPr lang="en-US" sz="900" dirty="0">
                <a:solidFill>
                  <a:srgbClr val="A8A296"/>
                </a:solidFill>
                <a:latin typeface="Calibri" pitchFamily="34" charset="0"/>
                <a:ea typeface="Calibri" pitchFamily="34" charset="-122"/>
                <a:cs typeface="Calibri" pitchFamily="34" charset="-120"/>
              </a:rPr>
              <a:t>Operating / mo</a:t>
            </a:r>
            <a:endParaRPr lang="en-US" sz="900" dirty="0"/>
          </a:p>
        </p:txBody>
      </p:sp>
      <p:sp>
        <p:nvSpPr>
          <p:cNvPr id="26" name="Text 24"/>
          <p:cNvSpPr/>
          <p:nvPr/>
        </p:nvSpPr>
        <p:spPr>
          <a:xfrm>
            <a:off x="4572000" y="3465576"/>
            <a:ext cx="1155192" cy="237744"/>
          </a:xfrm>
          <a:prstGeom prst="rect">
            <a:avLst/>
          </a:prstGeom>
          <a:noFill/>
          <a:ln/>
        </p:spPr>
        <p:txBody>
          <a:bodyPr wrap="square" rtlCol="0" anchor="ctr"/>
          <a:lstStyle/>
          <a:p>
            <a:pPr algn="r" indent="0" marL="0">
              <a:buNone/>
            </a:pPr>
            <a:r>
              <a:rPr lang="en-US" sz="900" b="1" dirty="0">
                <a:solidFill>
                  <a:srgbClr val="EDE6DA"/>
                </a:solidFill>
                <a:latin typeface="Calibri" pitchFamily="34" charset="0"/>
                <a:ea typeface="Calibri" pitchFamily="34" charset="-122"/>
                <a:cs typeface="Calibri" pitchFamily="34" charset="-120"/>
              </a:rPr>
              <a:t>$189,541</a:t>
            </a:r>
            <a:endParaRPr lang="en-US" sz="900" dirty="0"/>
          </a:p>
        </p:txBody>
      </p:sp>
      <p:sp>
        <p:nvSpPr>
          <p:cNvPr id="27" name="Text 25"/>
          <p:cNvSpPr/>
          <p:nvPr/>
        </p:nvSpPr>
        <p:spPr>
          <a:xfrm>
            <a:off x="3416808" y="3758184"/>
            <a:ext cx="1270711" cy="237744"/>
          </a:xfrm>
          <a:prstGeom prst="rect">
            <a:avLst/>
          </a:prstGeom>
          <a:noFill/>
          <a:ln/>
        </p:spPr>
        <p:txBody>
          <a:bodyPr wrap="square" rtlCol="0" anchor="ctr"/>
          <a:lstStyle/>
          <a:p>
            <a:pPr indent="0" marL="0">
              <a:buNone/>
            </a:pPr>
            <a:r>
              <a:rPr lang="en-US" sz="900" dirty="0">
                <a:solidFill>
                  <a:srgbClr val="A8A296"/>
                </a:solidFill>
                <a:latin typeface="Calibri" pitchFamily="34" charset="0"/>
                <a:ea typeface="Calibri" pitchFamily="34" charset="-122"/>
                <a:cs typeface="Calibri" pitchFamily="34" charset="-120"/>
              </a:rPr>
              <a:t>DSCR</a:t>
            </a:r>
            <a:endParaRPr lang="en-US" sz="900" dirty="0"/>
          </a:p>
        </p:txBody>
      </p:sp>
      <p:sp>
        <p:nvSpPr>
          <p:cNvPr id="28" name="Text 26"/>
          <p:cNvSpPr/>
          <p:nvPr/>
        </p:nvSpPr>
        <p:spPr>
          <a:xfrm>
            <a:off x="4572000" y="3758184"/>
            <a:ext cx="1155192" cy="237744"/>
          </a:xfrm>
          <a:prstGeom prst="rect">
            <a:avLst/>
          </a:prstGeom>
          <a:noFill/>
          <a:ln/>
        </p:spPr>
        <p:txBody>
          <a:bodyPr wrap="square" rtlCol="0" anchor="ctr"/>
          <a:lstStyle/>
          <a:p>
            <a:pPr algn="r" indent="0" marL="0">
              <a:buNone/>
            </a:pPr>
            <a:r>
              <a:rPr lang="en-US" sz="900" b="1" dirty="0">
                <a:solidFill>
                  <a:srgbClr val="EDE6DA"/>
                </a:solidFill>
                <a:latin typeface="Calibri" pitchFamily="34" charset="0"/>
                <a:ea typeface="Calibri" pitchFamily="34" charset="-122"/>
                <a:cs typeface="Calibri" pitchFamily="34" charset="-120"/>
              </a:rPr>
              <a:t>4.01x</a:t>
            </a:r>
            <a:endParaRPr lang="en-US" sz="900" dirty="0"/>
          </a:p>
        </p:txBody>
      </p:sp>
      <p:sp>
        <p:nvSpPr>
          <p:cNvPr id="29" name="Shape 27"/>
          <p:cNvSpPr/>
          <p:nvPr/>
        </p:nvSpPr>
        <p:spPr>
          <a:xfrm>
            <a:off x="6038088" y="1691640"/>
            <a:ext cx="2602992" cy="2468880"/>
          </a:xfrm>
          <a:prstGeom prst="roundRect">
            <a:avLst>
              <a:gd name="adj" fmla="val 2222"/>
            </a:avLst>
          </a:prstGeom>
          <a:solidFill>
            <a:srgbClr val="16241C"/>
          </a:solidFill>
          <a:ln w="12700">
            <a:solidFill>
              <a:srgbClr val="2E4237"/>
            </a:solidFill>
            <a:prstDash val="solid"/>
          </a:ln>
        </p:spPr>
      </p:sp>
      <p:sp>
        <p:nvSpPr>
          <p:cNvPr id="30" name="Text 28"/>
          <p:cNvSpPr/>
          <p:nvPr/>
        </p:nvSpPr>
        <p:spPr>
          <a:xfrm>
            <a:off x="6184392" y="1810512"/>
            <a:ext cx="2310384" cy="182880"/>
          </a:xfrm>
          <a:prstGeom prst="rect">
            <a:avLst/>
          </a:prstGeom>
          <a:noFill/>
          <a:ln/>
        </p:spPr>
        <p:txBody>
          <a:bodyPr wrap="square" rtlCol="0" anchor="ctr"/>
          <a:lstStyle/>
          <a:p>
            <a:pPr indent="0" marL="0">
              <a:buNone/>
            </a:pPr>
            <a:r>
              <a:rPr lang="en-US" sz="850" spc="240" kern="0" dirty="0">
                <a:solidFill>
                  <a:srgbClr val="6E6A62"/>
                </a:solidFill>
                <a:latin typeface="Century Gothic" pitchFamily="34" charset="0"/>
                <a:ea typeface="Century Gothic" pitchFamily="34" charset="-122"/>
                <a:cs typeface="Century Gothic" pitchFamily="34" charset="-120"/>
              </a:rPr>
              <a:t>UPSIDE</a:t>
            </a:r>
            <a:endParaRPr lang="en-US" sz="850" dirty="0"/>
          </a:p>
        </p:txBody>
      </p:sp>
      <p:sp>
        <p:nvSpPr>
          <p:cNvPr id="31" name="Text 29"/>
          <p:cNvSpPr/>
          <p:nvPr/>
        </p:nvSpPr>
        <p:spPr>
          <a:xfrm>
            <a:off x="6184392" y="2011680"/>
            <a:ext cx="2310384" cy="365760"/>
          </a:xfrm>
          <a:prstGeom prst="rect">
            <a:avLst/>
          </a:prstGeom>
          <a:noFill/>
          <a:ln/>
        </p:spPr>
        <p:txBody>
          <a:bodyPr wrap="square" rtlCol="0" anchor="ctr"/>
          <a:lstStyle/>
          <a:p>
            <a:pPr indent="0" marL="0">
              <a:buNone/>
            </a:pPr>
            <a:r>
              <a:rPr lang="en-US" sz="1800" dirty="0">
                <a:solidFill>
                  <a:srgbClr val="EDE6DA"/>
                </a:solidFill>
                <a:latin typeface="Century Gothic" pitchFamily="34" charset="0"/>
                <a:ea typeface="Century Gothic" pitchFamily="34" charset="-122"/>
                <a:cs typeface="Century Gothic" pitchFamily="34" charset="-120"/>
              </a:rPr>
              <a:t>$4.06M / yr</a:t>
            </a:r>
            <a:endParaRPr lang="en-US" sz="1800" dirty="0"/>
          </a:p>
        </p:txBody>
      </p:sp>
      <p:sp>
        <p:nvSpPr>
          <p:cNvPr id="32" name="Text 30"/>
          <p:cNvSpPr/>
          <p:nvPr/>
        </p:nvSpPr>
        <p:spPr>
          <a:xfrm>
            <a:off x="6184392" y="2395728"/>
            <a:ext cx="2310384" cy="384048"/>
          </a:xfrm>
          <a:prstGeom prst="rect">
            <a:avLst/>
          </a:prstGeom>
          <a:noFill/>
          <a:ln/>
        </p:spPr>
        <p:txBody>
          <a:bodyPr wrap="square" rtlCol="0" anchor="ctr"/>
          <a:lstStyle/>
          <a:p>
            <a:pPr indent="0" marL="0">
              <a:lnSpc>
                <a:spcPct val="115000"/>
              </a:lnSpc>
              <a:buNone/>
            </a:pPr>
            <a:r>
              <a:rPr lang="en-US" sz="850" dirty="0">
                <a:solidFill>
                  <a:srgbClr val="6E6A62"/>
                </a:solidFill>
                <a:latin typeface="Calibri" pitchFamily="34" charset="0"/>
                <a:ea typeface="Calibri" pitchFamily="34" charset="-122"/>
                <a:cs typeface="Calibri" pitchFamily="34" charset="-120"/>
              </a:rPr>
              <a:t>Waitlist demand, 128% of base volume</a:t>
            </a:r>
            <a:endParaRPr lang="en-US" sz="850" dirty="0"/>
          </a:p>
        </p:txBody>
      </p:sp>
      <p:sp>
        <p:nvSpPr>
          <p:cNvPr id="33" name="Text 31"/>
          <p:cNvSpPr/>
          <p:nvPr/>
        </p:nvSpPr>
        <p:spPr>
          <a:xfrm>
            <a:off x="6184392" y="2880360"/>
            <a:ext cx="1270711" cy="237744"/>
          </a:xfrm>
          <a:prstGeom prst="rect">
            <a:avLst/>
          </a:prstGeom>
          <a:noFill/>
          <a:ln/>
        </p:spPr>
        <p:txBody>
          <a:bodyPr wrap="square" rtlCol="0" anchor="ctr"/>
          <a:lstStyle/>
          <a:p>
            <a:pPr indent="0" marL="0">
              <a:buNone/>
            </a:pPr>
            <a:r>
              <a:rPr lang="en-US" sz="900" dirty="0">
                <a:solidFill>
                  <a:srgbClr val="A8A296"/>
                </a:solidFill>
                <a:latin typeface="Calibri" pitchFamily="34" charset="0"/>
                <a:ea typeface="Calibri" pitchFamily="34" charset="-122"/>
                <a:cs typeface="Calibri" pitchFamily="34" charset="-120"/>
              </a:rPr>
              <a:t>Revenue / mo</a:t>
            </a:r>
            <a:endParaRPr lang="en-US" sz="900" dirty="0"/>
          </a:p>
        </p:txBody>
      </p:sp>
      <p:sp>
        <p:nvSpPr>
          <p:cNvPr id="34" name="Text 32"/>
          <p:cNvSpPr/>
          <p:nvPr/>
        </p:nvSpPr>
        <p:spPr>
          <a:xfrm>
            <a:off x="7339584" y="2880360"/>
            <a:ext cx="1155192" cy="237744"/>
          </a:xfrm>
          <a:prstGeom prst="rect">
            <a:avLst/>
          </a:prstGeom>
          <a:noFill/>
          <a:ln/>
        </p:spPr>
        <p:txBody>
          <a:bodyPr wrap="square" rtlCol="0" anchor="ctr"/>
          <a:lstStyle/>
          <a:p>
            <a:pPr algn="r" indent="0" marL="0">
              <a:buNone/>
            </a:pPr>
            <a:r>
              <a:rPr lang="en-US" sz="900" b="1" dirty="0">
                <a:solidFill>
                  <a:srgbClr val="EDE6DA"/>
                </a:solidFill>
                <a:latin typeface="Calibri" pitchFamily="34" charset="0"/>
                <a:ea typeface="Calibri" pitchFamily="34" charset="-122"/>
                <a:cs typeface="Calibri" pitchFamily="34" charset="-120"/>
              </a:rPr>
              <a:t>$936,533</a:t>
            </a:r>
            <a:endParaRPr lang="en-US" sz="900" dirty="0"/>
          </a:p>
        </p:txBody>
      </p:sp>
      <p:sp>
        <p:nvSpPr>
          <p:cNvPr id="35" name="Text 33"/>
          <p:cNvSpPr/>
          <p:nvPr/>
        </p:nvSpPr>
        <p:spPr>
          <a:xfrm>
            <a:off x="6184392" y="3172968"/>
            <a:ext cx="1270711" cy="237744"/>
          </a:xfrm>
          <a:prstGeom prst="rect">
            <a:avLst/>
          </a:prstGeom>
          <a:noFill/>
          <a:ln/>
        </p:spPr>
        <p:txBody>
          <a:bodyPr wrap="square" rtlCol="0" anchor="ctr"/>
          <a:lstStyle/>
          <a:p>
            <a:pPr indent="0" marL="0">
              <a:buNone/>
            </a:pPr>
            <a:r>
              <a:rPr lang="en-US" sz="900" dirty="0">
                <a:solidFill>
                  <a:srgbClr val="A8A296"/>
                </a:solidFill>
                <a:latin typeface="Calibri" pitchFamily="34" charset="0"/>
                <a:ea typeface="Calibri" pitchFamily="34" charset="-122"/>
                <a:cs typeface="Calibri" pitchFamily="34" charset="-120"/>
              </a:rPr>
              <a:t>Net after COGS</a:t>
            </a:r>
            <a:endParaRPr lang="en-US" sz="900" dirty="0"/>
          </a:p>
        </p:txBody>
      </p:sp>
      <p:sp>
        <p:nvSpPr>
          <p:cNvPr id="36" name="Text 34"/>
          <p:cNvSpPr/>
          <p:nvPr/>
        </p:nvSpPr>
        <p:spPr>
          <a:xfrm>
            <a:off x="7339584" y="3172968"/>
            <a:ext cx="1155192" cy="237744"/>
          </a:xfrm>
          <a:prstGeom prst="rect">
            <a:avLst/>
          </a:prstGeom>
          <a:noFill/>
          <a:ln/>
        </p:spPr>
        <p:txBody>
          <a:bodyPr wrap="square" rtlCol="0" anchor="ctr"/>
          <a:lstStyle/>
          <a:p>
            <a:pPr algn="r" indent="0" marL="0">
              <a:buNone/>
            </a:pPr>
            <a:r>
              <a:rPr lang="en-US" sz="900" b="1" dirty="0">
                <a:solidFill>
                  <a:srgbClr val="EDE6DA"/>
                </a:solidFill>
                <a:latin typeface="Calibri" pitchFamily="34" charset="0"/>
                <a:ea typeface="Calibri" pitchFamily="34" charset="-122"/>
                <a:cs typeface="Calibri" pitchFamily="34" charset="-120"/>
              </a:rPr>
              <a:t>$681,285</a:t>
            </a:r>
            <a:endParaRPr lang="en-US" sz="900" dirty="0"/>
          </a:p>
        </p:txBody>
      </p:sp>
      <p:sp>
        <p:nvSpPr>
          <p:cNvPr id="37" name="Text 35"/>
          <p:cNvSpPr/>
          <p:nvPr/>
        </p:nvSpPr>
        <p:spPr>
          <a:xfrm>
            <a:off x="6184392" y="3465576"/>
            <a:ext cx="1270711" cy="237744"/>
          </a:xfrm>
          <a:prstGeom prst="rect">
            <a:avLst/>
          </a:prstGeom>
          <a:noFill/>
          <a:ln/>
        </p:spPr>
        <p:txBody>
          <a:bodyPr wrap="square" rtlCol="0" anchor="ctr"/>
          <a:lstStyle/>
          <a:p>
            <a:pPr indent="0" marL="0">
              <a:buNone/>
            </a:pPr>
            <a:r>
              <a:rPr lang="en-US" sz="900" dirty="0">
                <a:solidFill>
                  <a:srgbClr val="A8A296"/>
                </a:solidFill>
                <a:latin typeface="Calibri" pitchFamily="34" charset="0"/>
                <a:ea typeface="Calibri" pitchFamily="34" charset="-122"/>
                <a:cs typeface="Calibri" pitchFamily="34" charset="-120"/>
              </a:rPr>
              <a:t>Operating / mo</a:t>
            </a:r>
            <a:endParaRPr lang="en-US" sz="900" dirty="0"/>
          </a:p>
        </p:txBody>
      </p:sp>
      <p:sp>
        <p:nvSpPr>
          <p:cNvPr id="38" name="Text 36"/>
          <p:cNvSpPr/>
          <p:nvPr/>
        </p:nvSpPr>
        <p:spPr>
          <a:xfrm>
            <a:off x="7339584" y="3465576"/>
            <a:ext cx="1155192" cy="237744"/>
          </a:xfrm>
          <a:prstGeom prst="rect">
            <a:avLst/>
          </a:prstGeom>
          <a:noFill/>
          <a:ln/>
        </p:spPr>
        <p:txBody>
          <a:bodyPr wrap="square" rtlCol="0" anchor="ctr"/>
          <a:lstStyle/>
          <a:p>
            <a:pPr algn="r" indent="0" marL="0">
              <a:buNone/>
            </a:pPr>
            <a:r>
              <a:rPr lang="en-US" sz="900" b="1" dirty="0">
                <a:solidFill>
                  <a:srgbClr val="EDE6DA"/>
                </a:solidFill>
                <a:latin typeface="Calibri" pitchFamily="34" charset="0"/>
                <a:ea typeface="Calibri" pitchFamily="34" charset="-122"/>
                <a:cs typeface="Calibri" pitchFamily="34" charset="-120"/>
              </a:rPr>
              <a:t>$338,573</a:t>
            </a:r>
            <a:endParaRPr lang="en-US" sz="900" dirty="0"/>
          </a:p>
        </p:txBody>
      </p:sp>
      <p:sp>
        <p:nvSpPr>
          <p:cNvPr id="39" name="Text 37"/>
          <p:cNvSpPr/>
          <p:nvPr/>
        </p:nvSpPr>
        <p:spPr>
          <a:xfrm>
            <a:off x="6184392" y="3758184"/>
            <a:ext cx="1270711" cy="237744"/>
          </a:xfrm>
          <a:prstGeom prst="rect">
            <a:avLst/>
          </a:prstGeom>
          <a:noFill/>
          <a:ln/>
        </p:spPr>
        <p:txBody>
          <a:bodyPr wrap="square" rtlCol="0" anchor="ctr"/>
          <a:lstStyle/>
          <a:p>
            <a:pPr indent="0" marL="0">
              <a:buNone/>
            </a:pPr>
            <a:r>
              <a:rPr lang="en-US" sz="900" dirty="0">
                <a:solidFill>
                  <a:srgbClr val="A8A296"/>
                </a:solidFill>
                <a:latin typeface="Calibri" pitchFamily="34" charset="0"/>
                <a:ea typeface="Calibri" pitchFamily="34" charset="-122"/>
                <a:cs typeface="Calibri" pitchFamily="34" charset="-120"/>
              </a:rPr>
              <a:t>DSCR</a:t>
            </a:r>
            <a:endParaRPr lang="en-US" sz="900" dirty="0"/>
          </a:p>
        </p:txBody>
      </p:sp>
      <p:sp>
        <p:nvSpPr>
          <p:cNvPr id="40" name="Text 38"/>
          <p:cNvSpPr/>
          <p:nvPr/>
        </p:nvSpPr>
        <p:spPr>
          <a:xfrm>
            <a:off x="7339584" y="3758184"/>
            <a:ext cx="1155192" cy="237744"/>
          </a:xfrm>
          <a:prstGeom prst="rect">
            <a:avLst/>
          </a:prstGeom>
          <a:noFill/>
          <a:ln/>
        </p:spPr>
        <p:txBody>
          <a:bodyPr wrap="square" rtlCol="0" anchor="ctr"/>
          <a:lstStyle/>
          <a:p>
            <a:pPr algn="r" indent="0" marL="0">
              <a:buNone/>
            </a:pPr>
            <a:r>
              <a:rPr lang="en-US" sz="900" b="1" dirty="0">
                <a:solidFill>
                  <a:srgbClr val="EDE6DA"/>
                </a:solidFill>
                <a:latin typeface="Calibri" pitchFamily="34" charset="0"/>
                <a:ea typeface="Calibri" pitchFamily="34" charset="-122"/>
                <a:cs typeface="Calibri" pitchFamily="34" charset="-120"/>
              </a:rPr>
              <a:t>7.16x</a:t>
            </a:r>
            <a:endParaRPr lang="en-US" sz="900" dirty="0"/>
          </a:p>
        </p:txBody>
      </p:sp>
      <p:sp>
        <p:nvSpPr>
          <p:cNvPr id="41" name="Text 39"/>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 $2.0M PRIVATE CASE  ·  CONFIDENTIAL</a:t>
            </a:r>
            <a:endParaRPr lang="en-US" sz="700" dirty="0"/>
          </a:p>
        </p:txBody>
      </p:sp>
      <p:sp>
        <p:nvSpPr>
          <p:cNvPr id="42" name="Text 40"/>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21</a:t>
            </a:r>
            <a:endParaRPr lang="en-US" sz="7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THE ASK</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$2.0M private against a $3.3M SBA loan.</a:t>
            </a:r>
            <a:endParaRPr lang="en-US" sz="2600" dirty="0"/>
          </a:p>
        </p:txBody>
      </p:sp>
      <p:sp>
        <p:nvSpPr>
          <p:cNvPr id="4" name="Shape 2"/>
          <p:cNvSpPr/>
          <p:nvPr/>
        </p:nvSpPr>
        <p:spPr>
          <a:xfrm>
            <a:off x="502920" y="1417320"/>
            <a:ext cx="8138160" cy="2423160"/>
          </a:xfrm>
          <a:prstGeom prst="roundRect">
            <a:avLst>
              <a:gd name="adj" fmla="val 2264"/>
            </a:avLst>
          </a:prstGeom>
          <a:solidFill>
            <a:srgbClr val="241C1A"/>
          </a:solidFill>
          <a:ln w="15875">
            <a:solidFill>
              <a:srgbClr val="C08D7C"/>
            </a:solidFill>
            <a:prstDash val="solid"/>
          </a:ln>
        </p:spPr>
      </p:sp>
      <p:sp>
        <p:nvSpPr>
          <p:cNvPr id="5" name="Text 3"/>
          <p:cNvSpPr/>
          <p:nvPr/>
        </p:nvSpPr>
        <p:spPr>
          <a:xfrm>
            <a:off x="777240" y="1600200"/>
            <a:ext cx="7589520" cy="914400"/>
          </a:xfrm>
          <a:prstGeom prst="rect">
            <a:avLst/>
          </a:prstGeom>
          <a:noFill/>
          <a:ln/>
        </p:spPr>
        <p:txBody>
          <a:bodyPr wrap="square" rtlCol="0" anchor="ctr"/>
          <a:lstStyle/>
          <a:p>
            <a:pPr indent="0" marL="0">
              <a:buNone/>
            </a:pPr>
            <a:r>
              <a:rPr lang="en-US" sz="5200" dirty="0">
                <a:solidFill>
                  <a:srgbClr val="C08D7C"/>
                </a:solidFill>
                <a:latin typeface="Century Gothic" pitchFamily="34" charset="0"/>
                <a:ea typeface="Century Gothic" pitchFamily="34" charset="-122"/>
                <a:cs typeface="Century Gothic" pitchFamily="34" charset="-120"/>
              </a:rPr>
              <a:t>$5.3M</a:t>
            </a:r>
            <a:endParaRPr lang="en-US" sz="5200" dirty="0"/>
          </a:p>
        </p:txBody>
      </p:sp>
      <p:sp>
        <p:nvSpPr>
          <p:cNvPr id="6" name="Text 4"/>
          <p:cNvSpPr/>
          <p:nvPr/>
        </p:nvSpPr>
        <p:spPr>
          <a:xfrm>
            <a:off x="795528" y="2578608"/>
            <a:ext cx="7552944" cy="320040"/>
          </a:xfrm>
          <a:prstGeom prst="rect">
            <a:avLst/>
          </a:prstGeom>
          <a:noFill/>
          <a:ln/>
        </p:spPr>
        <p:txBody>
          <a:bodyPr wrap="square" rtlCol="0" anchor="ctr"/>
          <a:lstStyle/>
          <a:p>
            <a:pPr indent="0" marL="0">
              <a:buNone/>
            </a:pPr>
            <a:r>
              <a:rPr lang="en-US" sz="1150" dirty="0">
                <a:solidFill>
                  <a:srgbClr val="A8A296"/>
                </a:solidFill>
                <a:latin typeface="Calibri" pitchFamily="34" charset="0"/>
                <a:ea typeface="Calibri" pitchFamily="34" charset="-122"/>
                <a:cs typeface="Calibri" pitchFamily="34" charset="-120"/>
              </a:rPr>
              <a:t>Everything in the ample case, plus one accredited office-based surgery suite.</a:t>
            </a:r>
            <a:endParaRPr lang="en-US" sz="1150" dirty="0"/>
          </a:p>
        </p:txBody>
      </p:sp>
      <p:sp>
        <p:nvSpPr>
          <p:cNvPr id="7" name="Text 5"/>
          <p:cNvSpPr/>
          <p:nvPr/>
        </p:nvSpPr>
        <p:spPr>
          <a:xfrm>
            <a:off x="795528" y="3054096"/>
            <a:ext cx="1778508" cy="274320"/>
          </a:xfrm>
          <a:prstGeom prst="rect">
            <a:avLst/>
          </a:prstGeom>
          <a:noFill/>
          <a:ln/>
        </p:spPr>
        <p:txBody>
          <a:bodyPr wrap="square" rtlCol="0" anchor="t"/>
          <a:lstStyle/>
          <a:p>
            <a:pPr indent="0" marL="0">
              <a:buNone/>
            </a:pPr>
            <a:r>
              <a:rPr lang="en-US" sz="700" spc="140" kern="0" dirty="0">
                <a:solidFill>
                  <a:srgbClr val="6E6A62"/>
                </a:solidFill>
                <a:latin typeface="Century Gothic" pitchFamily="34" charset="0"/>
                <a:ea typeface="Century Gothic" pitchFamily="34" charset="-122"/>
                <a:cs typeface="Century Gothic" pitchFamily="34" charset="-120"/>
              </a:rPr>
              <a:t>PRIVATE INVESTMENT</a:t>
            </a:r>
            <a:endParaRPr lang="en-US" sz="700" dirty="0"/>
          </a:p>
        </p:txBody>
      </p:sp>
      <p:sp>
        <p:nvSpPr>
          <p:cNvPr id="8" name="Text 6"/>
          <p:cNvSpPr/>
          <p:nvPr/>
        </p:nvSpPr>
        <p:spPr>
          <a:xfrm>
            <a:off x="795528" y="3364992"/>
            <a:ext cx="1778508" cy="292608"/>
          </a:xfrm>
          <a:prstGeom prst="rect">
            <a:avLst/>
          </a:prstGeom>
          <a:noFill/>
          <a:ln/>
        </p:spPr>
        <p:txBody>
          <a:bodyPr wrap="square" rtlCol="0" anchor="ctr"/>
          <a:lstStyle/>
          <a:p>
            <a:pPr indent="0" marL="0">
              <a:buNone/>
            </a:pPr>
            <a:r>
              <a:rPr lang="en-US" sz="1400" dirty="0">
                <a:solidFill>
                  <a:srgbClr val="EDE6DA"/>
                </a:solidFill>
                <a:latin typeface="Century Gothic" pitchFamily="34" charset="0"/>
                <a:ea typeface="Century Gothic" pitchFamily="34" charset="-122"/>
                <a:cs typeface="Century Gothic" pitchFamily="34" charset="-120"/>
              </a:rPr>
              <a:t>$2,000,000</a:t>
            </a:r>
            <a:endParaRPr lang="en-US" sz="1400" dirty="0"/>
          </a:p>
        </p:txBody>
      </p:sp>
      <p:sp>
        <p:nvSpPr>
          <p:cNvPr id="9" name="Text 7"/>
          <p:cNvSpPr/>
          <p:nvPr/>
        </p:nvSpPr>
        <p:spPr>
          <a:xfrm>
            <a:off x="2683764" y="3054096"/>
            <a:ext cx="1778508" cy="274320"/>
          </a:xfrm>
          <a:prstGeom prst="rect">
            <a:avLst/>
          </a:prstGeom>
          <a:noFill/>
          <a:ln/>
        </p:spPr>
        <p:txBody>
          <a:bodyPr wrap="square" rtlCol="0" anchor="t"/>
          <a:lstStyle/>
          <a:p>
            <a:pPr indent="0" marL="0">
              <a:buNone/>
            </a:pPr>
            <a:r>
              <a:rPr lang="en-US" sz="700" spc="140" kern="0" dirty="0">
                <a:solidFill>
                  <a:srgbClr val="6E6A62"/>
                </a:solidFill>
                <a:latin typeface="Century Gothic" pitchFamily="34" charset="0"/>
                <a:ea typeface="Century Gothic" pitchFamily="34" charset="-122"/>
                <a:cs typeface="Century Gothic" pitchFamily="34" charset="-120"/>
              </a:rPr>
              <a:t>SHARE OF PROJECT</a:t>
            </a:r>
            <a:endParaRPr lang="en-US" sz="700" dirty="0"/>
          </a:p>
        </p:txBody>
      </p:sp>
      <p:sp>
        <p:nvSpPr>
          <p:cNvPr id="10" name="Text 8"/>
          <p:cNvSpPr/>
          <p:nvPr/>
        </p:nvSpPr>
        <p:spPr>
          <a:xfrm>
            <a:off x="2683764" y="3364992"/>
            <a:ext cx="1778508" cy="292608"/>
          </a:xfrm>
          <a:prstGeom prst="rect">
            <a:avLst/>
          </a:prstGeom>
          <a:noFill/>
          <a:ln/>
        </p:spPr>
        <p:txBody>
          <a:bodyPr wrap="square" rtlCol="0" anchor="ctr"/>
          <a:lstStyle/>
          <a:p>
            <a:pPr indent="0" marL="0">
              <a:buNone/>
            </a:pPr>
            <a:r>
              <a:rPr lang="en-US" sz="1400" dirty="0">
                <a:solidFill>
                  <a:srgbClr val="EDE6DA"/>
                </a:solidFill>
                <a:latin typeface="Century Gothic" pitchFamily="34" charset="0"/>
                <a:ea typeface="Century Gothic" pitchFamily="34" charset="-122"/>
                <a:cs typeface="Century Gothic" pitchFamily="34" charset="-120"/>
              </a:rPr>
              <a:t>38%</a:t>
            </a:r>
            <a:endParaRPr lang="en-US" sz="1400" dirty="0"/>
          </a:p>
        </p:txBody>
      </p:sp>
      <p:sp>
        <p:nvSpPr>
          <p:cNvPr id="11" name="Text 9"/>
          <p:cNvSpPr/>
          <p:nvPr/>
        </p:nvSpPr>
        <p:spPr>
          <a:xfrm>
            <a:off x="4572000" y="3054096"/>
            <a:ext cx="1778508" cy="274320"/>
          </a:xfrm>
          <a:prstGeom prst="rect">
            <a:avLst/>
          </a:prstGeom>
          <a:noFill/>
          <a:ln/>
        </p:spPr>
        <p:txBody>
          <a:bodyPr wrap="square" rtlCol="0" anchor="t"/>
          <a:lstStyle/>
          <a:p>
            <a:pPr indent="0" marL="0">
              <a:buNone/>
            </a:pPr>
            <a:r>
              <a:rPr lang="en-US" sz="700" spc="140" kern="0" dirty="0">
                <a:solidFill>
                  <a:srgbClr val="6E6A62"/>
                </a:solidFill>
                <a:latin typeface="Century Gothic" pitchFamily="34" charset="0"/>
                <a:ea typeface="Century Gothic" pitchFamily="34" charset="-122"/>
                <a:cs typeface="Century Gothic" pitchFamily="34" charset="-120"/>
              </a:rPr>
              <a:t>SBA 7(A) LOAN</a:t>
            </a:r>
            <a:endParaRPr lang="en-US" sz="700" dirty="0"/>
          </a:p>
        </p:txBody>
      </p:sp>
      <p:sp>
        <p:nvSpPr>
          <p:cNvPr id="12" name="Text 10"/>
          <p:cNvSpPr/>
          <p:nvPr/>
        </p:nvSpPr>
        <p:spPr>
          <a:xfrm>
            <a:off x="4572000" y="3364992"/>
            <a:ext cx="1778508" cy="292608"/>
          </a:xfrm>
          <a:prstGeom prst="rect">
            <a:avLst/>
          </a:prstGeom>
          <a:noFill/>
          <a:ln/>
        </p:spPr>
        <p:txBody>
          <a:bodyPr wrap="square" rtlCol="0" anchor="ctr"/>
          <a:lstStyle/>
          <a:p>
            <a:pPr indent="0" marL="0">
              <a:buNone/>
            </a:pPr>
            <a:r>
              <a:rPr lang="en-US" sz="1400" dirty="0">
                <a:solidFill>
                  <a:srgbClr val="EDE6DA"/>
                </a:solidFill>
                <a:latin typeface="Century Gothic" pitchFamily="34" charset="0"/>
                <a:ea typeface="Century Gothic" pitchFamily="34" charset="-122"/>
                <a:cs typeface="Century Gothic" pitchFamily="34" charset="-120"/>
              </a:rPr>
              <a:t>$3,300,000</a:t>
            </a:r>
            <a:endParaRPr lang="en-US" sz="1400" dirty="0"/>
          </a:p>
        </p:txBody>
      </p:sp>
      <p:sp>
        <p:nvSpPr>
          <p:cNvPr id="13" name="Text 11"/>
          <p:cNvSpPr/>
          <p:nvPr/>
        </p:nvSpPr>
        <p:spPr>
          <a:xfrm>
            <a:off x="6460236" y="3054096"/>
            <a:ext cx="1778508" cy="274320"/>
          </a:xfrm>
          <a:prstGeom prst="rect">
            <a:avLst/>
          </a:prstGeom>
          <a:noFill/>
          <a:ln/>
        </p:spPr>
        <p:txBody>
          <a:bodyPr wrap="square" rtlCol="0" anchor="t"/>
          <a:lstStyle/>
          <a:p>
            <a:pPr indent="0" marL="0">
              <a:buNone/>
            </a:pPr>
            <a:r>
              <a:rPr lang="en-US" sz="700" spc="140" kern="0" dirty="0">
                <a:solidFill>
                  <a:srgbClr val="6E6A62"/>
                </a:solidFill>
                <a:latin typeface="Century Gothic" pitchFamily="34" charset="0"/>
                <a:ea typeface="Century Gothic" pitchFamily="34" charset="-122"/>
                <a:cs typeface="Century Gothic" pitchFamily="34" charset="-120"/>
              </a:rPr>
              <a:t>FOOTPRINT</a:t>
            </a:r>
            <a:endParaRPr lang="en-US" sz="700" dirty="0"/>
          </a:p>
        </p:txBody>
      </p:sp>
      <p:sp>
        <p:nvSpPr>
          <p:cNvPr id="14" name="Text 12"/>
          <p:cNvSpPr/>
          <p:nvPr/>
        </p:nvSpPr>
        <p:spPr>
          <a:xfrm>
            <a:off x="6460236" y="3364992"/>
            <a:ext cx="1778508" cy="292608"/>
          </a:xfrm>
          <a:prstGeom prst="rect">
            <a:avLst/>
          </a:prstGeom>
          <a:noFill/>
          <a:ln/>
        </p:spPr>
        <p:txBody>
          <a:bodyPr wrap="square" rtlCol="0" anchor="ctr"/>
          <a:lstStyle/>
          <a:p>
            <a:pPr indent="0" marL="0">
              <a:buNone/>
            </a:pPr>
            <a:r>
              <a:rPr lang="en-US" sz="1400" dirty="0">
                <a:solidFill>
                  <a:srgbClr val="EDE6DA"/>
                </a:solidFill>
                <a:latin typeface="Century Gothic" pitchFamily="34" charset="0"/>
                <a:ea typeface="Century Gothic" pitchFamily="34" charset="-122"/>
                <a:cs typeface="Century Gothic" pitchFamily="34" charset="-120"/>
              </a:rPr>
              <a:t>5,825 SF</a:t>
            </a:r>
            <a:endParaRPr lang="en-US" sz="1400" dirty="0"/>
          </a:p>
        </p:txBody>
      </p:sp>
      <p:sp>
        <p:nvSpPr>
          <p:cNvPr id="15" name="Text 13"/>
          <p:cNvSpPr/>
          <p:nvPr/>
        </p:nvSpPr>
        <p:spPr>
          <a:xfrm>
            <a:off x="502920" y="4041648"/>
            <a:ext cx="8138160" cy="411480"/>
          </a:xfrm>
          <a:prstGeom prst="rect">
            <a:avLst/>
          </a:prstGeom>
          <a:noFill/>
          <a:ln/>
        </p:spPr>
        <p:txBody>
          <a:bodyPr wrap="square" rtlCol="0" anchor="ctr"/>
          <a:lstStyle/>
          <a:p>
            <a:pPr indent="0" marL="0">
              <a:lnSpc>
                <a:spcPct val="115000"/>
              </a:lnSpc>
              <a:buNone/>
            </a:pPr>
            <a:r>
              <a:rPr lang="en-US" sz="900" dirty="0">
                <a:solidFill>
                  <a:srgbClr val="6E6A62"/>
                </a:solidFill>
                <a:latin typeface="Calibri" pitchFamily="34" charset="0"/>
                <a:ea typeface="Calibri" pitchFamily="34" charset="-122"/>
                <a:cs typeface="Calibri" pitchFamily="34" charset="-120"/>
              </a:rPr>
              <a:t>Project cost is unchanged. The private raise replaces the minimum equity injection, so the SBA 7(a) loan shrinks to fill the rest. Less debt against the same operating income is what lifts stabilized coverage to 4.01x.</a:t>
            </a:r>
            <a:endParaRPr lang="en-US" sz="900" dirty="0"/>
          </a:p>
        </p:txBody>
      </p:sp>
      <p:sp>
        <p:nvSpPr>
          <p:cNvPr id="16" name="Text 14"/>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 $2.0M PRIVATE CASE  ·  CONFIDENTIAL</a:t>
            </a:r>
            <a:endParaRPr lang="en-US" sz="700" dirty="0"/>
          </a:p>
        </p:txBody>
      </p:sp>
      <p:sp>
        <p:nvSpPr>
          <p:cNvPr id="17" name="Text 15"/>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22</a:t>
            </a:r>
            <a:endParaRPr lang="en-US" sz="7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USE OF FUNDS</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Where the $5.3M goes.</a:t>
            </a:r>
            <a:endParaRPr lang="en-US" sz="2600" dirty="0"/>
          </a:p>
        </p:txBody>
      </p:sp>
      <p:sp>
        <p:nvSpPr>
          <p:cNvPr id="4" name="Text 2"/>
          <p:cNvSpPr/>
          <p:nvPr/>
        </p:nvSpPr>
        <p:spPr>
          <a:xfrm>
            <a:off x="502920" y="1097280"/>
            <a:ext cx="8138160" cy="457200"/>
          </a:xfrm>
          <a:prstGeom prst="rect">
            <a:avLst/>
          </a:prstGeom>
          <a:noFill/>
          <a:ln/>
        </p:spPr>
        <p:txBody>
          <a:bodyPr wrap="square" rtlCol="0" anchor="t"/>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The working capital and debt service reserve is sized against the modeled cash trough of $826,964 at month 12, not to a round number.</a:t>
            </a:r>
            <a:endParaRPr lang="en-US" sz="115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02920" y="1691640"/>
          <a:ext cx="8138160" cy="914400"/>
        </p:xfrm>
        <a:graphic>
          <a:graphicData uri="http://schemas.openxmlformats.org/drawingml/2006/table">
            <a:tbl>
              <a:tblPr/>
              <a:tblGrid>
                <a:gridCol w="4937760"/>
                <a:gridCol w="1600200"/>
                <a:gridCol w="1600200"/>
              </a:tblGrid>
              <a:tr h="182880">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Use of funds</a:t>
                      </a:r>
                      <a:endParaRPr lang="en-US" sz="850" dirty="0">
                        <a:latin typeface="Century Gothic" charset="0"/>
                        <a:ea typeface="Century Gothic" charset="0"/>
                        <a:cs typeface="Century Gothic"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Amount</a:t>
                      </a:r>
                      <a:endParaRPr lang="en-US" sz="850" dirty="0">
                        <a:latin typeface="Century Gothic" charset="0"/>
                        <a:ea typeface="Century Gothic" charset="0"/>
                        <a:cs typeface="Century Gothic"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 of project</a:t>
                      </a:r>
                      <a:endParaRPr lang="en-US" sz="850" dirty="0">
                        <a:latin typeface="Century Gothic" charset="0"/>
                        <a:ea typeface="Century Gothic" charset="0"/>
                        <a:cs typeface="Century Gothic"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18288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Buildout and tenant improvements (4,925 SF clinic and club @ $250/SF)</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$1,231,250</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23%</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Surgical suite buildout (900 SF @ $320/SF, OR-grade HVAC and finishes)</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$288,000</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5%</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Medical gas, emergency power, life-safety branch for the suite</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$100,000</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2%</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Wet areas: 2 saunas, 2 plunges, steam, drainage, ventilation</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$465,000</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9%</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Medical and aesthetic equipment (purchased)</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$450,000</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8%</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Surgical capital equipment (balance leased)</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$200,000</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4%</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Recovery technology: HBOT purchased, Ammortal deposit</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$165,950</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3%</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GE iDXA bone densitometer, purchased</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$25,000</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0%</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FF&amp;E, lounge, millwork, retail</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$400,000</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8%</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Pre-opening: licensing, legal, insurance, hiring, transfer agreement</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$310,000</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6%</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Accreditation: Quad A survey, policies, QA/PI program, staff training</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$110,000</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2%</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Brand, launch, founding member campaign</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$200,000</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4%</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Working capital and debt service reserve</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$1,354,800</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26%</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850" b="1" dirty="0">
                          <a:solidFill>
                            <a:srgbClr val="C08D7C"/>
                          </a:solidFill>
                          <a:latin typeface="Calibri" pitchFamily="34" charset="0"/>
                          <a:ea typeface="Calibri" pitchFamily="34" charset="-122"/>
                          <a:cs typeface="Calibri" pitchFamily="34" charset="-120"/>
                        </a:rPr>
                        <a:t>Total project cost</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850" b="1" dirty="0">
                          <a:solidFill>
                            <a:srgbClr val="C08D7C"/>
                          </a:solidFill>
                          <a:latin typeface="Calibri" pitchFamily="34" charset="0"/>
                          <a:ea typeface="Calibri" pitchFamily="34" charset="-122"/>
                          <a:cs typeface="Calibri" pitchFamily="34" charset="-120"/>
                        </a:rPr>
                        <a:t>$5,300,000</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850" b="1" dirty="0">
                          <a:solidFill>
                            <a:srgbClr val="C08D7C"/>
                          </a:solidFill>
                          <a:latin typeface="Calibri" pitchFamily="34" charset="0"/>
                          <a:ea typeface="Calibri" pitchFamily="34" charset="-122"/>
                          <a:cs typeface="Calibri" pitchFamily="34" charset="-120"/>
                        </a:rPr>
                        <a:t>100%</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bl>
          </a:graphicData>
        </a:graphic>
      </p:graphicFrame>
      <p:sp>
        <p:nvSpPr>
          <p:cNvPr id="6" name="Text 3"/>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 $2.0M PRIVATE CASE  ·  CONFIDENTIAL</a:t>
            </a:r>
            <a:endParaRPr lang="en-US" sz="700" dirty="0"/>
          </a:p>
        </p:txBody>
      </p:sp>
      <p:sp>
        <p:nvSpPr>
          <p:cNvPr id="7" name="Text 4"/>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23</a:t>
            </a:r>
            <a:endParaRPr lang="en-US" sz="7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SBA PACKAGE</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Structured to the actual rule.</a:t>
            </a:r>
            <a:endParaRPr lang="en-US" sz="26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02920" y="1371600"/>
          <a:ext cx="4023360" cy="914400"/>
        </p:xfrm>
        <a:graphic>
          <a:graphicData uri="http://schemas.openxmlformats.org/drawingml/2006/table">
            <a:tbl>
              <a:tblPr/>
              <a:tblGrid>
                <a:gridCol w="2514600"/>
                <a:gridCol w="1508760"/>
              </a:tblGrid>
              <a:tr h="205740">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Loan structure</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Value</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20574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Total project cost</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$5,300,000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0574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Private investment</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$2,000,000  (38%)</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0574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SBA 7(a) loan</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$3,300,000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0574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Assumed rate</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9.5% (Prime + 2.75%)</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0574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Term</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10 years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0574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Interest-only period</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18 months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0574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Payment during interest-only</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$26,125 /mo</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0574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Payment once amortizing</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$47,276 /mo</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0574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Working capital and reserve</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$1,354,800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bl>
          </a:graphicData>
        </a:graphic>
      </p:graphicFrame>
      <p:graphicFrame>
        <p:nvGraphicFramePr>
          <p:cNvPr id="49" name="Table 1"/>
          <p:cNvGraphicFramePr>
            <a:graphicFrameLocks noGrp="1"/>
          </p:cNvGraphicFramePr>
          <p:nvPr>
            <p:extLst>
              <p:ext uri="{D42A27DB-BD31-4B8C-83A1-F6EECF244321}">
                <p14:modId xmlns:p14="http://schemas.microsoft.com/office/powerpoint/2010/main" val="1579011935"/>
              </p:ext>
            </p:extLst>
          </p:nvPr>
        </p:nvGraphicFramePr>
        <p:xfrm>
          <a:off x="4800600" y="1371600"/>
          <a:ext cx="3840480" cy="914400"/>
        </p:xfrm>
        <a:graphic>
          <a:graphicData uri="http://schemas.openxmlformats.org/drawingml/2006/table">
            <a:tbl>
              <a:tblPr/>
              <a:tblGrid>
                <a:gridCol w="731520"/>
                <a:gridCol w="1188720"/>
                <a:gridCol w="1143000"/>
                <a:gridCol w="777240"/>
              </a:tblGrid>
              <a:tr h="237744">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Year</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Operating</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Debt service</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DSCR</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23774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Year 1</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-$1,131,837</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$235,128</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-4.81x</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3774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Year 2</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$1,532,775</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$440,406</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b="1" dirty="0">
                          <a:solidFill>
                            <a:srgbClr val="C08D7C"/>
                          </a:solidFill>
                          <a:latin typeface="Calibri" pitchFamily="34" charset="0"/>
                          <a:ea typeface="Calibri" pitchFamily="34" charset="-122"/>
                          <a:cs typeface="Calibri" pitchFamily="34" charset="-120"/>
                        </a:rPr>
                        <a:t>3.48x</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r h="23774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Year 3</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$2,213,843</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$567,312</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b="1" dirty="0">
                          <a:solidFill>
                            <a:srgbClr val="C08D7C"/>
                          </a:solidFill>
                          <a:latin typeface="Calibri" pitchFamily="34" charset="0"/>
                          <a:ea typeface="Calibri" pitchFamily="34" charset="-122"/>
                          <a:cs typeface="Calibri" pitchFamily="34" charset="-120"/>
                        </a:rPr>
                        <a:t>3.90x</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r h="237744">
                <a:tc>
                  <a:txBody>
                    <a:bodyPr/>
                    <a:lstStyle/>
                    <a:p>
                      <a:pPr algn="l" indent="0" marL="0">
                        <a:buNone/>
                      </a:pPr>
                      <a:r>
                        <a:rPr lang="en-US" sz="950" b="1" dirty="0">
                          <a:solidFill>
                            <a:srgbClr val="C08D7C"/>
                          </a:solidFill>
                          <a:latin typeface="Calibri" pitchFamily="34" charset="0"/>
                          <a:ea typeface="Calibri" pitchFamily="34" charset="-122"/>
                          <a:cs typeface="Calibri" pitchFamily="34" charset="-120"/>
                        </a:rPr>
                        <a:t>Stabilized</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950" b="1" dirty="0">
                          <a:solidFill>
                            <a:srgbClr val="C08D7C"/>
                          </a:solidFill>
                          <a:latin typeface="Calibri" pitchFamily="34" charset="0"/>
                          <a:ea typeface="Calibri" pitchFamily="34" charset="-122"/>
                          <a:cs typeface="Calibri" pitchFamily="34" charset="-120"/>
                        </a:rPr>
                        <a:t>$2,274,497</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950" b="1" dirty="0">
                          <a:solidFill>
                            <a:srgbClr val="C08D7C"/>
                          </a:solidFill>
                          <a:latin typeface="Calibri" pitchFamily="34" charset="0"/>
                          <a:ea typeface="Calibri" pitchFamily="34" charset="-122"/>
                          <a:cs typeface="Calibri" pitchFamily="34" charset="-120"/>
                        </a:rPr>
                        <a:t>$567,310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950" b="1" dirty="0">
                          <a:solidFill>
                            <a:srgbClr val="C08D7C"/>
                          </a:solidFill>
                          <a:latin typeface="Calibri" pitchFamily="34" charset="0"/>
                          <a:ea typeface="Calibri" pitchFamily="34" charset="-122"/>
                          <a:cs typeface="Calibri" pitchFamily="34" charset="-120"/>
                        </a:rPr>
                        <a:t>4.01x</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bl>
          </a:graphicData>
        </a:graphic>
      </p:graphicFrame>
      <p:sp>
        <p:nvSpPr>
          <p:cNvPr id="6" name="Text 2"/>
          <p:cNvSpPr/>
          <p:nvPr/>
        </p:nvSpPr>
        <p:spPr>
          <a:xfrm>
            <a:off x="4800600" y="2788920"/>
            <a:ext cx="3977640" cy="274320"/>
          </a:xfrm>
          <a:prstGeom prst="rect">
            <a:avLst/>
          </a:prstGeom>
          <a:noFill/>
          <a:ln/>
        </p:spPr>
        <p:txBody>
          <a:bodyPr wrap="square" rtlCol="0" anchor="ctr"/>
          <a:lstStyle/>
          <a:p>
            <a:pPr indent="0" marL="0">
              <a:buNone/>
            </a:pPr>
            <a:r>
              <a:rPr lang="en-US" sz="900" dirty="0">
                <a:solidFill>
                  <a:srgbClr val="A8A296"/>
                </a:solidFill>
                <a:latin typeface="Calibri" pitchFamily="34" charset="0"/>
                <a:ea typeface="Calibri" pitchFamily="34" charset="-122"/>
                <a:cs typeface="Calibri" pitchFamily="34" charset="-120"/>
              </a:rPr>
              <a:t>Rate sensitivity: 4.01x at 9.5%   ·   3.86x at 10.5%   ·   3.73x at 11.5%</a:t>
            </a:r>
            <a:endParaRPr lang="en-US" sz="900" dirty="0"/>
          </a:p>
        </p:txBody>
      </p:sp>
      <p:sp>
        <p:nvSpPr>
          <p:cNvPr id="7" name="Text 3"/>
          <p:cNvSpPr/>
          <p:nvPr/>
        </p:nvSpPr>
        <p:spPr>
          <a:xfrm>
            <a:off x="502920" y="3794760"/>
            <a:ext cx="8138160" cy="777240"/>
          </a:xfrm>
          <a:prstGeom prst="rect">
            <a:avLst/>
          </a:prstGeom>
          <a:noFill/>
          <a:ln/>
        </p:spPr>
        <p:txBody>
          <a:bodyPr wrap="square" rtlCol="0" anchor="ctr"/>
          <a:lstStyle/>
          <a:p>
            <a:pPr indent="0" marL="0">
              <a:lnSpc>
                <a:spcPct val="120000"/>
              </a:lnSpc>
              <a:buNone/>
            </a:pPr>
            <a:r>
              <a:rPr lang="en-US" sz="800" dirty="0">
                <a:solidFill>
                  <a:srgbClr val="6E6A62"/>
                </a:solidFill>
                <a:latin typeface="Calibri" pitchFamily="34" charset="0"/>
                <a:ea typeface="Calibri" pitchFamily="34" charset="-122"/>
                <a:cs typeface="Calibri" pitchFamily="34" charset="-120"/>
              </a:rPr>
              <a:t>SBA 7(a) caps at a $5,000,000 loan; SBA maximum guarantee exposure is $3,750,000. SOP 50 10 8 requires a minimum 10% equity injection for a startup, and lenders routinely require more of a business with no operating history. An unconditional personal guaranty is required from any owner holding 20% or more. The 1.25x coverage threshold is prevailing lender underwriting convention, not an SBA regulation.</a:t>
            </a:r>
            <a:endParaRPr lang="en-US" sz="800" dirty="0"/>
          </a:p>
        </p:txBody>
      </p:sp>
      <p:sp>
        <p:nvSpPr>
          <p:cNvPr id="8" name="Text 4"/>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 $2.0M PRIVATE CASE  ·  CONFIDENTIAL</a:t>
            </a:r>
            <a:endParaRPr lang="en-US" sz="700" dirty="0"/>
          </a:p>
        </p:txBody>
      </p:sp>
      <p:sp>
        <p:nvSpPr>
          <p:cNvPr id="9" name="Text 5"/>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24</a:t>
            </a:r>
            <a:endParaRPr lang="en-US" sz="7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DISCLOSURES</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What we are flagging before you ask.</a:t>
            </a:r>
            <a:endParaRPr lang="en-US" sz="2600" dirty="0"/>
          </a:p>
        </p:txBody>
      </p:sp>
      <p:sp>
        <p:nvSpPr>
          <p:cNvPr id="4" name="Text 2"/>
          <p:cNvSpPr/>
          <p:nvPr/>
        </p:nvSpPr>
        <p:spPr>
          <a:xfrm>
            <a:off x="502920" y="1417320"/>
            <a:ext cx="8138160" cy="3108960"/>
          </a:xfrm>
          <a:prstGeom prst="rect">
            <a:avLst/>
          </a:prstGeom>
          <a:noFill/>
          <a:ln/>
        </p:spPr>
        <p:txBody>
          <a:bodyPr wrap="square" rtlCol="0" anchor="ctr"/>
          <a:lstStyle/>
          <a:p>
            <a:pPr marL="342900" indent="-342900">
              <a:lnSpc>
                <a:spcPct val="135000"/>
              </a:lnSpc>
              <a:buSzPct val="100000"/>
              <a:buChar char="•"/>
            </a:pPr>
            <a:r>
              <a:rPr lang="en-US" sz="1050" dirty="0">
                <a:solidFill>
                  <a:srgbClr val="A8A296"/>
                </a:solidFill>
                <a:latin typeface="Calibri" pitchFamily="34" charset="0"/>
                <a:ea typeface="Calibri" pitchFamily="34" charset="-122"/>
                <a:cs typeface="Calibri" pitchFamily="34" charset="-120"/>
              </a:rPr>
              <a:t>Year 1 operating income is negative. Six of those months are construction and the rest are the opening ramp. Debt service is interest-only for the first 18 months, and the $1,354,800 reserve inside use of funds is sized against a modeled cash trough of $826,964 at month 12.</a:t>
            </a:r>
            <a:endParaRPr lang="en-US" sz="1050" dirty="0"/>
          </a:p>
          <a:p>
            <a:pPr marL="342900" indent="-342900">
              <a:lnSpc>
                <a:spcPct val="135000"/>
              </a:lnSpc>
              <a:buSzPct val="100000"/>
              <a:buChar char="•"/>
            </a:pPr>
            <a:r>
              <a:rPr lang="en-US" sz="1050" dirty="0">
                <a:solidFill>
                  <a:srgbClr val="A8A296"/>
                </a:solidFill>
                <a:latin typeface="Calibri" pitchFamily="34" charset="0"/>
                <a:ea typeface="Calibri" pitchFamily="34" charset="-122"/>
                <a:cs typeface="Calibri" pitchFamily="34" charset="-120"/>
              </a:rPr>
              <a:t>Year 2 coverage of 3.48x already clears the 1.25x convention, before the business reaches stabilization.</a:t>
            </a:r>
            <a:endParaRPr lang="en-US" sz="1050" dirty="0"/>
          </a:p>
          <a:p>
            <a:pPr marL="342900" indent="-342900">
              <a:lnSpc>
                <a:spcPct val="135000"/>
              </a:lnSpc>
              <a:buSzPct val="100000"/>
              <a:buChar char="•"/>
            </a:pPr>
            <a:r>
              <a:rPr lang="en-US" sz="1050" dirty="0">
                <a:solidFill>
                  <a:srgbClr val="A8A296"/>
                </a:solidFill>
                <a:latin typeface="Calibri" pitchFamily="34" charset="0"/>
                <a:ea typeface="Calibri" pitchFamily="34" charset="-122"/>
                <a:cs typeface="Calibri" pitchFamily="34" charset="-120"/>
              </a:rPr>
              <a:t>Rate sensitivity: stabilized coverage runs 4.01x at 9.5%, 3.86x at 10.5%, 3.73x at 11.5%. Coverage holds above 1.25x even 200 basis points above the assumed rate.</a:t>
            </a:r>
            <a:endParaRPr lang="en-US" sz="1050" dirty="0"/>
          </a:p>
          <a:p>
            <a:pPr marL="342900" indent="-342900">
              <a:lnSpc>
                <a:spcPct val="135000"/>
              </a:lnSpc>
              <a:buSzPct val="100000"/>
              <a:buChar char="•"/>
            </a:pPr>
            <a:r>
              <a:rPr lang="en-US" sz="1050" dirty="0">
                <a:solidFill>
                  <a:srgbClr val="A8A296"/>
                </a:solidFill>
                <a:latin typeface="Calibri" pitchFamily="34" charset="0"/>
                <a:ea typeface="Calibri" pitchFamily="34" charset="-122"/>
                <a:cs typeface="Calibri" pitchFamily="34" charset="-120"/>
              </a:rPr>
              <a:t>The 18-month interest-only period compresses amortization into the remaining 102 months, raising the eventual payment. It buys ramp-year survivability at the cost of stabilized coverage, and both effects are reflected in the figures above.</a:t>
            </a:r>
            <a:endParaRPr lang="en-US" sz="1050" dirty="0"/>
          </a:p>
          <a:p>
            <a:pPr marL="342900" indent="-342900">
              <a:lnSpc>
                <a:spcPct val="135000"/>
              </a:lnSpc>
              <a:buSzPct val="100000"/>
              <a:buChar char="•"/>
            </a:pPr>
            <a:r>
              <a:rPr lang="en-US" sz="1050" dirty="0">
                <a:solidFill>
                  <a:srgbClr val="A8A296"/>
                </a:solidFill>
                <a:latin typeface="Calibri" pitchFamily="34" charset="0"/>
                <a:ea typeface="Calibri" pitchFamily="34" charset="-122"/>
                <a:cs typeface="Calibri" pitchFamily="34" charset="-120"/>
              </a:rPr>
              <a:t>All forward-looking figures are projections on the stated assumptions and are not guarantees. Market and demographic figures carry their sources; anything unsourced was cut rather than estimated.</a:t>
            </a:r>
            <a:endParaRPr lang="en-US" sz="1050" dirty="0"/>
          </a:p>
        </p:txBody>
      </p:sp>
      <p:sp>
        <p:nvSpPr>
          <p:cNvPr id="5" name="Text 3"/>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 $2.0M PRIVATE CASE  ·  CONFIDENTIAL</a:t>
            </a:r>
            <a:endParaRPr lang="en-US" sz="700" dirty="0"/>
          </a:p>
        </p:txBody>
      </p:sp>
      <p:sp>
        <p:nvSpPr>
          <p:cNvPr id="6" name="Text 4"/>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25</a:t>
            </a:r>
            <a:endParaRPr lang="en-US" sz="7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TIMELINE</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From signature to stabilization.</a:t>
            </a:r>
            <a:endParaRPr lang="en-US" sz="2600" dirty="0"/>
          </a:p>
        </p:txBody>
      </p:sp>
      <p:sp>
        <p:nvSpPr>
          <p:cNvPr id="4" name="Shape 2"/>
          <p:cNvSpPr/>
          <p:nvPr/>
        </p:nvSpPr>
        <p:spPr>
          <a:xfrm>
            <a:off x="502920" y="1600200"/>
            <a:ext cx="1525219" cy="25603"/>
          </a:xfrm>
          <a:prstGeom prst="rect">
            <a:avLst/>
          </a:prstGeom>
          <a:solidFill>
            <a:srgbClr val="2E4237"/>
          </a:solidFill>
          <a:ln w="12700">
            <a:solidFill>
              <a:srgbClr val="2E4237"/>
            </a:solidFill>
            <a:prstDash val="solid"/>
          </a:ln>
        </p:spPr>
      </p:sp>
      <p:sp>
        <p:nvSpPr>
          <p:cNvPr id="5" name="Shape 3"/>
          <p:cNvSpPr/>
          <p:nvPr/>
        </p:nvSpPr>
        <p:spPr>
          <a:xfrm>
            <a:off x="502920" y="1563624"/>
            <a:ext cx="100584" cy="100584"/>
          </a:xfrm>
          <a:prstGeom prst="ellipse">
            <a:avLst/>
          </a:prstGeom>
          <a:solidFill>
            <a:srgbClr val="C08D7C"/>
          </a:solidFill>
          <a:ln w="12700">
            <a:solidFill>
              <a:srgbClr val="C08D7C"/>
            </a:solidFill>
            <a:prstDash val="solid"/>
          </a:ln>
        </p:spPr>
      </p:sp>
      <p:sp>
        <p:nvSpPr>
          <p:cNvPr id="6" name="Text 4"/>
          <p:cNvSpPr/>
          <p:nvPr/>
        </p:nvSpPr>
        <p:spPr>
          <a:xfrm>
            <a:off x="502920" y="1755648"/>
            <a:ext cx="1525219" cy="182880"/>
          </a:xfrm>
          <a:prstGeom prst="rect">
            <a:avLst/>
          </a:prstGeom>
          <a:noFill/>
          <a:ln/>
        </p:spPr>
        <p:txBody>
          <a:bodyPr wrap="square" rtlCol="0" anchor="ctr"/>
          <a:lstStyle/>
          <a:p>
            <a:pPr indent="0" marL="0">
              <a:buNone/>
            </a:pPr>
            <a:r>
              <a:rPr lang="en-US" sz="750" spc="160" kern="0" dirty="0">
                <a:solidFill>
                  <a:srgbClr val="C08D7C"/>
                </a:solidFill>
                <a:latin typeface="Century Gothic" pitchFamily="34" charset="0"/>
                <a:ea typeface="Century Gothic" pitchFamily="34" charset="-122"/>
                <a:cs typeface="Century Gothic" pitchFamily="34" charset="-120"/>
              </a:rPr>
              <a:t>MONTH 0–3</a:t>
            </a:r>
            <a:endParaRPr lang="en-US" sz="750" dirty="0"/>
          </a:p>
        </p:txBody>
      </p:sp>
      <p:sp>
        <p:nvSpPr>
          <p:cNvPr id="7" name="Text 5"/>
          <p:cNvSpPr/>
          <p:nvPr/>
        </p:nvSpPr>
        <p:spPr>
          <a:xfrm>
            <a:off x="502920" y="1938528"/>
            <a:ext cx="1525219" cy="237744"/>
          </a:xfrm>
          <a:prstGeom prst="rect">
            <a:avLst/>
          </a:prstGeom>
          <a:noFill/>
          <a:ln/>
        </p:spPr>
        <p:txBody>
          <a:bodyPr wrap="square" rtlCol="0" anchor="ctr"/>
          <a:lstStyle/>
          <a:p>
            <a:pPr indent="0" marL="0">
              <a:buNone/>
            </a:pPr>
            <a:r>
              <a:rPr lang="en-US" sz="1150" dirty="0">
                <a:solidFill>
                  <a:srgbClr val="EDE6DA"/>
                </a:solidFill>
                <a:latin typeface="Century Gothic" pitchFamily="34" charset="0"/>
                <a:ea typeface="Century Gothic" pitchFamily="34" charset="-122"/>
                <a:cs typeface="Century Gothic" pitchFamily="34" charset="-120"/>
              </a:rPr>
              <a:t>Close and design</a:t>
            </a:r>
            <a:endParaRPr lang="en-US" sz="1150" dirty="0"/>
          </a:p>
        </p:txBody>
      </p:sp>
      <p:sp>
        <p:nvSpPr>
          <p:cNvPr id="8" name="Text 6"/>
          <p:cNvSpPr/>
          <p:nvPr/>
        </p:nvSpPr>
        <p:spPr>
          <a:xfrm>
            <a:off x="502920" y="2212848"/>
            <a:ext cx="1525219" cy="1371600"/>
          </a:xfrm>
          <a:prstGeom prst="rect">
            <a:avLst/>
          </a:prstGeom>
          <a:noFill/>
          <a:ln/>
        </p:spPr>
        <p:txBody>
          <a:bodyPr wrap="square" rtlCol="0" anchor="t"/>
          <a:lstStyle/>
          <a:p>
            <a:pPr indent="0" marL="0">
              <a:lnSpc>
                <a:spcPct val="120000"/>
              </a:lnSpc>
              <a:buNone/>
            </a:pPr>
            <a:r>
              <a:rPr lang="en-US" sz="850" dirty="0">
                <a:solidFill>
                  <a:srgbClr val="A8A296"/>
                </a:solidFill>
                <a:latin typeface="Calibri" pitchFamily="34" charset="0"/>
                <a:ea typeface="Calibri" pitchFamily="34" charset="-122"/>
                <a:cs typeface="Calibri" pitchFamily="34" charset="-120"/>
              </a:rPr>
              <a:t>Loan closes, lease executed, architect and contractor engaged, permits filed. Founding member campaign opens.</a:t>
            </a:r>
            <a:endParaRPr lang="en-US" sz="850" dirty="0"/>
          </a:p>
        </p:txBody>
      </p:sp>
      <p:sp>
        <p:nvSpPr>
          <p:cNvPr id="9" name="Shape 7"/>
          <p:cNvSpPr/>
          <p:nvPr/>
        </p:nvSpPr>
        <p:spPr>
          <a:xfrm>
            <a:off x="2156155" y="1600200"/>
            <a:ext cx="1525219" cy="25603"/>
          </a:xfrm>
          <a:prstGeom prst="rect">
            <a:avLst/>
          </a:prstGeom>
          <a:solidFill>
            <a:srgbClr val="2E4237"/>
          </a:solidFill>
          <a:ln w="12700">
            <a:solidFill>
              <a:srgbClr val="2E4237"/>
            </a:solidFill>
            <a:prstDash val="solid"/>
          </a:ln>
        </p:spPr>
      </p:sp>
      <p:sp>
        <p:nvSpPr>
          <p:cNvPr id="10" name="Shape 8"/>
          <p:cNvSpPr/>
          <p:nvPr/>
        </p:nvSpPr>
        <p:spPr>
          <a:xfrm>
            <a:off x="2156155" y="1563624"/>
            <a:ext cx="100584" cy="100584"/>
          </a:xfrm>
          <a:prstGeom prst="ellipse">
            <a:avLst/>
          </a:prstGeom>
          <a:solidFill>
            <a:srgbClr val="C08D7C"/>
          </a:solidFill>
          <a:ln w="12700">
            <a:solidFill>
              <a:srgbClr val="C08D7C"/>
            </a:solidFill>
            <a:prstDash val="solid"/>
          </a:ln>
        </p:spPr>
      </p:sp>
      <p:sp>
        <p:nvSpPr>
          <p:cNvPr id="11" name="Text 9"/>
          <p:cNvSpPr/>
          <p:nvPr/>
        </p:nvSpPr>
        <p:spPr>
          <a:xfrm>
            <a:off x="2156155" y="1755648"/>
            <a:ext cx="1525219" cy="182880"/>
          </a:xfrm>
          <a:prstGeom prst="rect">
            <a:avLst/>
          </a:prstGeom>
          <a:noFill/>
          <a:ln/>
        </p:spPr>
        <p:txBody>
          <a:bodyPr wrap="square" rtlCol="0" anchor="ctr"/>
          <a:lstStyle/>
          <a:p>
            <a:pPr indent="0" marL="0">
              <a:buNone/>
            </a:pPr>
            <a:r>
              <a:rPr lang="en-US" sz="750" spc="160" kern="0" dirty="0">
                <a:solidFill>
                  <a:srgbClr val="C08D7C"/>
                </a:solidFill>
                <a:latin typeface="Century Gothic" pitchFamily="34" charset="0"/>
                <a:ea typeface="Century Gothic" pitchFamily="34" charset="-122"/>
                <a:cs typeface="Century Gothic" pitchFamily="34" charset="-120"/>
              </a:rPr>
              <a:t>MONTH 3–6</a:t>
            </a:r>
            <a:endParaRPr lang="en-US" sz="750" dirty="0"/>
          </a:p>
        </p:txBody>
      </p:sp>
      <p:sp>
        <p:nvSpPr>
          <p:cNvPr id="12" name="Text 10"/>
          <p:cNvSpPr/>
          <p:nvPr/>
        </p:nvSpPr>
        <p:spPr>
          <a:xfrm>
            <a:off x="2156155" y="1938528"/>
            <a:ext cx="1525219" cy="237744"/>
          </a:xfrm>
          <a:prstGeom prst="rect">
            <a:avLst/>
          </a:prstGeom>
          <a:noFill/>
          <a:ln/>
        </p:spPr>
        <p:txBody>
          <a:bodyPr wrap="square" rtlCol="0" anchor="ctr"/>
          <a:lstStyle/>
          <a:p>
            <a:pPr indent="0" marL="0">
              <a:buNone/>
            </a:pPr>
            <a:r>
              <a:rPr lang="en-US" sz="1150" dirty="0">
                <a:solidFill>
                  <a:srgbClr val="EDE6DA"/>
                </a:solidFill>
                <a:latin typeface="Century Gothic" pitchFamily="34" charset="0"/>
                <a:ea typeface="Century Gothic" pitchFamily="34" charset="-122"/>
                <a:cs typeface="Century Gothic" pitchFamily="34" charset="-120"/>
              </a:rPr>
              <a:t>Build</a:t>
            </a:r>
            <a:endParaRPr lang="en-US" sz="1150" dirty="0"/>
          </a:p>
        </p:txBody>
      </p:sp>
      <p:sp>
        <p:nvSpPr>
          <p:cNvPr id="13" name="Text 11"/>
          <p:cNvSpPr/>
          <p:nvPr/>
        </p:nvSpPr>
        <p:spPr>
          <a:xfrm>
            <a:off x="2156155" y="2212848"/>
            <a:ext cx="1525219" cy="1371600"/>
          </a:xfrm>
          <a:prstGeom prst="rect">
            <a:avLst/>
          </a:prstGeom>
          <a:noFill/>
          <a:ln/>
        </p:spPr>
        <p:txBody>
          <a:bodyPr wrap="square" rtlCol="0" anchor="t"/>
          <a:lstStyle/>
          <a:p>
            <a:pPr indent="0" marL="0">
              <a:lnSpc>
                <a:spcPct val="120000"/>
              </a:lnSpc>
              <a:buNone/>
            </a:pPr>
            <a:r>
              <a:rPr lang="en-US" sz="850" dirty="0">
                <a:solidFill>
                  <a:srgbClr val="A8A296"/>
                </a:solidFill>
                <a:latin typeface="Calibri" pitchFamily="34" charset="0"/>
                <a:ea typeface="Calibri" pitchFamily="34" charset="-122"/>
                <a:cs typeface="Calibri" pitchFamily="34" charset="-120"/>
              </a:rPr>
              <a:t>Buildout, wet-area rough-in, equipment ordered. Medical director and injector recruited and credentialed.</a:t>
            </a:r>
            <a:endParaRPr lang="en-US" sz="850" dirty="0"/>
          </a:p>
        </p:txBody>
      </p:sp>
      <p:sp>
        <p:nvSpPr>
          <p:cNvPr id="14" name="Shape 12"/>
          <p:cNvSpPr/>
          <p:nvPr/>
        </p:nvSpPr>
        <p:spPr>
          <a:xfrm>
            <a:off x="3809390" y="1600200"/>
            <a:ext cx="1525219" cy="25603"/>
          </a:xfrm>
          <a:prstGeom prst="rect">
            <a:avLst/>
          </a:prstGeom>
          <a:solidFill>
            <a:srgbClr val="2E4237"/>
          </a:solidFill>
          <a:ln w="12700">
            <a:solidFill>
              <a:srgbClr val="2E4237"/>
            </a:solidFill>
            <a:prstDash val="solid"/>
          </a:ln>
        </p:spPr>
      </p:sp>
      <p:sp>
        <p:nvSpPr>
          <p:cNvPr id="15" name="Shape 13"/>
          <p:cNvSpPr/>
          <p:nvPr/>
        </p:nvSpPr>
        <p:spPr>
          <a:xfrm>
            <a:off x="3809390" y="1563624"/>
            <a:ext cx="100584" cy="100584"/>
          </a:xfrm>
          <a:prstGeom prst="ellipse">
            <a:avLst/>
          </a:prstGeom>
          <a:solidFill>
            <a:srgbClr val="C08D7C"/>
          </a:solidFill>
          <a:ln w="12700">
            <a:solidFill>
              <a:srgbClr val="C08D7C"/>
            </a:solidFill>
            <a:prstDash val="solid"/>
          </a:ln>
        </p:spPr>
      </p:sp>
      <p:sp>
        <p:nvSpPr>
          <p:cNvPr id="16" name="Text 14"/>
          <p:cNvSpPr/>
          <p:nvPr/>
        </p:nvSpPr>
        <p:spPr>
          <a:xfrm>
            <a:off x="3809390" y="1755648"/>
            <a:ext cx="1525219" cy="182880"/>
          </a:xfrm>
          <a:prstGeom prst="rect">
            <a:avLst/>
          </a:prstGeom>
          <a:noFill/>
          <a:ln/>
        </p:spPr>
        <p:txBody>
          <a:bodyPr wrap="square" rtlCol="0" anchor="ctr"/>
          <a:lstStyle/>
          <a:p>
            <a:pPr indent="0" marL="0">
              <a:buNone/>
            </a:pPr>
            <a:r>
              <a:rPr lang="en-US" sz="750" spc="160" kern="0" dirty="0">
                <a:solidFill>
                  <a:srgbClr val="C08D7C"/>
                </a:solidFill>
                <a:latin typeface="Century Gothic" pitchFamily="34" charset="0"/>
                <a:ea typeface="Century Gothic" pitchFamily="34" charset="-122"/>
                <a:cs typeface="Century Gothic" pitchFamily="34" charset="-120"/>
              </a:rPr>
              <a:t>MONTH 7</a:t>
            </a:r>
            <a:endParaRPr lang="en-US" sz="750" dirty="0"/>
          </a:p>
        </p:txBody>
      </p:sp>
      <p:sp>
        <p:nvSpPr>
          <p:cNvPr id="17" name="Text 15"/>
          <p:cNvSpPr/>
          <p:nvPr/>
        </p:nvSpPr>
        <p:spPr>
          <a:xfrm>
            <a:off x="3809390" y="1938528"/>
            <a:ext cx="1525219" cy="237744"/>
          </a:xfrm>
          <a:prstGeom prst="rect">
            <a:avLst/>
          </a:prstGeom>
          <a:noFill/>
          <a:ln/>
        </p:spPr>
        <p:txBody>
          <a:bodyPr wrap="square" rtlCol="0" anchor="ctr"/>
          <a:lstStyle/>
          <a:p>
            <a:pPr indent="0" marL="0">
              <a:buNone/>
            </a:pPr>
            <a:r>
              <a:rPr lang="en-US" sz="1150" dirty="0">
                <a:solidFill>
                  <a:srgbClr val="EDE6DA"/>
                </a:solidFill>
                <a:latin typeface="Century Gothic" pitchFamily="34" charset="0"/>
                <a:ea typeface="Century Gothic" pitchFamily="34" charset="-122"/>
                <a:cs typeface="Century Gothic" pitchFamily="34" charset="-120"/>
              </a:rPr>
              <a:t>Open</a:t>
            </a:r>
            <a:endParaRPr lang="en-US" sz="1150" dirty="0"/>
          </a:p>
        </p:txBody>
      </p:sp>
      <p:sp>
        <p:nvSpPr>
          <p:cNvPr id="18" name="Text 16"/>
          <p:cNvSpPr/>
          <p:nvPr/>
        </p:nvSpPr>
        <p:spPr>
          <a:xfrm>
            <a:off x="3809390" y="2212848"/>
            <a:ext cx="1525219" cy="1371600"/>
          </a:xfrm>
          <a:prstGeom prst="rect">
            <a:avLst/>
          </a:prstGeom>
          <a:noFill/>
          <a:ln/>
        </p:spPr>
        <p:txBody>
          <a:bodyPr wrap="square" rtlCol="0" anchor="t"/>
          <a:lstStyle/>
          <a:p>
            <a:pPr indent="0" marL="0">
              <a:lnSpc>
                <a:spcPct val="120000"/>
              </a:lnSpc>
              <a:buNone/>
            </a:pPr>
            <a:r>
              <a:rPr lang="en-US" sz="850" dirty="0">
                <a:solidFill>
                  <a:srgbClr val="A8A296"/>
                </a:solidFill>
                <a:latin typeface="Calibri" pitchFamily="34" charset="0"/>
                <a:ea typeface="Calibri" pitchFamily="34" charset="-122"/>
                <a:cs typeface="Calibri" pitchFamily="34" charset="-120"/>
              </a:rPr>
              <a:t>Doors open to founding members first, public booking the same week. Clinic and club launch together.</a:t>
            </a:r>
            <a:endParaRPr lang="en-US" sz="850" dirty="0"/>
          </a:p>
        </p:txBody>
      </p:sp>
      <p:sp>
        <p:nvSpPr>
          <p:cNvPr id="19" name="Shape 17"/>
          <p:cNvSpPr/>
          <p:nvPr/>
        </p:nvSpPr>
        <p:spPr>
          <a:xfrm>
            <a:off x="5462626" y="1600200"/>
            <a:ext cx="1525219" cy="25603"/>
          </a:xfrm>
          <a:prstGeom prst="rect">
            <a:avLst/>
          </a:prstGeom>
          <a:solidFill>
            <a:srgbClr val="2E4237"/>
          </a:solidFill>
          <a:ln w="12700">
            <a:solidFill>
              <a:srgbClr val="2E4237"/>
            </a:solidFill>
            <a:prstDash val="solid"/>
          </a:ln>
        </p:spPr>
      </p:sp>
      <p:sp>
        <p:nvSpPr>
          <p:cNvPr id="20" name="Shape 18"/>
          <p:cNvSpPr/>
          <p:nvPr/>
        </p:nvSpPr>
        <p:spPr>
          <a:xfrm>
            <a:off x="5462626" y="1563624"/>
            <a:ext cx="100584" cy="100584"/>
          </a:xfrm>
          <a:prstGeom prst="ellipse">
            <a:avLst/>
          </a:prstGeom>
          <a:solidFill>
            <a:srgbClr val="C08D7C"/>
          </a:solidFill>
          <a:ln w="12700">
            <a:solidFill>
              <a:srgbClr val="C08D7C"/>
            </a:solidFill>
            <a:prstDash val="solid"/>
          </a:ln>
        </p:spPr>
      </p:sp>
      <p:sp>
        <p:nvSpPr>
          <p:cNvPr id="21" name="Text 19"/>
          <p:cNvSpPr/>
          <p:nvPr/>
        </p:nvSpPr>
        <p:spPr>
          <a:xfrm>
            <a:off x="5462626" y="1755648"/>
            <a:ext cx="1525219" cy="182880"/>
          </a:xfrm>
          <a:prstGeom prst="rect">
            <a:avLst/>
          </a:prstGeom>
          <a:noFill/>
          <a:ln/>
        </p:spPr>
        <p:txBody>
          <a:bodyPr wrap="square" rtlCol="0" anchor="ctr"/>
          <a:lstStyle/>
          <a:p>
            <a:pPr indent="0" marL="0">
              <a:buNone/>
            </a:pPr>
            <a:r>
              <a:rPr lang="en-US" sz="750" spc="160" kern="0" dirty="0">
                <a:solidFill>
                  <a:srgbClr val="C08D7C"/>
                </a:solidFill>
                <a:latin typeface="Century Gothic" pitchFamily="34" charset="0"/>
                <a:ea typeface="Century Gothic" pitchFamily="34" charset="-122"/>
                <a:cs typeface="Century Gothic" pitchFamily="34" charset="-120"/>
              </a:rPr>
              <a:t>MONTH 8–14</a:t>
            </a:r>
            <a:endParaRPr lang="en-US" sz="750" dirty="0"/>
          </a:p>
        </p:txBody>
      </p:sp>
      <p:sp>
        <p:nvSpPr>
          <p:cNvPr id="22" name="Text 20"/>
          <p:cNvSpPr/>
          <p:nvPr/>
        </p:nvSpPr>
        <p:spPr>
          <a:xfrm>
            <a:off x="5462626" y="1938528"/>
            <a:ext cx="1525219" cy="237744"/>
          </a:xfrm>
          <a:prstGeom prst="rect">
            <a:avLst/>
          </a:prstGeom>
          <a:noFill/>
          <a:ln/>
        </p:spPr>
        <p:txBody>
          <a:bodyPr wrap="square" rtlCol="0" anchor="ctr"/>
          <a:lstStyle/>
          <a:p>
            <a:pPr indent="0" marL="0">
              <a:buNone/>
            </a:pPr>
            <a:r>
              <a:rPr lang="en-US" sz="1150" dirty="0">
                <a:solidFill>
                  <a:srgbClr val="EDE6DA"/>
                </a:solidFill>
                <a:latin typeface="Century Gothic" pitchFamily="34" charset="0"/>
                <a:ea typeface="Century Gothic" pitchFamily="34" charset="-122"/>
                <a:cs typeface="Century Gothic" pitchFamily="34" charset="-120"/>
              </a:rPr>
              <a:t>Fill</a:t>
            </a:r>
            <a:endParaRPr lang="en-US" sz="1150" dirty="0"/>
          </a:p>
        </p:txBody>
      </p:sp>
      <p:sp>
        <p:nvSpPr>
          <p:cNvPr id="23" name="Text 21"/>
          <p:cNvSpPr/>
          <p:nvPr/>
        </p:nvSpPr>
        <p:spPr>
          <a:xfrm>
            <a:off x="5462626" y="2212848"/>
            <a:ext cx="1525219" cy="1371600"/>
          </a:xfrm>
          <a:prstGeom prst="rect">
            <a:avLst/>
          </a:prstGeom>
          <a:noFill/>
          <a:ln/>
        </p:spPr>
        <p:txBody>
          <a:bodyPr wrap="square" rtlCol="0" anchor="t"/>
          <a:lstStyle/>
          <a:p>
            <a:pPr indent="0" marL="0">
              <a:lnSpc>
                <a:spcPct val="120000"/>
              </a:lnSpc>
              <a:buNone/>
            </a:pPr>
            <a:r>
              <a:rPr lang="en-US" sz="850" dirty="0">
                <a:solidFill>
                  <a:srgbClr val="A8A296"/>
                </a:solidFill>
                <a:latin typeface="Calibri" pitchFamily="34" charset="0"/>
                <a:ea typeface="Calibri" pitchFamily="34" charset="-122"/>
                <a:cs typeface="Calibri" pitchFamily="34" charset="-120"/>
              </a:rPr>
              <a:t>Membership ramp, events programming, referral engine from the open clinic. Operating breakeven lands here.</a:t>
            </a:r>
            <a:endParaRPr lang="en-US" sz="850" dirty="0"/>
          </a:p>
        </p:txBody>
      </p:sp>
      <p:sp>
        <p:nvSpPr>
          <p:cNvPr id="24" name="Shape 22"/>
          <p:cNvSpPr/>
          <p:nvPr/>
        </p:nvSpPr>
        <p:spPr>
          <a:xfrm>
            <a:off x="7115861" y="1600200"/>
            <a:ext cx="1525219" cy="25603"/>
          </a:xfrm>
          <a:prstGeom prst="rect">
            <a:avLst/>
          </a:prstGeom>
          <a:solidFill>
            <a:srgbClr val="2E4237"/>
          </a:solidFill>
          <a:ln w="12700">
            <a:solidFill>
              <a:srgbClr val="2E4237"/>
            </a:solidFill>
            <a:prstDash val="solid"/>
          </a:ln>
        </p:spPr>
      </p:sp>
      <p:sp>
        <p:nvSpPr>
          <p:cNvPr id="25" name="Shape 23"/>
          <p:cNvSpPr/>
          <p:nvPr/>
        </p:nvSpPr>
        <p:spPr>
          <a:xfrm>
            <a:off x="7115861" y="1563624"/>
            <a:ext cx="100584" cy="100584"/>
          </a:xfrm>
          <a:prstGeom prst="ellipse">
            <a:avLst/>
          </a:prstGeom>
          <a:solidFill>
            <a:srgbClr val="C08D7C"/>
          </a:solidFill>
          <a:ln w="12700">
            <a:solidFill>
              <a:srgbClr val="C08D7C"/>
            </a:solidFill>
            <a:prstDash val="solid"/>
          </a:ln>
        </p:spPr>
      </p:sp>
      <p:sp>
        <p:nvSpPr>
          <p:cNvPr id="26" name="Text 24"/>
          <p:cNvSpPr/>
          <p:nvPr/>
        </p:nvSpPr>
        <p:spPr>
          <a:xfrm>
            <a:off x="7115861" y="1755648"/>
            <a:ext cx="1525219" cy="182880"/>
          </a:xfrm>
          <a:prstGeom prst="rect">
            <a:avLst/>
          </a:prstGeom>
          <a:noFill/>
          <a:ln/>
        </p:spPr>
        <p:txBody>
          <a:bodyPr wrap="square" rtlCol="0" anchor="ctr"/>
          <a:lstStyle/>
          <a:p>
            <a:pPr indent="0" marL="0">
              <a:buNone/>
            </a:pPr>
            <a:r>
              <a:rPr lang="en-US" sz="750" spc="160" kern="0" dirty="0">
                <a:solidFill>
                  <a:srgbClr val="C08D7C"/>
                </a:solidFill>
                <a:latin typeface="Century Gothic" pitchFamily="34" charset="0"/>
                <a:ea typeface="Century Gothic" pitchFamily="34" charset="-122"/>
                <a:cs typeface="Century Gothic" pitchFamily="34" charset="-120"/>
              </a:rPr>
              <a:t>MONTH 15–36</a:t>
            </a:r>
            <a:endParaRPr lang="en-US" sz="750" dirty="0"/>
          </a:p>
        </p:txBody>
      </p:sp>
      <p:sp>
        <p:nvSpPr>
          <p:cNvPr id="27" name="Text 25"/>
          <p:cNvSpPr/>
          <p:nvPr/>
        </p:nvSpPr>
        <p:spPr>
          <a:xfrm>
            <a:off x="7115861" y="1938528"/>
            <a:ext cx="1525219" cy="237744"/>
          </a:xfrm>
          <a:prstGeom prst="rect">
            <a:avLst/>
          </a:prstGeom>
          <a:noFill/>
          <a:ln/>
        </p:spPr>
        <p:txBody>
          <a:bodyPr wrap="square" rtlCol="0" anchor="ctr"/>
          <a:lstStyle/>
          <a:p>
            <a:pPr indent="0" marL="0">
              <a:buNone/>
            </a:pPr>
            <a:r>
              <a:rPr lang="en-US" sz="1150" dirty="0">
                <a:solidFill>
                  <a:srgbClr val="EDE6DA"/>
                </a:solidFill>
                <a:latin typeface="Century Gothic" pitchFamily="34" charset="0"/>
                <a:ea typeface="Century Gothic" pitchFamily="34" charset="-122"/>
                <a:cs typeface="Century Gothic" pitchFamily="34" charset="-120"/>
              </a:rPr>
              <a:t>Stabilize</a:t>
            </a:r>
            <a:endParaRPr lang="en-US" sz="1150" dirty="0"/>
          </a:p>
        </p:txBody>
      </p:sp>
      <p:sp>
        <p:nvSpPr>
          <p:cNvPr id="28" name="Text 26"/>
          <p:cNvSpPr/>
          <p:nvPr/>
        </p:nvSpPr>
        <p:spPr>
          <a:xfrm>
            <a:off x="7115861" y="2212848"/>
            <a:ext cx="1525219" cy="1371600"/>
          </a:xfrm>
          <a:prstGeom prst="rect">
            <a:avLst/>
          </a:prstGeom>
          <a:noFill/>
          <a:ln/>
        </p:spPr>
        <p:txBody>
          <a:bodyPr wrap="square" rtlCol="0" anchor="t"/>
          <a:lstStyle/>
          <a:p>
            <a:pPr indent="0" marL="0">
              <a:lnSpc>
                <a:spcPct val="120000"/>
              </a:lnSpc>
              <a:buNone/>
            </a:pPr>
            <a:r>
              <a:rPr lang="en-US" sz="850" dirty="0">
                <a:solidFill>
                  <a:srgbClr val="A8A296"/>
                </a:solidFill>
                <a:latin typeface="Calibri" pitchFamily="34" charset="0"/>
                <a:ea typeface="Calibri" pitchFamily="34" charset="-122"/>
                <a:cs typeface="Calibri" pitchFamily="34" charset="-120"/>
              </a:rPr>
              <a:t>Amortization begins at month 19. Caps approached on Resident and Longevity. Waitlist opens.</a:t>
            </a:r>
            <a:endParaRPr lang="en-US" sz="850" dirty="0"/>
          </a:p>
        </p:txBody>
      </p:sp>
      <p:sp>
        <p:nvSpPr>
          <p:cNvPr id="29" name="Text 27"/>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 $2.0M PRIVATE CASE  ·  CONFIDENTIAL</a:t>
            </a:r>
            <a:endParaRPr lang="en-US" sz="700" dirty="0"/>
          </a:p>
        </p:txBody>
      </p:sp>
      <p:sp>
        <p:nvSpPr>
          <p:cNvPr id="30" name="Text 28"/>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26</a:t>
            </a:r>
            <a:endParaRPr lang="en-US" sz="7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TEAM</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The operating team is in place.</a:t>
            </a:r>
            <a:endParaRPr lang="en-US" sz="2600" dirty="0"/>
          </a:p>
        </p:txBody>
      </p:sp>
      <p:sp>
        <p:nvSpPr>
          <p:cNvPr id="4" name="Text 2"/>
          <p:cNvSpPr/>
          <p:nvPr/>
        </p:nvSpPr>
        <p:spPr>
          <a:xfrm>
            <a:off x="502920" y="1097280"/>
            <a:ext cx="8138160" cy="457200"/>
          </a:xfrm>
          <a:prstGeom prst="rect">
            <a:avLst/>
          </a:prstGeom>
          <a:noFill/>
          <a:ln/>
        </p:spPr>
        <p:txBody>
          <a:bodyPr wrap="square" rtlCol="0" anchor="t"/>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Clinical, aesthetic, longevity and hospitality leadership are all seated. No key role is open at opening.</a:t>
            </a:r>
            <a:endParaRPr lang="en-US" sz="115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02920" y="1783080"/>
          <a:ext cx="8138160" cy="914400"/>
        </p:xfrm>
        <a:graphic>
          <a:graphicData uri="http://schemas.openxmlformats.org/drawingml/2006/table">
            <a:tbl>
              <a:tblPr/>
              <a:tblGrid>
                <a:gridCol w="2651760"/>
                <a:gridCol w="3840480"/>
                <a:gridCol w="1645920"/>
              </a:tblGrid>
              <a:tr h="292608">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Seat</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Responsibility</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Status</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292608">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Founder &amp; Operator</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Operations, brand, capital, compliance</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A8A296"/>
                          </a:solidFill>
                          <a:latin typeface="Calibri" pitchFamily="34" charset="0"/>
                          <a:ea typeface="Calibri" pitchFamily="34" charset="-122"/>
                          <a:cs typeface="Calibri" pitchFamily="34" charset="-120"/>
                        </a:rPr>
                        <a:t>In place</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92608">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Medical Director (MD/DO)</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Clinical oversight, protocols, standing orders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A8A296"/>
                          </a:solidFill>
                          <a:latin typeface="Calibri" pitchFamily="34" charset="0"/>
                          <a:ea typeface="Calibri" pitchFamily="34" charset="-122"/>
                          <a:cs typeface="Calibri" pitchFamily="34" charset="-120"/>
                        </a:rPr>
                        <a:t>In place</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92608">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Surgeon (plastic or facial plastic) · Principal</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Operative cases, patient selection, surgical QA. Bills professional fees directly, not facility payroll.</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A8A296"/>
                          </a:solidFill>
                          <a:latin typeface="Calibri" pitchFamily="34" charset="0"/>
                          <a:ea typeface="Calibri" pitchFamily="34" charset="-122"/>
                          <a:cs typeface="Calibri" pitchFamily="34" charset="-120"/>
                        </a:rPr>
                        <a:t>In place</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92608">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Surgical Tech, Circulator and Monitoring RN</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OR setup, sterile field, sedation monitoring, PACU, instrument processing</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A8A296"/>
                          </a:solidFill>
                          <a:latin typeface="Calibri" pitchFamily="34" charset="0"/>
                          <a:ea typeface="Calibri" pitchFamily="34" charset="-122"/>
                          <a:cs typeface="Calibri" pitchFamily="34" charset="-120"/>
                        </a:rPr>
                        <a:t>In place</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92608">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Aesthetics Injector (NP or PA)</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Neuromodulators, filler, energy devices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A8A296"/>
                          </a:solidFill>
                          <a:latin typeface="Calibri" pitchFamily="34" charset="0"/>
                          <a:ea typeface="Calibri" pitchFamily="34" charset="-122"/>
                          <a:cs typeface="Calibri" pitchFamily="34" charset="-120"/>
                        </a:rPr>
                        <a:t>In place</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92608">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Longevity Clinical Lead</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Therapeutic medications, GLP-1 and biomarker programs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A8A296"/>
                          </a:solidFill>
                          <a:latin typeface="Calibri" pitchFamily="34" charset="0"/>
                          <a:ea typeface="Calibri" pitchFamily="34" charset="-122"/>
                          <a:cs typeface="Calibri" pitchFamily="34" charset="-120"/>
                        </a:rPr>
                        <a:t>In place</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92608">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Club General Manager</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Membership, events, hospitality, retention</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A8A296"/>
                          </a:solidFill>
                          <a:latin typeface="Calibri" pitchFamily="34" charset="0"/>
                          <a:ea typeface="Calibri" pitchFamily="34" charset="-122"/>
                          <a:cs typeface="Calibri" pitchFamily="34" charset="-120"/>
                        </a:rPr>
                        <a:t>In place</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92608">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Registered Nurses (2)</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IV therapy, regenerative, recovery floor</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A8A296"/>
                          </a:solidFill>
                          <a:latin typeface="Calibri" pitchFamily="34" charset="0"/>
                          <a:ea typeface="Calibri" pitchFamily="34" charset="-122"/>
                          <a:cs typeface="Calibri" pitchFamily="34" charset="-120"/>
                        </a:rPr>
                        <a:t>In place</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bl>
          </a:graphicData>
        </a:graphic>
      </p:graphicFrame>
      <p:sp>
        <p:nvSpPr>
          <p:cNvPr id="6" name="Text 3"/>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 $2.0M PRIVATE CASE  ·  CONFIDENTIAL</a:t>
            </a:r>
            <a:endParaRPr lang="en-US" sz="700" dirty="0"/>
          </a:p>
        </p:txBody>
      </p:sp>
      <p:sp>
        <p:nvSpPr>
          <p:cNvPr id="7" name="Text 4"/>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27</a:t>
            </a:r>
            <a:endParaRPr lang="en-US" sz="7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RISKS</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What could go wrong, and what we did about it.</a:t>
            </a:r>
            <a:endParaRPr lang="en-US" sz="26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02920" y="1170432"/>
          <a:ext cx="8138160" cy="914400"/>
        </p:xfrm>
        <a:graphic>
          <a:graphicData uri="http://schemas.openxmlformats.org/drawingml/2006/table">
            <a:tbl>
              <a:tblPr/>
              <a:tblGrid>
                <a:gridCol w="2743200"/>
                <a:gridCol w="5394960"/>
              </a:tblGrid>
              <a:tr h="274320">
                <a:tc>
                  <a:txBody>
                    <a:bodyPr/>
                    <a:lstStyle/>
                    <a:p>
                      <a:pPr algn="l" indent="0" marL="0">
                        <a:buNone/>
                      </a:pPr>
                      <a:r>
                        <a:rPr lang="en-US" sz="750" spc="140" kern="0" dirty="0">
                          <a:solidFill>
                            <a:srgbClr val="C08D7C"/>
                          </a:solidFill>
                          <a:latin typeface="Century Gothic" pitchFamily="34" charset="0"/>
                          <a:ea typeface="Century Gothic" pitchFamily="34" charset="-122"/>
                          <a:cs typeface="Century Gothic" pitchFamily="34" charset="-120"/>
                        </a:rPr>
                        <a:t>Risk</a:t>
                      </a:r>
                      <a:endParaRPr lang="en-US" sz="750" dirty="0">
                        <a:latin typeface="Century Gothic" charset="0"/>
                        <a:ea typeface="Century Gothic" charset="0"/>
                        <a:cs typeface="Century Gothic" charset="0"/>
                      </a:endParaRPr>
                    </a:p>
                  </a:txBody>
                  <a:tcPr marL="20117" marR="20117" marT="20117" marB="20117"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l" indent="0" marL="0">
                        <a:buNone/>
                      </a:pPr>
                      <a:r>
                        <a:rPr lang="en-US" sz="750" spc="140" kern="0" dirty="0">
                          <a:solidFill>
                            <a:srgbClr val="C08D7C"/>
                          </a:solidFill>
                          <a:latin typeface="Century Gothic" pitchFamily="34" charset="0"/>
                          <a:ea typeface="Century Gothic" pitchFamily="34" charset="-122"/>
                          <a:cs typeface="Century Gothic" pitchFamily="34" charset="-120"/>
                        </a:rPr>
                        <a:t>Mitigation</a:t>
                      </a:r>
                      <a:endParaRPr lang="en-US" sz="750" dirty="0">
                        <a:latin typeface="Century Gothic" charset="0"/>
                        <a:ea typeface="Century Gothic" charset="0"/>
                        <a:cs typeface="Century Gothic" charset="0"/>
                      </a:endParaRPr>
                    </a:p>
                  </a:txBody>
                  <a:tcPr marL="20117" marR="20117" marT="20117" marB="20117"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274320">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Membership fills slower than modeled.</a:t>
                      </a:r>
                      <a:endParaRPr lang="en-US" sz="750" dirty="0">
                        <a:latin typeface="Calibri" charset="0"/>
                        <a:ea typeface="Calibri" charset="0"/>
                        <a:cs typeface="Calibri" charset="0"/>
                      </a:endParaRPr>
                    </a:p>
                  </a:txBody>
                  <a:tcPr marL="20117" marR="20117" marT="20117" marB="20117"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The clinic is open to non-members from day one, so revenue does not depend on the club filling. The low case flexes volume to 72% of base and still services debt.</a:t>
                      </a:r>
                      <a:endParaRPr lang="en-US" sz="750" dirty="0">
                        <a:latin typeface="Calibri" charset="0"/>
                        <a:ea typeface="Calibri" charset="0"/>
                        <a:cs typeface="Calibri" charset="0"/>
                      </a:endParaRPr>
                    </a:p>
                  </a:txBody>
                  <a:tcPr marL="20117" marR="20117" marT="20117" marB="20117"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Members redeem more than their fees cover.</a:t>
                      </a:r>
                      <a:endParaRPr lang="en-US" sz="750" dirty="0">
                        <a:latin typeface="Calibri" charset="0"/>
                        <a:ea typeface="Calibri" charset="0"/>
                        <a:cs typeface="Calibri" charset="0"/>
                      </a:endParaRPr>
                    </a:p>
                  </a:txBody>
                  <a:tcPr marL="20117" marR="20117" marT="20117" marB="20117"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Credit banks are sized against measured redemption and the model asserts the ratio stays below 100%. The three-month minimum with 30-day change notice makes repricing operationally possible.</a:t>
                      </a:r>
                      <a:endParaRPr lang="en-US" sz="750" dirty="0">
                        <a:latin typeface="Calibri" charset="0"/>
                        <a:ea typeface="Calibri" charset="0"/>
                        <a:cs typeface="Calibri" charset="0"/>
                      </a:endParaRPr>
                    </a:p>
                  </a:txBody>
                  <a:tcPr marL="20117" marR="20117" marT="20117" marB="20117"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A key clinical seat turns over during the ramp.</a:t>
                      </a:r>
                      <a:endParaRPr lang="en-US" sz="750" dirty="0">
                        <a:latin typeface="Calibri" charset="0"/>
                        <a:ea typeface="Calibri" charset="0"/>
                        <a:cs typeface="Calibri" charset="0"/>
                      </a:endParaRPr>
                    </a:p>
                  </a:txBody>
                  <a:tcPr marL="20117" marR="20117" marT="20117" marB="20117"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The asset is the facility, not any one clinician. The club layer, recovery floor and infusion suite run on materially less scarce staffing than the injectable and prescribing lines, so a temporary gap narrows the offering without closing the building. A licensed, equipped facility can credential a replacement. Clinical compensation carries retention terms through the ramp.</a:t>
                      </a:r>
                      <a:endParaRPr lang="en-US" sz="750" dirty="0">
                        <a:latin typeface="Calibri" charset="0"/>
                        <a:ea typeface="Calibri" charset="0"/>
                        <a:cs typeface="Calibri" charset="0"/>
                      </a:endParaRPr>
                    </a:p>
                  </a:txBody>
                  <a:tcPr marL="20117" marR="20117" marT="20117" marB="20117"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An adverse surgical event, or an accreditation lapse.</a:t>
                      </a:r>
                      <a:endParaRPr lang="en-US" sz="750" dirty="0">
                        <a:latin typeface="Calibri" charset="0"/>
                        <a:ea typeface="Calibri" charset="0"/>
                        <a:cs typeface="Calibri" charset="0"/>
                      </a:endParaRPr>
                    </a:p>
                  </a:txBody>
                  <a:tcPr marL="20117" marR="20117" marT="20117" marB="20117"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The sedation ceiling and two-hour recovery cap exclude every general-anesthesia procedure and its acuity. Patient-selection criteria, a written transfer agreement with a nearby acute-care facility, and a standing QA program sit behind that.</a:t>
                      </a:r>
                      <a:endParaRPr lang="en-US" sz="750" dirty="0">
                        <a:latin typeface="Calibri" charset="0"/>
                        <a:ea typeface="Calibri" charset="0"/>
                        <a:cs typeface="Calibri" charset="0"/>
                      </a:endParaRPr>
                    </a:p>
                  </a:txBody>
                  <a:tcPr marL="20117" marR="20117" marT="20117" marB="20117"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Operating room utilization comes in below plan.</a:t>
                      </a:r>
                      <a:endParaRPr lang="en-US" sz="750" dirty="0">
                        <a:latin typeface="Calibri" charset="0"/>
                        <a:ea typeface="Calibri" charset="0"/>
                        <a:cs typeface="Calibri" charset="0"/>
                      </a:endParaRPr>
                    </a:p>
                  </a:txBody>
                  <a:tcPr marL="20117" marR="20117" marT="20117" marB="20117"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The facility bills for the room, not for a particular surgeon, so this is not one person’s key-person exposure, further credentialed principals can be added without changing the model. Facility fees are roughly a tenth of revenue and the OR runs at 61% of practical capacity, so coverage holds above 1.25x on the wellness business alone.</a:t>
                      </a:r>
                      <a:endParaRPr lang="en-US" sz="750" dirty="0">
                        <a:latin typeface="Calibri" charset="0"/>
                        <a:ea typeface="Calibri" charset="0"/>
                        <a:cs typeface="Calibri" charset="0"/>
                      </a:endParaRPr>
                    </a:p>
                  </a:txBody>
                  <a:tcPr marL="20117" marR="20117" marT="20117" marB="20117"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Rates move against us before close.</a:t>
                      </a:r>
                      <a:endParaRPr lang="en-US" sz="750" dirty="0">
                        <a:latin typeface="Calibri" charset="0"/>
                        <a:ea typeface="Calibri" charset="0"/>
                        <a:cs typeface="Calibri" charset="0"/>
                      </a:endParaRPr>
                    </a:p>
                  </a:txBody>
                  <a:tcPr marL="20117" marR="20117" marT="20117" marB="20117"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Coverage is stress-tested 200 basis points above assumption and disclosed at each level rather than quoted at one.</a:t>
                      </a:r>
                      <a:endParaRPr lang="en-US" sz="750" dirty="0">
                        <a:latin typeface="Calibri" charset="0"/>
                        <a:ea typeface="Calibri" charset="0"/>
                        <a:cs typeface="Calibri" charset="0"/>
                      </a:endParaRPr>
                    </a:p>
                  </a:txBody>
                  <a:tcPr marL="20117" marR="20117" marT="20117" marB="20117"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A national brand opens nearby.</a:t>
                      </a:r>
                      <a:endParaRPr lang="en-US" sz="750" dirty="0">
                        <a:latin typeface="Calibri" charset="0"/>
                        <a:ea typeface="Calibri" charset="0"/>
                        <a:cs typeface="Calibri" charset="0"/>
                      </a:endParaRPr>
                    </a:p>
                  </a:txBody>
                  <a:tcPr marL="20117" marR="20117" marT="20117" marB="20117"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The defensible asset is the licensed facility, not the sauna. Adding injectables, infusions and physician oversight is not a product decision for a recovery studio: it means becoming a licensed medical facility, with the staffing, supervision, malpractice and accreditation that implies.</a:t>
                      </a:r>
                      <a:endParaRPr lang="en-US" sz="750" dirty="0">
                        <a:latin typeface="Calibri" charset="0"/>
                        <a:ea typeface="Calibri" charset="0"/>
                        <a:cs typeface="Calibri" charset="0"/>
                      </a:endParaRPr>
                    </a:p>
                  </a:txBody>
                  <a:tcPr marL="20117" marR="20117" marT="20117" marB="20117"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Wet-area construction overruns.</a:t>
                      </a:r>
                      <a:endParaRPr lang="en-US" sz="750" dirty="0">
                        <a:latin typeface="Calibri" charset="0"/>
                        <a:ea typeface="Calibri" charset="0"/>
                        <a:cs typeface="Calibri" charset="0"/>
                      </a:endParaRPr>
                    </a:p>
                  </a:txBody>
                  <a:tcPr marL="20117" marR="20117" marT="20117" marB="20117"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The highest-variance line in the buildout. The lean case exists precisely as the fallback scope, and the reserve is sized against the modeled cash trough rather than to a round number.</a:t>
                      </a:r>
                      <a:endParaRPr lang="en-US" sz="750" dirty="0">
                        <a:latin typeface="Calibri" charset="0"/>
                        <a:ea typeface="Calibri" charset="0"/>
                        <a:cs typeface="Calibri" charset="0"/>
                      </a:endParaRPr>
                    </a:p>
                  </a:txBody>
                  <a:tcPr marL="20117" marR="20117" marT="20117" marB="20117"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bl>
          </a:graphicData>
        </a:graphic>
      </p:graphicFrame>
      <p:sp>
        <p:nvSpPr>
          <p:cNvPr id="5" name="Text 2"/>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 $2.0M PRIVATE CASE  ·  CONFIDENTIAL</a:t>
            </a:r>
            <a:endParaRPr lang="en-US" sz="700" dirty="0"/>
          </a:p>
        </p:txBody>
      </p:sp>
      <p:sp>
        <p:nvSpPr>
          <p:cNvPr id="6" name="Text 3"/>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28</a:t>
            </a:r>
            <a:endParaRPr lang="en-US" sz="7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502920" y="1051560"/>
            <a:ext cx="8138160" cy="2834640"/>
          </a:xfrm>
          <a:prstGeom prst="roundRect">
            <a:avLst>
              <a:gd name="adj" fmla="val 2581"/>
            </a:avLst>
          </a:prstGeom>
          <a:solidFill>
            <a:srgbClr val="241C1A"/>
          </a:solidFill>
          <a:ln w="15875">
            <a:solidFill>
              <a:srgbClr val="C08D7C"/>
            </a:solidFill>
            <a:prstDash val="solid"/>
          </a:ln>
        </p:spPr>
      </p:sp>
      <p:sp>
        <p:nvSpPr>
          <p:cNvPr id="3" name="Text 1"/>
          <p:cNvSpPr/>
          <p:nvPr/>
        </p:nvSpPr>
        <p:spPr>
          <a:xfrm>
            <a:off x="502920" y="1371600"/>
            <a:ext cx="8138160" cy="228600"/>
          </a:xfrm>
          <a:prstGeom prst="rect">
            <a:avLst/>
          </a:prstGeom>
          <a:noFill/>
          <a:ln/>
        </p:spPr>
        <p:txBody>
          <a:bodyPr wrap="square" rtlCol="0" anchor="ctr"/>
          <a:lstStyle/>
          <a:p>
            <a:pPr algn="ctr" indent="0" marL="0">
              <a:buNone/>
            </a:pPr>
            <a:r>
              <a:rPr lang="en-US" sz="900" spc="300" kern="0" dirty="0">
                <a:solidFill>
                  <a:srgbClr val="C08D7C"/>
                </a:solidFill>
                <a:latin typeface="Century Gothic" pitchFamily="34" charset="0"/>
                <a:ea typeface="Century Gothic" pitchFamily="34" charset="-122"/>
                <a:cs typeface="Century Gothic" pitchFamily="34" charset="-120"/>
              </a:rPr>
              <a:t>PLAYA VISTA, CALIFORNIA</a:t>
            </a:r>
            <a:endParaRPr lang="en-US" sz="900" dirty="0"/>
          </a:p>
        </p:txBody>
      </p:sp>
      <p:sp>
        <p:nvSpPr>
          <p:cNvPr id="4" name="Text 2"/>
          <p:cNvSpPr/>
          <p:nvPr/>
        </p:nvSpPr>
        <p:spPr>
          <a:xfrm>
            <a:off x="502920" y="1691640"/>
            <a:ext cx="8138160" cy="960120"/>
          </a:xfrm>
          <a:prstGeom prst="rect">
            <a:avLst/>
          </a:prstGeom>
          <a:noFill/>
          <a:ln/>
        </p:spPr>
        <p:txBody>
          <a:bodyPr wrap="square" rtlCol="0" anchor="t"/>
          <a:lstStyle/>
          <a:p>
            <a:pPr algn="ctr" indent="0" marL="0">
              <a:lnSpc>
                <a:spcPct val="120000"/>
              </a:lnSpc>
              <a:buNone/>
            </a:pPr>
            <a:r>
              <a:rPr lang="en-US" sz="2400" dirty="0">
                <a:solidFill>
                  <a:srgbClr val="EDE6DA"/>
                </a:solidFill>
                <a:latin typeface="Century Gothic" pitchFamily="34" charset="0"/>
                <a:ea typeface="Century Gothic" pitchFamily="34" charset="-122"/>
                <a:cs typeface="Century Gothic" pitchFamily="34" charset="-120"/>
              </a:rPr>
              <a:t>Self-care is already social.</a:t>
            </a:r>
            <a:endParaRPr lang="en-US" sz="2400" dirty="0"/>
          </a:p>
          <a:p>
            <a:pPr algn="ctr" indent="0" marL="0">
              <a:lnSpc>
                <a:spcPct val="120000"/>
              </a:lnSpc>
              <a:buNone/>
            </a:pPr>
            <a:r>
              <a:rPr lang="en-US" sz="2400" dirty="0">
                <a:solidFill>
                  <a:srgbClr val="EDE6DA"/>
                </a:solidFill>
                <a:latin typeface="Century Gothic" pitchFamily="34" charset="0"/>
                <a:ea typeface="Century Gothic" pitchFamily="34" charset="-122"/>
                <a:cs typeface="Century Gothic" pitchFamily="34" charset="-120"/>
              </a:rPr>
              <a:t>Few rooms are licensed to treat you in one.</a:t>
            </a:r>
            <a:endParaRPr lang="en-US" sz="2400" dirty="0"/>
          </a:p>
        </p:txBody>
      </p:sp>
      <p:sp>
        <p:nvSpPr>
          <p:cNvPr id="5" name="Text 3"/>
          <p:cNvSpPr/>
          <p:nvPr/>
        </p:nvSpPr>
        <p:spPr>
          <a:xfrm>
            <a:off x="502920" y="2743200"/>
            <a:ext cx="8138160" cy="274320"/>
          </a:xfrm>
          <a:prstGeom prst="rect">
            <a:avLst/>
          </a:prstGeom>
          <a:noFill/>
          <a:ln/>
        </p:spPr>
        <p:txBody>
          <a:bodyPr wrap="square" rtlCol="0" anchor="ctr"/>
          <a:lstStyle/>
          <a:p>
            <a:pPr algn="ctr" indent="0" marL="0">
              <a:buNone/>
            </a:pPr>
            <a:r>
              <a:rPr lang="en-US" sz="1150" dirty="0">
                <a:solidFill>
                  <a:srgbClr val="A8A296"/>
                </a:solidFill>
                <a:latin typeface="Calibri" pitchFamily="34" charset="0"/>
                <a:ea typeface="Calibri" pitchFamily="34" charset="-122"/>
                <a:cs typeface="Calibri" pitchFamily="34" charset="-120"/>
              </a:rPr>
              <a:t>Surgical · $2.0M private case  ·  $5.3M project  ·  5,825 SF  ·  4.01x stabilized coverage</a:t>
            </a:r>
            <a:endParaRPr lang="en-US" sz="1150" dirty="0"/>
          </a:p>
        </p:txBody>
      </p:sp>
      <p:sp>
        <p:nvSpPr>
          <p:cNvPr id="6" name="Text 4"/>
          <p:cNvSpPr/>
          <p:nvPr/>
        </p:nvSpPr>
        <p:spPr>
          <a:xfrm>
            <a:off x="502920" y="3017520"/>
            <a:ext cx="8138160" cy="274320"/>
          </a:xfrm>
          <a:prstGeom prst="rect">
            <a:avLst/>
          </a:prstGeom>
          <a:noFill/>
          <a:ln/>
        </p:spPr>
        <p:txBody>
          <a:bodyPr wrap="square" rtlCol="0" anchor="ctr"/>
          <a:lstStyle/>
          <a:p>
            <a:pPr algn="ctr" indent="0" marL="0">
              <a:buNone/>
            </a:pPr>
            <a:r>
              <a:rPr lang="en-US" sz="1050" dirty="0">
                <a:solidFill>
                  <a:srgbClr val="6E6A62"/>
                </a:solidFill>
                <a:latin typeface="Calibri" pitchFamily="34" charset="0"/>
                <a:ea typeface="Calibri" pitchFamily="34" charset="-122"/>
                <a:cs typeface="Calibri" pitchFamily="34" charset="-120"/>
              </a:rPr>
              <a:t>Full model, capacity workbook and buildout detail available under NDA.</a:t>
            </a:r>
            <a:endParaRPr lang="en-US" sz="1050" dirty="0"/>
          </a:p>
        </p:txBody>
      </p:sp>
      <p:sp>
        <p:nvSpPr>
          <p:cNvPr id="7" name="Text 5"/>
          <p:cNvSpPr/>
          <p:nvPr/>
        </p:nvSpPr>
        <p:spPr>
          <a:xfrm>
            <a:off x="502920" y="3364992"/>
            <a:ext cx="8138160" cy="320040"/>
          </a:xfrm>
          <a:prstGeom prst="rect">
            <a:avLst/>
          </a:prstGeom>
          <a:noFill/>
          <a:ln/>
        </p:spPr>
        <p:txBody>
          <a:bodyPr wrap="square" rtlCol="0" anchor="ctr"/>
          <a:lstStyle/>
          <a:p>
            <a:pPr algn="ctr" indent="0" marL="0">
              <a:buNone/>
            </a:pPr>
            <a:r>
              <a:rPr lang="en-US" sz="1400" dirty="0">
                <a:solidFill>
                  <a:srgbClr val="C08D7C"/>
                </a:solidFill>
                <a:latin typeface="Century Gothic" pitchFamily="34" charset="0"/>
                <a:ea typeface="Century Gothic" pitchFamily="34" charset="-122"/>
                <a:cs typeface="Century Gothic" pitchFamily="34" charset="-120"/>
              </a:rPr>
              <a:t>Laura@culvercitysurgical.com</a:t>
            </a:r>
            <a:endParaRPr lang="en-US" sz="1400" dirty="0"/>
          </a:p>
        </p:txBody>
      </p:sp>
      <p:sp>
        <p:nvSpPr>
          <p:cNvPr id="8" name="Text 6"/>
          <p:cNvSpPr/>
          <p:nvPr/>
        </p:nvSpPr>
        <p:spPr>
          <a:xfrm>
            <a:off x="502920" y="4206240"/>
            <a:ext cx="8138160" cy="457200"/>
          </a:xfrm>
          <a:prstGeom prst="rect">
            <a:avLst/>
          </a:prstGeom>
          <a:noFill/>
          <a:ln/>
        </p:spPr>
        <p:txBody>
          <a:bodyPr wrap="square" rtlCol="0" anchor="ctr"/>
          <a:lstStyle/>
          <a:p>
            <a:pPr algn="ctr" indent="0" marL="0">
              <a:buNone/>
            </a:pPr>
            <a:r>
              <a:rPr lang="en-US" sz="750" dirty="0">
                <a:solidFill>
                  <a:srgbClr val="6E6A62"/>
                </a:solidFill>
                <a:latin typeface="Calibri" pitchFamily="34" charset="0"/>
                <a:ea typeface="Calibri" pitchFamily="34" charset="-122"/>
                <a:cs typeface="Calibri" pitchFamily="34" charset="-120"/>
              </a:rPr>
              <a:t>This document is not an offer to sell or a solicitation of an offer to buy any security. Forward-looking figures are projections and not guarantees of future performance.</a:t>
            </a:r>
            <a:endParaRPr lang="en-US" sz="7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00000"/>
          </a:solidFill>
          <a:ln/>
        </p:spPr>
      </p:sp>
      <p:sp>
        <p:nvSpPr>
          <p:cNvPr id="3" name="Text 1"/>
          <p:cNvSpPr/>
          <p:nvPr/>
        </p:nvSpPr>
        <p:spPr>
          <a:xfrm>
            <a:off x="502920" y="1417320"/>
            <a:ext cx="8138160" cy="219456"/>
          </a:xfrm>
          <a:prstGeom prst="rect">
            <a:avLst/>
          </a:prstGeom>
          <a:noFill/>
          <a:ln/>
        </p:spPr>
        <p:txBody>
          <a:bodyPr wrap="square" rtlCol="0" anchor="ctr"/>
          <a:lstStyle/>
          <a:p>
            <a:pPr indent="0" marL="0">
              <a:buNone/>
            </a:pPr>
            <a:r>
              <a:rPr lang="en-US" sz="900" spc="340" kern="0" dirty="0">
                <a:solidFill>
                  <a:srgbClr val="C08D7C"/>
                </a:solidFill>
                <a:latin typeface="Century Gothic" pitchFamily="34" charset="0"/>
                <a:ea typeface="Century Gothic" pitchFamily="34" charset="-122"/>
                <a:cs typeface="Century Gothic" pitchFamily="34" charset="-120"/>
              </a:rPr>
              <a:t>APPENDIX</a:t>
            </a:r>
            <a:endParaRPr lang="en-US" sz="900" dirty="0"/>
          </a:p>
        </p:txBody>
      </p:sp>
      <p:sp>
        <p:nvSpPr>
          <p:cNvPr id="4" name="Text 2"/>
          <p:cNvSpPr/>
          <p:nvPr/>
        </p:nvSpPr>
        <p:spPr>
          <a:xfrm>
            <a:off x="502920" y="1691640"/>
            <a:ext cx="8138160" cy="548640"/>
          </a:xfrm>
          <a:prstGeom prst="rect">
            <a:avLst/>
          </a:prstGeom>
          <a:noFill/>
          <a:ln/>
        </p:spPr>
        <p:txBody>
          <a:bodyPr wrap="square" rtlCol="0" anchor="ctr"/>
          <a:lstStyle/>
          <a:p>
            <a:pPr indent="0" marL="0">
              <a:buNone/>
            </a:pPr>
            <a:r>
              <a:rPr lang="en-US" sz="3000" dirty="0">
                <a:solidFill>
                  <a:srgbClr val="EDE6DA"/>
                </a:solidFill>
                <a:latin typeface="Century Gothic" pitchFamily="34" charset="0"/>
                <a:ea typeface="Century Gothic" pitchFamily="34" charset="-122"/>
                <a:cs typeface="Century Gothic" pitchFamily="34" charset="-120"/>
              </a:rPr>
              <a:t>How these numbers were built.</a:t>
            </a:r>
            <a:endParaRPr lang="en-US" sz="3000" dirty="0"/>
          </a:p>
        </p:txBody>
      </p:sp>
      <p:sp>
        <p:nvSpPr>
          <p:cNvPr id="5" name="Shape 3"/>
          <p:cNvSpPr/>
          <p:nvPr/>
        </p:nvSpPr>
        <p:spPr>
          <a:xfrm>
            <a:off x="502920" y="2359152"/>
            <a:ext cx="822960" cy="36576"/>
          </a:xfrm>
          <a:prstGeom prst="rect">
            <a:avLst/>
          </a:prstGeom>
          <a:solidFill>
            <a:srgbClr val="C08D7C"/>
          </a:solidFill>
          <a:ln w="12700">
            <a:solidFill>
              <a:srgbClr val="C08D7C"/>
            </a:solidFill>
            <a:prstDash val="solid"/>
          </a:ln>
        </p:spPr>
      </p:sp>
      <p:sp>
        <p:nvSpPr>
          <p:cNvPr id="6" name="Text 4"/>
          <p:cNvSpPr/>
          <p:nvPr/>
        </p:nvSpPr>
        <p:spPr>
          <a:xfrm>
            <a:off x="502920" y="2606040"/>
            <a:ext cx="6673291" cy="640080"/>
          </a:xfrm>
          <a:prstGeom prst="rect">
            <a:avLst/>
          </a:prstGeom>
          <a:noFill/>
          <a:ln/>
        </p:spPr>
        <p:txBody>
          <a:bodyPr wrap="square" rtlCol="0" anchor="ctr"/>
          <a:lstStyle/>
          <a:p>
            <a:pPr indent="0" marL="0">
              <a:lnSpc>
                <a:spcPct val="125000"/>
              </a:lnSpc>
              <a:buNone/>
            </a:pPr>
            <a:r>
              <a:rPr lang="en-US" sz="1200" dirty="0">
                <a:solidFill>
                  <a:srgbClr val="A8A296"/>
                </a:solidFill>
                <a:latin typeface="Calibri" pitchFamily="34" charset="0"/>
                <a:ea typeface="Calibri" pitchFamily="34" charset="-122"/>
                <a:cs typeface="Calibri" pitchFamily="34" charset="-120"/>
              </a:rPr>
              <a:t>Everything in this brief resolves to a stabilized P&amp;L and a use-of-funds table. The slides that follow itemise both, every overhead line broken into its components, every capital line into what it buys, and the staffing plan named role by role.</a:t>
            </a:r>
            <a:endParaRPr lang="en-US" sz="1200" dirty="0"/>
          </a:p>
        </p:txBody>
      </p:sp>
      <p:sp>
        <p:nvSpPr>
          <p:cNvPr id="7" name="Text 5"/>
          <p:cNvSpPr/>
          <p:nvPr/>
        </p:nvSpPr>
        <p:spPr>
          <a:xfrm>
            <a:off x="502920" y="3291840"/>
            <a:ext cx="6673291" cy="868680"/>
          </a:xfrm>
          <a:prstGeom prst="rect">
            <a:avLst/>
          </a:prstGeom>
          <a:noFill/>
          <a:ln/>
        </p:spPr>
        <p:txBody>
          <a:bodyPr wrap="square" rtlCol="0" anchor="t"/>
          <a:lstStyle/>
          <a:p>
            <a:pPr indent="0" marL="0">
              <a:lnSpc>
                <a:spcPct val="125000"/>
              </a:lnSpc>
              <a:buNone/>
            </a:pPr>
            <a:r>
              <a:rPr lang="en-US" sz="1050" dirty="0">
                <a:solidFill>
                  <a:srgbClr val="6E6A62"/>
                </a:solidFill>
                <a:latin typeface="Calibri" pitchFamily="34" charset="0"/>
                <a:ea typeface="Calibri" pitchFamily="34" charset="-122"/>
                <a:cs typeface="Calibri" pitchFamily="34" charset="-120"/>
              </a:rPr>
              <a:t>These figures come from the same model that produces the rest of the deck, and each build-up is checked at build time to sum to the total it explains. Every figure resting on judgment rather than a quote is named in the provenance pages. The full written methodology, with sources, ships alongside this deck as ASSUMPTIONS.md and as methodology.html on the site.</a:t>
            </a:r>
            <a:endParaRPr lang="en-US" sz="10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APPENDIX · FIXED OVERHEAD</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Rent, equipment and administration.</a:t>
            </a:r>
            <a:endParaRPr lang="en-US" sz="2600" dirty="0"/>
          </a:p>
        </p:txBody>
      </p:sp>
      <p:sp>
        <p:nvSpPr>
          <p:cNvPr id="4" name="Text 2"/>
          <p:cNvSpPr/>
          <p:nvPr/>
        </p:nvSpPr>
        <p:spPr>
          <a:xfrm>
            <a:off x="502920" y="1097280"/>
            <a:ext cx="8138160" cy="457200"/>
          </a:xfrm>
          <a:prstGeom prst="rect">
            <a:avLst/>
          </a:prstGeom>
          <a:noFill/>
          <a:ln/>
        </p:spPr>
        <p:txBody>
          <a:bodyPr wrap="square" rtlCol="0" anchor="t"/>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Fixed overhead totals $342,713 a month. Rent is 5,825 SF at $5.50/SF/month NNN.</a:t>
            </a:r>
            <a:endParaRPr lang="en-US" sz="1150" dirty="0"/>
          </a:p>
        </p:txBody>
      </p:sp>
      <p:sp>
        <p:nvSpPr>
          <p:cNvPr id="5" name="Text 3"/>
          <p:cNvSpPr/>
          <p:nvPr/>
        </p:nvSpPr>
        <p:spPr>
          <a:xfrm>
            <a:off x="502920" y="1691640"/>
            <a:ext cx="3968496" cy="182880"/>
          </a:xfrm>
          <a:prstGeom prst="rect">
            <a:avLst/>
          </a:prstGeom>
          <a:noFill/>
          <a:ln/>
        </p:spPr>
        <p:txBody>
          <a:bodyPr wrap="square" rtlCol="0" anchor="ctr"/>
          <a:lstStyle/>
          <a:p>
            <a:pPr indent="0" marL="0">
              <a:buNone/>
            </a:pPr>
            <a:r>
              <a:rPr lang="en-US" sz="750" spc="180" kern="0" dirty="0">
                <a:solidFill>
                  <a:srgbClr val="C08D7C"/>
                </a:solidFill>
                <a:latin typeface="Century Gothic" pitchFamily="34" charset="0"/>
                <a:ea typeface="Century Gothic" pitchFamily="34" charset="-122"/>
                <a:cs typeface="Century Gothic" pitchFamily="34" charset="-120"/>
              </a:rPr>
              <a:t>EQUIPMENT LEASES</a:t>
            </a:r>
            <a:endParaRPr lang="en-US" sz="75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02920" y="1911096"/>
          <a:ext cx="3968496" cy="914400"/>
        </p:xfrm>
        <a:graphic>
          <a:graphicData uri="http://schemas.openxmlformats.org/drawingml/2006/table">
            <a:tbl>
              <a:tblPr/>
              <a:tblGrid>
                <a:gridCol w="2619207"/>
                <a:gridCol w="1349289"/>
              </a:tblGrid>
              <a:tr h="201168">
                <a:tc>
                  <a:txBody>
                    <a:bodyPr/>
                    <a:lstStyle/>
                    <a:p>
                      <a:pPr algn="l" indent="0" marL="0">
                        <a:buNone/>
                      </a:pPr>
                      <a:r>
                        <a:rPr lang="en-US" sz="800" spc="140" kern="0" dirty="0">
                          <a:solidFill>
                            <a:srgbClr val="C08D7C"/>
                          </a:solidFill>
                          <a:latin typeface="Century Gothic" pitchFamily="34" charset="0"/>
                          <a:ea typeface="Century Gothic" pitchFamily="34" charset="-122"/>
                          <a:cs typeface="Century Gothic" pitchFamily="34" charset="-120"/>
                        </a:rPr>
                        <a:t>Component</a:t>
                      </a:r>
                      <a:endParaRPr lang="en-US" sz="800" dirty="0">
                        <a:latin typeface="Century Gothic" charset="0"/>
                        <a:ea typeface="Century Gothic" charset="0"/>
                        <a:cs typeface="Century Gothic"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00" spc="140" kern="0" dirty="0">
                          <a:solidFill>
                            <a:srgbClr val="C08D7C"/>
                          </a:solidFill>
                          <a:latin typeface="Century Gothic" pitchFamily="34" charset="0"/>
                          <a:ea typeface="Century Gothic" pitchFamily="34" charset="-122"/>
                          <a:cs typeface="Century Gothic" pitchFamily="34" charset="-120"/>
                        </a:rPr>
                        <a:t>Monthly</a:t>
                      </a:r>
                      <a:endParaRPr lang="en-US" sz="800" dirty="0">
                        <a:latin typeface="Century Gothic" charset="0"/>
                        <a:ea typeface="Century Gothic" charset="0"/>
                        <a:cs typeface="Century Gothic"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20116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Ammortal chamber (1 unit) financed</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3000</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0116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Aescape robotic massage (1 unit) subscription</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5000</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0116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Second red light bed financed</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1375</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0116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Balance of clinical and surgical equipment financed (~$900,000 @ 2.2%/mo)</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19800</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01168">
                <a:tc>
                  <a:txBody>
                    <a:bodyPr/>
                    <a:lstStyle/>
                    <a:p>
                      <a:pPr algn="l" indent="0" marL="0">
                        <a:buNone/>
                      </a:pPr>
                      <a:r>
                        <a:rPr lang="en-US" sz="800" b="1" dirty="0">
                          <a:solidFill>
                            <a:srgbClr val="C08D7C"/>
                          </a:solidFill>
                          <a:latin typeface="Calibri" pitchFamily="34" charset="0"/>
                          <a:ea typeface="Calibri" pitchFamily="34" charset="-122"/>
                          <a:cs typeface="Calibri" pitchFamily="34" charset="-120"/>
                        </a:rPr>
                        <a:t>Total</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800" b="1" dirty="0">
                          <a:solidFill>
                            <a:srgbClr val="C08D7C"/>
                          </a:solidFill>
                          <a:latin typeface="Calibri" pitchFamily="34" charset="0"/>
                          <a:ea typeface="Calibri" pitchFamily="34" charset="-122"/>
                          <a:cs typeface="Calibri" pitchFamily="34" charset="-120"/>
                        </a:rPr>
                        <a:t>$29,175</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bl>
          </a:graphicData>
        </a:graphic>
      </p:graphicFrame>
      <p:sp>
        <p:nvSpPr>
          <p:cNvPr id="7" name="Text 4"/>
          <p:cNvSpPr/>
          <p:nvPr/>
        </p:nvSpPr>
        <p:spPr>
          <a:xfrm>
            <a:off x="4672584" y="1691640"/>
            <a:ext cx="3968496" cy="182880"/>
          </a:xfrm>
          <a:prstGeom prst="rect">
            <a:avLst/>
          </a:prstGeom>
          <a:noFill/>
          <a:ln/>
        </p:spPr>
        <p:txBody>
          <a:bodyPr wrap="square" rtlCol="0" anchor="ctr"/>
          <a:lstStyle/>
          <a:p>
            <a:pPr indent="0" marL="0">
              <a:buNone/>
            </a:pPr>
            <a:r>
              <a:rPr lang="en-US" sz="750" spc="180" kern="0" dirty="0">
                <a:solidFill>
                  <a:srgbClr val="C08D7C"/>
                </a:solidFill>
                <a:latin typeface="Century Gothic" pitchFamily="34" charset="0"/>
                <a:ea typeface="Century Gothic" pitchFamily="34" charset="-122"/>
                <a:cs typeface="Century Gothic" pitchFamily="34" charset="-120"/>
              </a:rPr>
              <a:t>ADMIN AND MANAGEMENT</a:t>
            </a:r>
            <a:endParaRPr lang="en-US" sz="750" dirty="0"/>
          </a:p>
        </p:txBody>
      </p:sp>
      <p:graphicFrame>
        <p:nvGraphicFramePr>
          <p:cNvPr id="63" name="Table 1"/>
          <p:cNvGraphicFramePr>
            <a:graphicFrameLocks noGrp="1"/>
          </p:cNvGraphicFramePr>
          <p:nvPr>
            <p:extLst>
              <p:ext uri="{D42A27DB-BD31-4B8C-83A1-F6EECF244321}">
                <p14:modId xmlns:p14="http://schemas.microsoft.com/office/powerpoint/2010/main" val="1579011935"/>
              </p:ext>
            </p:extLst>
          </p:nvPr>
        </p:nvGraphicFramePr>
        <p:xfrm>
          <a:off x="4672584" y="1911096"/>
          <a:ext cx="3968496" cy="914400"/>
        </p:xfrm>
        <a:graphic>
          <a:graphicData uri="http://schemas.openxmlformats.org/drawingml/2006/table">
            <a:tbl>
              <a:tblPr/>
              <a:tblGrid>
                <a:gridCol w="2619207"/>
                <a:gridCol w="1349289"/>
              </a:tblGrid>
              <a:tr h="201168">
                <a:tc>
                  <a:txBody>
                    <a:bodyPr/>
                    <a:lstStyle/>
                    <a:p>
                      <a:pPr algn="l" indent="0" marL="0">
                        <a:buNone/>
                      </a:pPr>
                      <a:r>
                        <a:rPr lang="en-US" sz="800" spc="140" kern="0" dirty="0">
                          <a:solidFill>
                            <a:srgbClr val="C08D7C"/>
                          </a:solidFill>
                          <a:latin typeface="Century Gothic" pitchFamily="34" charset="0"/>
                          <a:ea typeface="Century Gothic" pitchFamily="34" charset="-122"/>
                          <a:cs typeface="Century Gothic" pitchFamily="34" charset="-120"/>
                        </a:rPr>
                        <a:t>Component</a:t>
                      </a:r>
                      <a:endParaRPr lang="en-US" sz="800" dirty="0">
                        <a:latin typeface="Century Gothic" charset="0"/>
                        <a:ea typeface="Century Gothic" charset="0"/>
                        <a:cs typeface="Century Gothic"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00" spc="140" kern="0" dirty="0">
                          <a:solidFill>
                            <a:srgbClr val="C08D7C"/>
                          </a:solidFill>
                          <a:latin typeface="Century Gothic" pitchFamily="34" charset="0"/>
                          <a:ea typeface="Century Gothic" pitchFamily="34" charset="-122"/>
                          <a:cs typeface="Century Gothic" pitchFamily="34" charset="-120"/>
                        </a:rPr>
                        <a:t>Monthly</a:t>
                      </a:r>
                      <a:endParaRPr lang="en-US" sz="800" dirty="0">
                        <a:latin typeface="Century Gothic" charset="0"/>
                        <a:ea typeface="Century Gothic" charset="0"/>
                        <a:cs typeface="Century Gothic"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20116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Bookkeeping and accounting</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5500</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0116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Legal and compliance retainer</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4000</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0116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IT and managed services</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4500</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0116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Business insurance (GL, property, cyber)</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3500</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0116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Merchant processing and banking</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9500</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0116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Recruiting, training, miscellaneous</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3000</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01168">
                <a:tc>
                  <a:txBody>
                    <a:bodyPr/>
                    <a:lstStyle/>
                    <a:p>
                      <a:pPr algn="l" indent="0" marL="0">
                        <a:buNone/>
                      </a:pPr>
                      <a:r>
                        <a:rPr lang="en-US" sz="800" b="1" dirty="0">
                          <a:solidFill>
                            <a:srgbClr val="C08D7C"/>
                          </a:solidFill>
                          <a:latin typeface="Calibri" pitchFamily="34" charset="0"/>
                          <a:ea typeface="Calibri" pitchFamily="34" charset="-122"/>
                          <a:cs typeface="Calibri" pitchFamily="34" charset="-120"/>
                        </a:rPr>
                        <a:t>Total</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800" b="1" dirty="0">
                          <a:solidFill>
                            <a:srgbClr val="C08D7C"/>
                          </a:solidFill>
                          <a:latin typeface="Calibri" pitchFamily="34" charset="0"/>
                          <a:ea typeface="Calibri" pitchFamily="34" charset="-122"/>
                          <a:cs typeface="Calibri" pitchFamily="34" charset="-120"/>
                        </a:rPr>
                        <a:t>$30,000</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bl>
          </a:graphicData>
        </a:graphic>
      </p:graphicFrame>
      <p:sp>
        <p:nvSpPr>
          <p:cNvPr id="9" name="Text 5"/>
          <p:cNvSpPr/>
          <p:nvPr/>
        </p:nvSpPr>
        <p:spPr>
          <a:xfrm>
            <a:off x="502920" y="3886200"/>
            <a:ext cx="8138160" cy="594360"/>
          </a:xfrm>
          <a:prstGeom prst="rect">
            <a:avLst/>
          </a:prstGeom>
          <a:noFill/>
          <a:ln/>
        </p:spPr>
        <p:txBody>
          <a:bodyPr wrap="square" rtlCol="0" anchor="ctr"/>
          <a:lstStyle/>
          <a:p>
            <a:pPr indent="0" marL="0">
              <a:lnSpc>
                <a:spcPct val="120000"/>
              </a:lnSpc>
              <a:buNone/>
            </a:pPr>
            <a:r>
              <a:rPr lang="en-US" sz="850" dirty="0">
                <a:solidFill>
                  <a:srgbClr val="6E6A62"/>
                </a:solidFill>
                <a:latin typeface="Calibri" pitchFamily="34" charset="0"/>
                <a:ea typeface="Calibri" pitchFamily="34" charset="-122"/>
                <a:cs typeface="Calibri" pitchFamily="34" charset="-120"/>
              </a:rPr>
              <a:t>One Ammortal chamber and one Aescape unit, matching the ample program this case is now built on, which is what takes this line down from $37,300. Aescape cannot be purchased, and its $10 per-massage fee sits inside that service line’s margin. The second red light bed is vendor-financed at $1,375 a month to carry 650 sessions.</a:t>
            </a:r>
            <a:endParaRPr lang="en-US" sz="850" dirty="0"/>
          </a:p>
        </p:txBody>
      </p:sp>
      <p:sp>
        <p:nvSpPr>
          <p:cNvPr id="10" name="Text 6"/>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 $2.0M PRIVATE CASE  ·  CONFIDENTIAL</a:t>
            </a:r>
            <a:endParaRPr lang="en-US" sz="700" dirty="0"/>
          </a:p>
        </p:txBody>
      </p:sp>
      <p:sp>
        <p:nvSpPr>
          <p:cNvPr id="11" name="Text 7"/>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31</a:t>
            </a:r>
            <a:endParaRPr lang="en-US" sz="7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APPENDIX · FIXED OVERHEAD</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Clinical and club staff: $165,000/month.</a:t>
            </a:r>
            <a:endParaRPr lang="en-US" sz="2600" dirty="0"/>
          </a:p>
        </p:txBody>
      </p:sp>
      <p:sp>
        <p:nvSpPr>
          <p:cNvPr id="4" name="Text 2"/>
          <p:cNvSpPr/>
          <p:nvPr/>
        </p:nvSpPr>
        <p:spPr>
          <a:xfrm>
            <a:off x="502920" y="1097280"/>
            <a:ext cx="8138160" cy="457200"/>
          </a:xfrm>
          <a:prstGeom prst="rect">
            <a:avLst/>
          </a:prstGeom>
          <a:noFill/>
          <a:ln/>
        </p:spPr>
        <p:txBody>
          <a:bodyPr wrap="square" rtlCol="0" anchor="t"/>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The club runs 14 hours a day, 7 days a week (98 hours), so one continuously staffed post is 2.45 FTE, not 1. All figures are fully loaded: base plus payroll tax, workers compensation and benefits.</a:t>
            </a:r>
            <a:endParaRPr lang="en-US" sz="115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02920" y="1783080"/>
          <a:ext cx="8138160" cy="914400"/>
        </p:xfrm>
        <a:graphic>
          <a:graphicData uri="http://schemas.openxmlformats.org/drawingml/2006/table">
            <a:tbl>
              <a:tblPr/>
              <a:tblGrid>
                <a:gridCol w="5120640"/>
                <a:gridCol w="1097280"/>
                <a:gridCol w="1920240"/>
              </a:tblGrid>
              <a:tr h="155448">
                <a:tc>
                  <a:txBody>
                    <a:bodyPr/>
                    <a:lstStyle/>
                    <a:p>
                      <a:pPr algn="l" indent="0" marL="0">
                        <a:buNone/>
                      </a:pPr>
                      <a:r>
                        <a:rPr lang="en-US" sz="800" spc="140" kern="0" dirty="0">
                          <a:solidFill>
                            <a:srgbClr val="C08D7C"/>
                          </a:solidFill>
                          <a:latin typeface="Century Gothic" pitchFamily="34" charset="0"/>
                          <a:ea typeface="Century Gothic" pitchFamily="34" charset="-122"/>
                          <a:cs typeface="Century Gothic" pitchFamily="34" charset="-120"/>
                        </a:rPr>
                        <a:t>Role</a:t>
                      </a:r>
                      <a:endParaRPr lang="en-US" sz="800" dirty="0">
                        <a:latin typeface="Century Gothic" charset="0"/>
                        <a:ea typeface="Century Gothic" charset="0"/>
                        <a:cs typeface="Century Gothic"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00" spc="140" kern="0" dirty="0">
                          <a:solidFill>
                            <a:srgbClr val="C08D7C"/>
                          </a:solidFill>
                          <a:latin typeface="Century Gothic" pitchFamily="34" charset="0"/>
                          <a:ea typeface="Century Gothic" pitchFamily="34" charset="-122"/>
                          <a:cs typeface="Century Gothic" pitchFamily="34" charset="-120"/>
                        </a:rPr>
                        <a:t>FTE</a:t>
                      </a:r>
                      <a:endParaRPr lang="en-US" sz="800" dirty="0">
                        <a:latin typeface="Century Gothic" charset="0"/>
                        <a:ea typeface="Century Gothic" charset="0"/>
                        <a:cs typeface="Century Gothic"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00" spc="140" kern="0" dirty="0">
                          <a:solidFill>
                            <a:srgbClr val="C08D7C"/>
                          </a:solidFill>
                          <a:latin typeface="Century Gothic" pitchFamily="34" charset="0"/>
                          <a:ea typeface="Century Gothic" pitchFamily="34" charset="-122"/>
                          <a:cs typeface="Century Gothic" pitchFamily="34" charset="-120"/>
                        </a:rPr>
                        <a:t>Monthly, loaded</a:t>
                      </a:r>
                      <a:endParaRPr lang="en-US" sz="800" dirty="0">
                        <a:latin typeface="Century Gothic" charset="0"/>
                        <a:ea typeface="Century Gothic" charset="0"/>
                        <a:cs typeface="Century Gothic"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15544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Founder &amp; Operator</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1.0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$12,000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Medical Director (MD/DO)</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0.4</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$10,000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Aesthetics Injector (NP or PA)</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1.0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$14,500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Longevity Clinical Lead (NP or PA)</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1.0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$13,500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Registered Nurses: IV, regenerative, recovery</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2.0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$19,000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Medical assistants / technicians</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3.0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$16,500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Club General Manager</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1.0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$11,500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Front desk / concierge</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2.5</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$11,875</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Club hosts / floor attendants</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2.5</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$11,250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Membership &amp; events coordinator</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1.0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$7,500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Facilities / housekeeping</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1.5</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$7,375</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Surgical Technologist</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1.0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$7,500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Circulator RN</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1.0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$9,500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Monitoring RN: sedation and PACU</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1.0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$9,000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Sterile processing technician</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0.5</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$4,000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b="1" dirty="0">
                          <a:solidFill>
                            <a:srgbClr val="C08D7C"/>
                          </a:solidFill>
                          <a:latin typeface="Calibri" pitchFamily="34" charset="0"/>
                          <a:ea typeface="Calibri" pitchFamily="34" charset="-122"/>
                          <a:cs typeface="Calibri" pitchFamily="34" charset="-120"/>
                        </a:rPr>
                        <a:t>Total</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800" b="1" dirty="0">
                          <a:solidFill>
                            <a:srgbClr val="C08D7C"/>
                          </a:solidFill>
                          <a:latin typeface="Calibri" pitchFamily="34" charset="0"/>
                          <a:ea typeface="Calibri" pitchFamily="34" charset="-122"/>
                          <a:cs typeface="Calibri" pitchFamily="34" charset="-120"/>
                        </a:rPr>
                        <a:t>$165,000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bl>
          </a:graphicData>
        </a:graphic>
      </p:graphicFrame>
      <p:sp>
        <p:nvSpPr>
          <p:cNvPr id="6" name="Text 3"/>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 $2.0M PRIVATE CASE  ·  CONFIDENTIAL</a:t>
            </a:r>
            <a:endParaRPr lang="en-US" sz="700" dirty="0"/>
          </a:p>
        </p:txBody>
      </p:sp>
      <p:sp>
        <p:nvSpPr>
          <p:cNvPr id="7" name="Text 4"/>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32</a:t>
            </a:r>
            <a:endParaRPr lang="en-US" sz="7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APPENDIX · FIXED OVERHEAD</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Marketing and insurance.</a:t>
            </a:r>
            <a:endParaRPr lang="en-US" sz="2600" dirty="0"/>
          </a:p>
        </p:txBody>
      </p:sp>
      <p:sp>
        <p:nvSpPr>
          <p:cNvPr id="4" name="Text 2"/>
          <p:cNvSpPr/>
          <p:nvPr/>
        </p:nvSpPr>
        <p:spPr>
          <a:xfrm>
            <a:off x="502920" y="1554480"/>
            <a:ext cx="3968496" cy="182880"/>
          </a:xfrm>
          <a:prstGeom prst="rect">
            <a:avLst/>
          </a:prstGeom>
          <a:noFill/>
          <a:ln/>
        </p:spPr>
        <p:txBody>
          <a:bodyPr wrap="square" rtlCol="0" anchor="ctr"/>
          <a:lstStyle/>
          <a:p>
            <a:pPr indent="0" marL="0">
              <a:buNone/>
            </a:pPr>
            <a:r>
              <a:rPr lang="en-US" sz="750" spc="180" kern="0" dirty="0">
                <a:solidFill>
                  <a:srgbClr val="C08D7C"/>
                </a:solidFill>
                <a:latin typeface="Century Gothic" pitchFamily="34" charset="0"/>
                <a:ea typeface="Century Gothic" pitchFamily="34" charset="-122"/>
                <a:cs typeface="Century Gothic" pitchFamily="34" charset="-120"/>
              </a:rPr>
              <a:t>MARKETING AND MEMBER ACQUISITION</a:t>
            </a:r>
            <a:endParaRPr lang="en-US" sz="75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02920" y="1773936"/>
          <a:ext cx="3968496" cy="914400"/>
        </p:xfrm>
        <a:graphic>
          <a:graphicData uri="http://schemas.openxmlformats.org/drawingml/2006/table">
            <a:tbl>
              <a:tblPr/>
              <a:tblGrid>
                <a:gridCol w="2619207"/>
                <a:gridCol w="1349289"/>
              </a:tblGrid>
              <a:tr h="219456">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Component</a:t>
                      </a:r>
                      <a:endParaRPr lang="en-US" sz="850" dirty="0">
                        <a:latin typeface="Century Gothic" charset="0"/>
                        <a:ea typeface="Century Gothic" charset="0"/>
                        <a:cs typeface="Century Gothic"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Monthly</a:t>
                      </a:r>
                      <a:endParaRPr lang="en-US" sz="850" dirty="0">
                        <a:latin typeface="Century Gothic" charset="0"/>
                        <a:ea typeface="Century Gothic" charset="0"/>
                        <a:cs typeface="Century Gothic"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Paid digital and social</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12500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Content, photography, video</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4500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Events and community programming</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5000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Agency / fractional marketing lead</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6500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Referral and partnership incentives</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3500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b="1" dirty="0">
                          <a:solidFill>
                            <a:srgbClr val="C08D7C"/>
                          </a:solidFill>
                          <a:latin typeface="Calibri" pitchFamily="34" charset="0"/>
                          <a:ea typeface="Calibri" pitchFamily="34" charset="-122"/>
                          <a:cs typeface="Calibri" pitchFamily="34" charset="-120"/>
                        </a:rPr>
                        <a:t>Total</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850" b="1" dirty="0">
                          <a:solidFill>
                            <a:srgbClr val="C08D7C"/>
                          </a:solidFill>
                          <a:latin typeface="Calibri" pitchFamily="34" charset="0"/>
                          <a:ea typeface="Calibri" pitchFamily="34" charset="-122"/>
                          <a:cs typeface="Calibri" pitchFamily="34" charset="-120"/>
                        </a:rPr>
                        <a:t>$32,000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bl>
          </a:graphicData>
        </a:graphic>
      </p:graphicFrame>
      <p:sp>
        <p:nvSpPr>
          <p:cNvPr id="6" name="Text 3"/>
          <p:cNvSpPr/>
          <p:nvPr/>
        </p:nvSpPr>
        <p:spPr>
          <a:xfrm>
            <a:off x="4672584" y="1554480"/>
            <a:ext cx="3968496" cy="182880"/>
          </a:xfrm>
          <a:prstGeom prst="rect">
            <a:avLst/>
          </a:prstGeom>
          <a:noFill/>
          <a:ln/>
        </p:spPr>
        <p:txBody>
          <a:bodyPr wrap="square" rtlCol="0" anchor="ctr"/>
          <a:lstStyle/>
          <a:p>
            <a:pPr indent="0" marL="0">
              <a:buNone/>
            </a:pPr>
            <a:r>
              <a:rPr lang="en-US" sz="750" spc="180" kern="0" dirty="0">
                <a:solidFill>
                  <a:srgbClr val="C08D7C"/>
                </a:solidFill>
                <a:latin typeface="Century Gothic" pitchFamily="34" charset="0"/>
                <a:ea typeface="Century Gothic" pitchFamily="34" charset="-122"/>
                <a:cs typeface="Century Gothic" pitchFamily="34" charset="-120"/>
              </a:rPr>
              <a:t>MALPRACTICE AND LIABILITY</a:t>
            </a:r>
            <a:endParaRPr lang="en-US" sz="750" dirty="0"/>
          </a:p>
        </p:txBody>
      </p:sp>
      <p:graphicFrame>
        <p:nvGraphicFramePr>
          <p:cNvPr id="67" name="Table 1"/>
          <p:cNvGraphicFramePr>
            <a:graphicFrameLocks noGrp="1"/>
          </p:cNvGraphicFramePr>
          <p:nvPr>
            <p:extLst>
              <p:ext uri="{D42A27DB-BD31-4B8C-83A1-F6EECF244321}">
                <p14:modId xmlns:p14="http://schemas.microsoft.com/office/powerpoint/2010/main" val="1579011935"/>
              </p:ext>
            </p:extLst>
          </p:nvPr>
        </p:nvGraphicFramePr>
        <p:xfrm>
          <a:off x="4672584" y="1773936"/>
          <a:ext cx="3968496" cy="914400"/>
        </p:xfrm>
        <a:graphic>
          <a:graphicData uri="http://schemas.openxmlformats.org/drawingml/2006/table">
            <a:tbl>
              <a:tblPr/>
              <a:tblGrid>
                <a:gridCol w="2619207"/>
                <a:gridCol w="1349289"/>
              </a:tblGrid>
              <a:tr h="219456">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Component</a:t>
                      </a:r>
                      <a:endParaRPr lang="en-US" sz="850" dirty="0">
                        <a:latin typeface="Century Gothic" charset="0"/>
                        <a:ea typeface="Century Gothic" charset="0"/>
                        <a:cs typeface="Century Gothic"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Monthly</a:t>
                      </a:r>
                      <a:endParaRPr lang="en-US" sz="850" dirty="0">
                        <a:latin typeface="Century Gothic" charset="0"/>
                        <a:ea typeface="Century Gothic" charset="0"/>
                        <a:cs typeface="Century Gothic"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Medical Director policy</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3500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Aesthetics injector policy</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3000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Longevity clinical lead policy</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2500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Nursing and surgical staff coverage</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3000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Accredited OR facility coverage</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9000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Entity policy and raised umbrella limits</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5000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b="1" dirty="0">
                          <a:solidFill>
                            <a:srgbClr val="C08D7C"/>
                          </a:solidFill>
                          <a:latin typeface="Calibri" pitchFamily="34" charset="0"/>
                          <a:ea typeface="Calibri" pitchFamily="34" charset="-122"/>
                          <a:cs typeface="Calibri" pitchFamily="34" charset="-120"/>
                        </a:rPr>
                        <a:t>Total</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850" b="1" dirty="0">
                          <a:solidFill>
                            <a:srgbClr val="C08D7C"/>
                          </a:solidFill>
                          <a:latin typeface="Calibri" pitchFamily="34" charset="0"/>
                          <a:ea typeface="Calibri" pitchFamily="34" charset="-122"/>
                          <a:cs typeface="Calibri" pitchFamily="34" charset="-120"/>
                        </a:rPr>
                        <a:t>$26,000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bl>
          </a:graphicData>
        </a:graphic>
      </p:graphicFrame>
      <p:sp>
        <p:nvSpPr>
          <p:cNvPr id="8" name="Text 4"/>
          <p:cNvSpPr/>
          <p:nvPr/>
        </p:nvSpPr>
        <p:spPr>
          <a:xfrm>
            <a:off x="502920" y="3840480"/>
            <a:ext cx="8138160" cy="502920"/>
          </a:xfrm>
          <a:prstGeom prst="rect">
            <a:avLst/>
          </a:prstGeom>
          <a:noFill/>
          <a:ln/>
        </p:spPr>
        <p:txBody>
          <a:bodyPr wrap="square" rtlCol="0" anchor="ctr"/>
          <a:lstStyle/>
          <a:p>
            <a:pPr indent="0" marL="0">
              <a:lnSpc>
                <a:spcPct val="120000"/>
              </a:lnSpc>
              <a:buNone/>
            </a:pPr>
            <a:r>
              <a:rPr lang="en-US" sz="850" dirty="0">
                <a:solidFill>
                  <a:srgbClr val="6E6A62"/>
                </a:solidFill>
                <a:latin typeface="Calibri" pitchFamily="34" charset="0"/>
                <a:ea typeface="Calibri" pitchFamily="34" charset="-122"/>
                <a:cs typeface="Calibri" pitchFamily="34" charset="-120"/>
              </a:rPr>
              <a:t>Priced per credentialed provider plus an entity policy and umbrella. The surgical case adds facility coverage for an accredited operating room, which is the single largest driver of the difference.</a:t>
            </a:r>
            <a:endParaRPr lang="en-US" sz="850" dirty="0"/>
          </a:p>
        </p:txBody>
      </p:sp>
      <p:sp>
        <p:nvSpPr>
          <p:cNvPr id="9" name="Text 5"/>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 $2.0M PRIVATE CASE  ·  CONFIDENTIAL</a:t>
            </a:r>
            <a:endParaRPr lang="en-US" sz="700" dirty="0"/>
          </a:p>
        </p:txBody>
      </p:sp>
      <p:sp>
        <p:nvSpPr>
          <p:cNvPr id="10" name="Text 6"/>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33</a:t>
            </a:r>
            <a:endParaRPr lang="en-US" sz="7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APPENDIX · FIXED OVERHEAD</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Utilities and compliance.</a:t>
            </a:r>
            <a:endParaRPr lang="en-US" sz="2600" dirty="0"/>
          </a:p>
        </p:txBody>
      </p:sp>
      <p:sp>
        <p:nvSpPr>
          <p:cNvPr id="4" name="Text 2"/>
          <p:cNvSpPr/>
          <p:nvPr/>
        </p:nvSpPr>
        <p:spPr>
          <a:xfrm>
            <a:off x="502920" y="1554480"/>
            <a:ext cx="3968496" cy="182880"/>
          </a:xfrm>
          <a:prstGeom prst="rect">
            <a:avLst/>
          </a:prstGeom>
          <a:noFill/>
          <a:ln/>
        </p:spPr>
        <p:txBody>
          <a:bodyPr wrap="square" rtlCol="0" anchor="ctr"/>
          <a:lstStyle/>
          <a:p>
            <a:pPr indent="0" marL="0">
              <a:buNone/>
            </a:pPr>
            <a:r>
              <a:rPr lang="en-US" sz="750" spc="180" kern="0" dirty="0">
                <a:solidFill>
                  <a:srgbClr val="C08D7C"/>
                </a:solidFill>
                <a:latin typeface="Century Gothic" pitchFamily="34" charset="0"/>
                <a:ea typeface="Century Gothic" pitchFamily="34" charset="-122"/>
                <a:cs typeface="Century Gothic" pitchFamily="34" charset="-120"/>
              </a:rPr>
              <a:t>UTILITIES, SOFTWARE, MEMBER PLATFORM</a:t>
            </a:r>
            <a:endParaRPr lang="en-US" sz="75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02920" y="1773936"/>
          <a:ext cx="3968496" cy="914400"/>
        </p:xfrm>
        <a:graphic>
          <a:graphicData uri="http://schemas.openxmlformats.org/drawingml/2006/table">
            <a:tbl>
              <a:tblPr/>
              <a:tblGrid>
                <a:gridCol w="2619207"/>
                <a:gridCol w="1349289"/>
              </a:tblGrid>
              <a:tr h="219456">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Component</a:t>
                      </a:r>
                      <a:endParaRPr lang="en-US" sz="850" dirty="0">
                        <a:latin typeface="Century Gothic" charset="0"/>
                        <a:ea typeface="Century Gothic" charset="0"/>
                        <a:cs typeface="Century Gothic"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Monthly</a:t>
                      </a:r>
                      <a:endParaRPr lang="en-US" sz="850" dirty="0">
                        <a:latin typeface="Century Gothic" charset="0"/>
                        <a:ea typeface="Century Gothic" charset="0"/>
                        <a:cs typeface="Century Gothic"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Utilities (electric, gas, water, OR HVAC)</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8500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Member platform and booking</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2500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EMR / charting and surgical records</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2500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Phone, internet, security monitoring</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1500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Laundry and linen service</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2500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Music, AV, miscellaneous systems</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1000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b="1" dirty="0">
                          <a:solidFill>
                            <a:srgbClr val="C08D7C"/>
                          </a:solidFill>
                          <a:latin typeface="Calibri" pitchFamily="34" charset="0"/>
                          <a:ea typeface="Calibri" pitchFamily="34" charset="-122"/>
                          <a:cs typeface="Calibri" pitchFamily="34" charset="-120"/>
                        </a:rPr>
                        <a:t>Total</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850" b="1" dirty="0">
                          <a:solidFill>
                            <a:srgbClr val="C08D7C"/>
                          </a:solidFill>
                          <a:latin typeface="Calibri" pitchFamily="34" charset="0"/>
                          <a:ea typeface="Calibri" pitchFamily="34" charset="-122"/>
                          <a:cs typeface="Calibri" pitchFamily="34" charset="-120"/>
                        </a:rPr>
                        <a:t>$18,500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bl>
          </a:graphicData>
        </a:graphic>
      </p:graphicFrame>
      <p:sp>
        <p:nvSpPr>
          <p:cNvPr id="6" name="Text 3"/>
          <p:cNvSpPr/>
          <p:nvPr/>
        </p:nvSpPr>
        <p:spPr>
          <a:xfrm>
            <a:off x="4672584" y="1554480"/>
            <a:ext cx="3968496" cy="182880"/>
          </a:xfrm>
          <a:prstGeom prst="rect">
            <a:avLst/>
          </a:prstGeom>
          <a:noFill/>
          <a:ln/>
        </p:spPr>
        <p:txBody>
          <a:bodyPr wrap="square" rtlCol="0" anchor="ctr"/>
          <a:lstStyle/>
          <a:p>
            <a:pPr indent="0" marL="0">
              <a:buNone/>
            </a:pPr>
            <a:r>
              <a:rPr lang="en-US" sz="750" spc="180" kern="0" dirty="0">
                <a:solidFill>
                  <a:srgbClr val="C08D7C"/>
                </a:solidFill>
                <a:latin typeface="Century Gothic" pitchFamily="34" charset="0"/>
                <a:ea typeface="Century Gothic" pitchFamily="34" charset="-122"/>
                <a:cs typeface="Century Gothic" pitchFamily="34" charset="-120"/>
              </a:rPr>
              <a:t>LICENSING, COMPLIANCE AND ACCREDITATION</a:t>
            </a:r>
            <a:endParaRPr lang="en-US" sz="750" dirty="0"/>
          </a:p>
        </p:txBody>
      </p:sp>
      <p:graphicFrame>
        <p:nvGraphicFramePr>
          <p:cNvPr id="69" name="Table 1"/>
          <p:cNvGraphicFramePr>
            <a:graphicFrameLocks noGrp="1"/>
          </p:cNvGraphicFramePr>
          <p:nvPr>
            <p:extLst>
              <p:ext uri="{D42A27DB-BD31-4B8C-83A1-F6EECF244321}">
                <p14:modId xmlns:p14="http://schemas.microsoft.com/office/powerpoint/2010/main" val="1579011935"/>
              </p:ext>
            </p:extLst>
          </p:nvPr>
        </p:nvGraphicFramePr>
        <p:xfrm>
          <a:off x="4672584" y="1773936"/>
          <a:ext cx="3968496" cy="914400"/>
        </p:xfrm>
        <a:graphic>
          <a:graphicData uri="http://schemas.openxmlformats.org/drawingml/2006/table">
            <a:tbl>
              <a:tblPr/>
              <a:tblGrid>
                <a:gridCol w="2619207"/>
                <a:gridCol w="1349289"/>
              </a:tblGrid>
              <a:tr h="219456">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Component</a:t>
                      </a:r>
                      <a:endParaRPr lang="en-US" sz="850" dirty="0">
                        <a:latin typeface="Century Gothic" charset="0"/>
                        <a:ea typeface="Century Gothic" charset="0"/>
                        <a:cs typeface="Century Gothic"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Monthly</a:t>
                      </a:r>
                      <a:endParaRPr lang="en-US" sz="850" dirty="0">
                        <a:latin typeface="Century Gothic" charset="0"/>
                        <a:ea typeface="Century Gothic" charset="0"/>
                        <a:cs typeface="Century Gothic"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Medical licenses and DEA</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1200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Business licenses and permits</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800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CLIA waiver / lab</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500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Compliance and policy management</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1500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Continuing education and training</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1200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Biohazard and sharps disposal</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800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Quad A accreditation maintenance</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2500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Surgical QA / PI programme</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1500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b="1" dirty="0">
                          <a:solidFill>
                            <a:srgbClr val="C08D7C"/>
                          </a:solidFill>
                          <a:latin typeface="Calibri" pitchFamily="34" charset="0"/>
                          <a:ea typeface="Calibri" pitchFamily="34" charset="-122"/>
                          <a:cs typeface="Calibri" pitchFamily="34" charset="-120"/>
                        </a:rPr>
                        <a:t>Total</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850" b="1" dirty="0">
                          <a:solidFill>
                            <a:srgbClr val="C08D7C"/>
                          </a:solidFill>
                          <a:latin typeface="Calibri" pitchFamily="34" charset="0"/>
                          <a:ea typeface="Calibri" pitchFamily="34" charset="-122"/>
                          <a:cs typeface="Calibri" pitchFamily="34" charset="-120"/>
                        </a:rPr>
                        <a:t>$10,000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bl>
          </a:graphicData>
        </a:graphic>
      </p:graphicFrame>
      <p:sp>
        <p:nvSpPr>
          <p:cNvPr id="8" name="Text 4"/>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 $2.0M PRIVATE CASE  ·  CONFIDENTIAL</a:t>
            </a:r>
            <a:endParaRPr lang="en-US" sz="700" dirty="0"/>
          </a:p>
        </p:txBody>
      </p:sp>
      <p:sp>
        <p:nvSpPr>
          <p:cNvPr id="9" name="Text 5"/>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34</a:t>
            </a:r>
            <a:endParaRPr lang="en-US" sz="7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APPENDIX · COST OF GOODS</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What the margins pay for.</a:t>
            </a:r>
            <a:endParaRPr lang="en-US" sz="2600" dirty="0"/>
          </a:p>
        </p:txBody>
      </p:sp>
      <p:sp>
        <p:nvSpPr>
          <p:cNvPr id="4" name="Text 2"/>
          <p:cNvSpPr/>
          <p:nvPr/>
        </p:nvSpPr>
        <p:spPr>
          <a:xfrm>
            <a:off x="502920" y="1097280"/>
            <a:ext cx="8138160" cy="457200"/>
          </a:xfrm>
          <a:prstGeom prst="rect">
            <a:avLst/>
          </a:prstGeom>
          <a:noFill/>
          <a:ln/>
        </p:spPr>
        <p:txBody>
          <a:bodyPr wrap="square" rtlCol="0" anchor="t"/>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Cost of goods runs $199,412 a month against $731,666 of revenue, a blended 72.7% margin.</a:t>
            </a:r>
            <a:endParaRPr lang="en-US" sz="115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02920" y="1737360"/>
          <a:ext cx="8138160" cy="914400"/>
        </p:xfrm>
        <a:graphic>
          <a:graphicData uri="http://schemas.openxmlformats.org/drawingml/2006/table">
            <a:tbl>
              <a:tblPr/>
              <a:tblGrid>
                <a:gridCol w="1737360"/>
                <a:gridCol w="822960"/>
                <a:gridCol w="5577840"/>
              </a:tblGrid>
              <a:tr h="274320">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Category</a:t>
                      </a:r>
                      <a:endParaRPr lang="en-US" sz="850" dirty="0">
                        <a:latin typeface="Century Gothic" charset="0"/>
                        <a:ea typeface="Century Gothic" charset="0"/>
                        <a:cs typeface="Century Gothic"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Margin</a:t>
                      </a:r>
                      <a:endParaRPr lang="en-US" sz="850" dirty="0">
                        <a:latin typeface="Century Gothic" charset="0"/>
                        <a:ea typeface="Century Gothic" charset="0"/>
                        <a:cs typeface="Century Gothic"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What the cost side is</a:t>
                      </a:r>
                      <a:endParaRPr lang="en-US" sz="850" dirty="0">
                        <a:latin typeface="Century Gothic" charset="0"/>
                        <a:ea typeface="Century Gothic" charset="0"/>
                        <a:cs typeface="Century Gothic"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27432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Recovery</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80–82%</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Consumables, filters and water treatment, linens, device servicing contracts. Almost no per-session variable cost, which is why these margins are the highest in the building.</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PRP</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60–72%</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Draw kits, separation tubes and centrifuge consumables, needles and sharps, topical anaesthetic. Cost per case is close to fixed, so the margin spread across the six lines is a pricing decision rather than a cost one.</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Regenerative</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56–78%</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IV bags and tubing, vitamins, glutathione and NAD+ compound, pharmacy cost on prescribed therapeutics. The widest band in the book: NAD+ carries the compound cost and the hydration drips carry almost none.</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Aesthetics</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65–75%</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Neuromodulator and filler units at acquisition cost, RF microneedling tips, laser consumables, topicals. Filler is the thinnest because product cost dominates a single syringe.</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Diagnostics</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65–77%</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Reference lab send-out fees, DEXA consumables, DNA and DUTCH collection kits, interpretation time. DEXA sits at the top because the scanner is owned and the marginal cost of a scan is small.</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Surgery: facility fee</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78–80%</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Disposables, implants, drugs and linens, instrument reprocessing. Clinical staff sits in fixed overhead and the surgeon takes no share of the facility fee, which is why these exceed the treatment-room lines.</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Surgery: full fee</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73–76%</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As above, plus graft handling and technician time on hair restoration and laser consumables on ablative resurfacing.</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bl>
          </a:graphicData>
        </a:graphic>
      </p:graphicFrame>
      <p:sp>
        <p:nvSpPr>
          <p:cNvPr id="6" name="Text 3"/>
          <p:cNvSpPr/>
          <p:nvPr/>
        </p:nvSpPr>
        <p:spPr>
          <a:xfrm>
            <a:off x="502920" y="4069080"/>
            <a:ext cx="8138160" cy="365760"/>
          </a:xfrm>
          <a:prstGeom prst="rect">
            <a:avLst/>
          </a:prstGeom>
          <a:noFill/>
          <a:ln/>
        </p:spPr>
        <p:txBody>
          <a:bodyPr wrap="square" rtlCol="0" anchor="ctr"/>
          <a:lstStyle/>
          <a:p>
            <a:pPr indent="0" marL="0">
              <a:buNone/>
            </a:pPr>
            <a:r>
              <a:rPr lang="en-US" sz="850" dirty="0">
                <a:solidFill>
                  <a:srgbClr val="6E6A62"/>
                </a:solidFill>
                <a:latin typeface="Calibri" pitchFamily="34" charset="0"/>
                <a:ea typeface="Calibri" pitchFamily="34" charset="-122"/>
                <a:cs typeface="Calibri" pitchFamily="34" charset="-120"/>
              </a:rPr>
              <a:t>Circuit consumables (towels, laundry, water and amenities) are carried separately at $8 a visit across 2,345 monthly visits, or $18,760.</a:t>
            </a:r>
            <a:endParaRPr lang="en-US" sz="850" dirty="0"/>
          </a:p>
        </p:txBody>
      </p:sp>
      <p:sp>
        <p:nvSpPr>
          <p:cNvPr id="7" name="Text 4"/>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 $2.0M PRIVATE CASE  ·  CONFIDENTIAL</a:t>
            </a:r>
            <a:endParaRPr lang="en-US" sz="700" dirty="0"/>
          </a:p>
        </p:txBody>
      </p:sp>
      <p:sp>
        <p:nvSpPr>
          <p:cNvPr id="8" name="Text 5"/>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35</a:t>
            </a:r>
            <a:endParaRPr lang="en-US" sz="7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APPENDIX · USE OF FUNDS</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The itemised capital lines.</a:t>
            </a:r>
            <a:endParaRPr lang="en-US" sz="2600" dirty="0"/>
          </a:p>
        </p:txBody>
      </p:sp>
      <p:sp>
        <p:nvSpPr>
          <p:cNvPr id="4" name="Text 2"/>
          <p:cNvSpPr/>
          <p:nvPr/>
        </p:nvSpPr>
        <p:spPr>
          <a:xfrm>
            <a:off x="502920" y="1463040"/>
            <a:ext cx="3968496" cy="182880"/>
          </a:xfrm>
          <a:prstGeom prst="rect">
            <a:avLst/>
          </a:prstGeom>
          <a:noFill/>
          <a:ln/>
        </p:spPr>
        <p:txBody>
          <a:bodyPr wrap="square" rtlCol="0" anchor="ctr"/>
          <a:lstStyle/>
          <a:p>
            <a:pPr indent="0" marL="0">
              <a:buNone/>
            </a:pPr>
            <a:r>
              <a:rPr lang="en-US" sz="750" spc="180" kern="0" dirty="0">
                <a:solidFill>
                  <a:srgbClr val="C08D7C"/>
                </a:solidFill>
                <a:latin typeface="Century Gothic" pitchFamily="34" charset="0"/>
                <a:ea typeface="Century Gothic" pitchFamily="34" charset="-122"/>
                <a:cs typeface="Century Gothic" pitchFamily="34" charset="-120"/>
              </a:rPr>
              <a:t>WET AREAS</a:t>
            </a:r>
            <a:endParaRPr lang="en-US" sz="75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02920" y="1682496"/>
          <a:ext cx="3968496" cy="914400"/>
        </p:xfrm>
        <a:graphic>
          <a:graphicData uri="http://schemas.openxmlformats.org/drawingml/2006/table">
            <a:tbl>
              <a:tblPr/>
              <a:tblGrid>
                <a:gridCol w="2619207"/>
                <a:gridCol w="1349289"/>
              </a:tblGrid>
              <a:tr h="182880">
                <a:tc>
                  <a:txBody>
                    <a:bodyPr/>
                    <a:lstStyle/>
                    <a:p>
                      <a:pPr algn="l" indent="0" marL="0">
                        <a:buNone/>
                      </a:pPr>
                      <a:r>
                        <a:rPr lang="en-US" sz="750" spc="140" kern="0" dirty="0">
                          <a:solidFill>
                            <a:srgbClr val="C08D7C"/>
                          </a:solidFill>
                          <a:latin typeface="Century Gothic" pitchFamily="34" charset="0"/>
                          <a:ea typeface="Century Gothic" pitchFamily="34" charset="-122"/>
                          <a:cs typeface="Century Gothic" pitchFamily="34" charset="-120"/>
                        </a:rPr>
                        <a:t>Component</a:t>
                      </a:r>
                      <a:endParaRPr lang="en-US" sz="750" dirty="0">
                        <a:latin typeface="Century Gothic" charset="0"/>
                        <a:ea typeface="Century Gothic" charset="0"/>
                        <a:cs typeface="Century Gothic"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C08D7C"/>
                          </a:solidFill>
                          <a:latin typeface="Century Gothic" pitchFamily="34" charset="0"/>
                          <a:ea typeface="Century Gothic" pitchFamily="34" charset="-122"/>
                          <a:cs typeface="Century Gothic" pitchFamily="34" charset="-120"/>
                        </a:rPr>
                        <a:t>Amount</a:t>
                      </a:r>
                      <a:endParaRPr lang="en-US" sz="750" dirty="0">
                        <a:latin typeface="Century Gothic" charset="0"/>
                        <a:ea typeface="Century Gothic" charset="0"/>
                        <a:cs typeface="Century Gothic"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182880">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Saunas (2), cedar, heaters, controls</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95000</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Cold plunges (2), chillers, filtration</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70000</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Steam room and generator</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45000</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Waterproofing, drainage, floor slopes</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110000</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Dedicated ventilation and dehumidification</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85000</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Tile, benching, finishes</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60000</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750" b="1" dirty="0">
                          <a:solidFill>
                            <a:srgbClr val="C08D7C"/>
                          </a:solidFill>
                          <a:latin typeface="Calibri" pitchFamily="34" charset="0"/>
                          <a:ea typeface="Calibri" pitchFamily="34" charset="-122"/>
                          <a:cs typeface="Calibri" pitchFamily="34" charset="-120"/>
                        </a:rPr>
                        <a:t>Total</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750" b="1" dirty="0">
                          <a:solidFill>
                            <a:srgbClr val="C08D7C"/>
                          </a:solidFill>
                          <a:latin typeface="Calibri" pitchFamily="34" charset="0"/>
                          <a:ea typeface="Calibri" pitchFamily="34" charset="-122"/>
                          <a:cs typeface="Calibri" pitchFamily="34" charset="-120"/>
                        </a:rPr>
                        <a:t>$465,000</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bl>
          </a:graphicData>
        </a:graphic>
      </p:graphicFrame>
      <p:sp>
        <p:nvSpPr>
          <p:cNvPr id="6" name="Text 3"/>
          <p:cNvSpPr/>
          <p:nvPr/>
        </p:nvSpPr>
        <p:spPr>
          <a:xfrm>
            <a:off x="4672584" y="1463040"/>
            <a:ext cx="3968496" cy="182880"/>
          </a:xfrm>
          <a:prstGeom prst="rect">
            <a:avLst/>
          </a:prstGeom>
          <a:noFill/>
          <a:ln/>
        </p:spPr>
        <p:txBody>
          <a:bodyPr wrap="square" rtlCol="0" anchor="ctr"/>
          <a:lstStyle/>
          <a:p>
            <a:pPr indent="0" marL="0">
              <a:buNone/>
            </a:pPr>
            <a:r>
              <a:rPr lang="en-US" sz="750" spc="180" kern="0" dirty="0">
                <a:solidFill>
                  <a:srgbClr val="C08D7C"/>
                </a:solidFill>
                <a:latin typeface="Century Gothic" pitchFamily="34" charset="0"/>
                <a:ea typeface="Century Gothic" pitchFamily="34" charset="-122"/>
                <a:cs typeface="Century Gothic" pitchFamily="34" charset="-120"/>
              </a:rPr>
              <a:t>RECOVERY TECHNOLOGY</a:t>
            </a:r>
            <a:endParaRPr lang="en-US" sz="750" dirty="0"/>
          </a:p>
        </p:txBody>
      </p:sp>
      <p:graphicFrame>
        <p:nvGraphicFramePr>
          <p:cNvPr id="73" name="Table 1"/>
          <p:cNvGraphicFramePr>
            <a:graphicFrameLocks noGrp="1"/>
          </p:cNvGraphicFramePr>
          <p:nvPr>
            <p:extLst>
              <p:ext uri="{D42A27DB-BD31-4B8C-83A1-F6EECF244321}">
                <p14:modId xmlns:p14="http://schemas.microsoft.com/office/powerpoint/2010/main" val="1579011935"/>
              </p:ext>
            </p:extLst>
          </p:nvPr>
        </p:nvGraphicFramePr>
        <p:xfrm>
          <a:off x="4672584" y="1682496"/>
          <a:ext cx="3968496" cy="914400"/>
        </p:xfrm>
        <a:graphic>
          <a:graphicData uri="http://schemas.openxmlformats.org/drawingml/2006/table">
            <a:tbl>
              <a:tblPr/>
              <a:tblGrid>
                <a:gridCol w="2619207"/>
                <a:gridCol w="1349289"/>
              </a:tblGrid>
              <a:tr h="182880">
                <a:tc>
                  <a:txBody>
                    <a:bodyPr/>
                    <a:lstStyle/>
                    <a:p>
                      <a:pPr algn="l" indent="0" marL="0">
                        <a:buNone/>
                      </a:pPr>
                      <a:r>
                        <a:rPr lang="en-US" sz="750" spc="140" kern="0" dirty="0">
                          <a:solidFill>
                            <a:srgbClr val="C08D7C"/>
                          </a:solidFill>
                          <a:latin typeface="Century Gothic" pitchFamily="34" charset="0"/>
                          <a:ea typeface="Century Gothic" pitchFamily="34" charset="-122"/>
                          <a:cs typeface="Century Gothic" pitchFamily="34" charset="-120"/>
                        </a:rPr>
                        <a:t>Component</a:t>
                      </a:r>
                      <a:endParaRPr lang="en-US" sz="750" dirty="0">
                        <a:latin typeface="Century Gothic" charset="0"/>
                        <a:ea typeface="Century Gothic" charset="0"/>
                        <a:cs typeface="Century Gothic"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C08D7C"/>
                          </a:solidFill>
                          <a:latin typeface="Century Gothic" pitchFamily="34" charset="0"/>
                          <a:ea typeface="Century Gothic" pitchFamily="34" charset="-122"/>
                          <a:cs typeface="Century Gothic" pitchFamily="34" charset="-120"/>
                        </a:rPr>
                        <a:t>Amount</a:t>
                      </a:r>
                      <a:endParaRPr lang="en-US" sz="750" dirty="0">
                        <a:latin typeface="Century Gothic" charset="0"/>
                        <a:ea typeface="Century Gothic" charset="0"/>
                        <a:cs typeface="Century Gothic"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182880">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Hyperbaric oxygen chamber, purchased</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150000</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Ammortal chamber ($159,500 list), 10% finance deposit</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15950</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Aescape robotic massage (1 unit), subscription only</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0</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750" b="1" dirty="0">
                          <a:solidFill>
                            <a:srgbClr val="C08D7C"/>
                          </a:solidFill>
                          <a:latin typeface="Calibri" pitchFamily="34" charset="0"/>
                          <a:ea typeface="Calibri" pitchFamily="34" charset="-122"/>
                          <a:cs typeface="Calibri" pitchFamily="34" charset="-120"/>
                        </a:rPr>
                        <a:t>Total</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750" b="1" dirty="0">
                          <a:solidFill>
                            <a:srgbClr val="C08D7C"/>
                          </a:solidFill>
                          <a:latin typeface="Calibri" pitchFamily="34" charset="0"/>
                          <a:ea typeface="Calibri" pitchFamily="34" charset="-122"/>
                          <a:cs typeface="Calibri" pitchFamily="34" charset="-120"/>
                        </a:rPr>
                        <a:t>$165,950</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bl>
          </a:graphicData>
        </a:graphic>
      </p:graphicFrame>
      <p:sp>
        <p:nvSpPr>
          <p:cNvPr id="8" name="Text 4"/>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 $2.0M PRIVATE CASE  ·  CONFIDENTIAL</a:t>
            </a:r>
            <a:endParaRPr lang="en-US" sz="700" dirty="0"/>
          </a:p>
        </p:txBody>
      </p:sp>
      <p:sp>
        <p:nvSpPr>
          <p:cNvPr id="9" name="Text 5"/>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36</a:t>
            </a:r>
            <a:endParaRPr lang="en-US" sz="7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APPENDIX · USE OF FUNDS</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What each capital line covers.</a:t>
            </a:r>
            <a:endParaRPr lang="en-US" sz="26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502920" y="1371600"/>
          <a:ext cx="8138160" cy="914400"/>
        </p:xfrm>
        <a:graphic>
          <a:graphicData uri="http://schemas.openxmlformats.org/drawingml/2006/table">
            <a:tbl>
              <a:tblPr/>
              <a:tblGrid>
                <a:gridCol w="2697480"/>
                <a:gridCol w="1280160"/>
                <a:gridCol w="4160520"/>
              </a:tblGrid>
              <a:tr h="219456">
                <a:tc>
                  <a:txBody>
                    <a:bodyPr/>
                    <a:lstStyle/>
                    <a:p>
                      <a:pPr algn="l" indent="0" marL="0">
                        <a:buNone/>
                      </a:pPr>
                      <a:r>
                        <a:rPr lang="en-US" sz="750" spc="140" kern="0" dirty="0">
                          <a:solidFill>
                            <a:srgbClr val="C08D7C"/>
                          </a:solidFill>
                          <a:latin typeface="Century Gothic" pitchFamily="34" charset="0"/>
                          <a:ea typeface="Century Gothic" pitchFamily="34" charset="-122"/>
                          <a:cs typeface="Century Gothic" pitchFamily="34" charset="-120"/>
                        </a:rPr>
                        <a:t>Line</a:t>
                      </a:r>
                      <a:endParaRPr lang="en-US" sz="750" dirty="0">
                        <a:latin typeface="Century Gothic" charset="0"/>
                        <a:ea typeface="Century Gothic" charset="0"/>
                        <a:cs typeface="Century Gothic"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C08D7C"/>
                          </a:solidFill>
                          <a:latin typeface="Century Gothic" pitchFamily="34" charset="0"/>
                          <a:ea typeface="Century Gothic" pitchFamily="34" charset="-122"/>
                          <a:cs typeface="Century Gothic" pitchFamily="34" charset="-120"/>
                        </a:rPr>
                        <a:t>Amount</a:t>
                      </a:r>
                      <a:endParaRPr lang="en-US" sz="750" dirty="0">
                        <a:latin typeface="Century Gothic" charset="0"/>
                        <a:ea typeface="Century Gothic" charset="0"/>
                        <a:cs typeface="Century Gothic"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l" indent="0" marL="0">
                        <a:buNone/>
                      </a:pPr>
                      <a:r>
                        <a:rPr lang="en-US" sz="750" spc="140" kern="0" dirty="0">
                          <a:solidFill>
                            <a:srgbClr val="C08D7C"/>
                          </a:solidFill>
                          <a:latin typeface="Century Gothic" pitchFamily="34" charset="0"/>
                          <a:ea typeface="Century Gothic" pitchFamily="34" charset="-122"/>
                          <a:cs typeface="Century Gothic" pitchFamily="34" charset="-120"/>
                        </a:rPr>
                        <a:t>Basis</a:t>
                      </a:r>
                      <a:endParaRPr lang="en-US" sz="750" dirty="0">
                        <a:latin typeface="Century Gothic" charset="0"/>
                        <a:ea typeface="Century Gothic" charset="0"/>
                        <a:cs typeface="Century Gothic"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219456">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Buildout and tenant improvements (4,925 SF clinic and…</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$1,231,250</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Square footage × $250/SF for clinic and club space.</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Surgical suite buildout (900 SF @ $320/SF, OR-grade…</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$288,000</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900 SF × $320/SF for OR-grade construction.</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Medical gas, emergency power, life-safety branch for…</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$100,000</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Medical gas plus emergency power and life-safety branch for the suite.</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Wet areas: 2 saunas, 2 plunges, steam, drainage…</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$465,000</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Itemised below. Wet construction is the highest-variance line in the whole buildout: waterproofing failures and ventilation rework are the classic overrun.</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Medical and aesthetic equipment (purchased)</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$450,000</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Purchased portion of the medical and aesthetic package. Excludes bone densitometry, which is itemised on its own line below.</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Surgical capital equipment (balance leased)</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$200,000</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Purchased portion of the surgical package; the balance is leased.</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Recovery technology: HBOT purchased, Ammortal deposit</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$165,950</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Only the hyperbaric chamber is bought outright. The Ammortal chamber is financed, so the capital cost is the deposit alone.</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bl>
          </a:graphicData>
        </a:graphic>
      </p:graphicFrame>
      <p:sp>
        <p:nvSpPr>
          <p:cNvPr id="5" name="Text 2"/>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 $2.0M PRIVATE CASE  ·  CONFIDENTIAL</a:t>
            </a:r>
            <a:endParaRPr lang="en-US" sz="700" dirty="0"/>
          </a:p>
        </p:txBody>
      </p:sp>
      <p:sp>
        <p:nvSpPr>
          <p:cNvPr id="6" name="Text 3"/>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38</a:t>
            </a:r>
            <a:endParaRPr lang="en-US" sz="7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APPENDIX · USE OF FUNDS</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What each capital line covers (2 of 2).</a:t>
            </a:r>
            <a:endParaRPr lang="en-US" sz="26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502920" y="1371600"/>
          <a:ext cx="8138160" cy="914400"/>
        </p:xfrm>
        <a:graphic>
          <a:graphicData uri="http://schemas.openxmlformats.org/drawingml/2006/table">
            <a:tbl>
              <a:tblPr/>
              <a:tblGrid>
                <a:gridCol w="2697480"/>
                <a:gridCol w="1280160"/>
                <a:gridCol w="4160520"/>
              </a:tblGrid>
              <a:tr h="219456">
                <a:tc>
                  <a:txBody>
                    <a:bodyPr/>
                    <a:lstStyle/>
                    <a:p>
                      <a:pPr algn="l" indent="0" marL="0">
                        <a:buNone/>
                      </a:pPr>
                      <a:r>
                        <a:rPr lang="en-US" sz="750" spc="140" kern="0" dirty="0">
                          <a:solidFill>
                            <a:srgbClr val="C08D7C"/>
                          </a:solidFill>
                          <a:latin typeface="Century Gothic" pitchFamily="34" charset="0"/>
                          <a:ea typeface="Century Gothic" pitchFamily="34" charset="-122"/>
                          <a:cs typeface="Century Gothic" pitchFamily="34" charset="-120"/>
                        </a:rPr>
                        <a:t>Line</a:t>
                      </a:r>
                      <a:endParaRPr lang="en-US" sz="750" dirty="0">
                        <a:latin typeface="Century Gothic" charset="0"/>
                        <a:ea typeface="Century Gothic" charset="0"/>
                        <a:cs typeface="Century Gothic"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C08D7C"/>
                          </a:solidFill>
                          <a:latin typeface="Century Gothic" pitchFamily="34" charset="0"/>
                          <a:ea typeface="Century Gothic" pitchFamily="34" charset="-122"/>
                          <a:cs typeface="Century Gothic" pitchFamily="34" charset="-120"/>
                        </a:rPr>
                        <a:t>Amount</a:t>
                      </a:r>
                      <a:endParaRPr lang="en-US" sz="750" dirty="0">
                        <a:latin typeface="Century Gothic" charset="0"/>
                        <a:ea typeface="Century Gothic" charset="0"/>
                        <a:cs typeface="Century Gothic"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l" indent="0" marL="0">
                        <a:buNone/>
                      </a:pPr>
                      <a:r>
                        <a:rPr lang="en-US" sz="750" spc="140" kern="0" dirty="0">
                          <a:solidFill>
                            <a:srgbClr val="C08D7C"/>
                          </a:solidFill>
                          <a:latin typeface="Century Gothic" pitchFamily="34" charset="0"/>
                          <a:ea typeface="Century Gothic" pitchFamily="34" charset="-122"/>
                          <a:cs typeface="Century Gothic" pitchFamily="34" charset="-120"/>
                        </a:rPr>
                        <a:t>Basis</a:t>
                      </a:r>
                      <a:endParaRPr lang="en-US" sz="750" dirty="0">
                        <a:latin typeface="Century Gothic" charset="0"/>
                        <a:ea typeface="Century Gothic" charset="0"/>
                        <a:cs typeface="Century Gothic"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219456">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GE iDXA bone densitometer, purchased</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$25,000</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A GE Lunar iDXA bone densitometer, bought outright rather than leased, plus the 125 SF room it occupies.</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FF&amp;E, lounge, millwork, retail</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$400,000</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Furniture, lounge fit-out, millwork and retail fixtures.</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Pre-opening: licensing, legal, insurance, hiring…</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$310,000</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Licensing, legal, insurance binders, recruiting and pre-opening payroll.</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Accreditation: Quad A survey, policies, QA/PI…</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$110,000</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Quad A survey fees, policy and procedure development, QA/PI programme, staff training.</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Brand, launch, founding member campaign</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$200,000</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Identity, site, photography, launch campaign and the founding member drive.</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Working capital and debt service reserve</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$1,354,800</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Sized against the modelled cash trough, not set to a round number.</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750" b="1" dirty="0">
                          <a:solidFill>
                            <a:srgbClr val="C08D7C"/>
                          </a:solidFill>
                          <a:latin typeface="Calibri" pitchFamily="34" charset="0"/>
                          <a:ea typeface="Calibri" pitchFamily="34" charset="-122"/>
                          <a:cs typeface="Calibri" pitchFamily="34" charset="-120"/>
                        </a:rPr>
                        <a:t>Total project cost</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750" b="1" dirty="0">
                          <a:solidFill>
                            <a:srgbClr val="C08D7C"/>
                          </a:solidFill>
                          <a:latin typeface="Calibri" pitchFamily="34" charset="0"/>
                          <a:ea typeface="Calibri" pitchFamily="34" charset="-122"/>
                          <a:cs typeface="Calibri" pitchFamily="34" charset="-120"/>
                        </a:rPr>
                        <a:t>$5,300,000</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l" indent="0" marL="0">
                        <a:buNone/>
                      </a:pP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bl>
          </a:graphicData>
        </a:graphic>
      </p:graphicFrame>
      <p:sp>
        <p:nvSpPr>
          <p:cNvPr id="5" name="Text 2"/>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 $2.0M PRIVATE CASE  ·  CONFIDENTIAL</a:t>
            </a:r>
            <a:endParaRPr lang="en-US" sz="700" dirty="0"/>
          </a:p>
        </p:txBody>
      </p:sp>
      <p:sp>
        <p:nvSpPr>
          <p:cNvPr id="6" name="Text 3"/>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37</a:t>
            </a:r>
            <a:endParaRPr lang="en-US" sz="7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APPENDIX · PROVENANCE</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What rests on judgment (1 of 4).</a:t>
            </a:r>
            <a:endParaRPr lang="en-US" sz="2600" dirty="0"/>
          </a:p>
        </p:txBody>
      </p:sp>
      <p:sp>
        <p:nvSpPr>
          <p:cNvPr id="4" name="Text 2"/>
          <p:cNvSpPr/>
          <p:nvPr/>
        </p:nvSpPr>
        <p:spPr>
          <a:xfrm>
            <a:off x="502920" y="1097280"/>
            <a:ext cx="8138160" cy="457200"/>
          </a:xfrm>
          <a:prstGeom prst="rect">
            <a:avLst/>
          </a:prstGeom>
          <a:noFill/>
          <a:ln/>
        </p:spPr>
        <p:txBody>
          <a:bodyPr wrap="square" rtlCol="0" anchor="t"/>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Each figure below is an estimate, an inherited assumption or a single vendor quote.</a:t>
            </a:r>
            <a:endParaRPr lang="en-US" sz="1150" dirty="0"/>
          </a:p>
        </p:txBody>
      </p:sp>
      <p:sp>
        <p:nvSpPr>
          <p:cNvPr id="5" name="Text 3"/>
          <p:cNvSpPr/>
          <p:nvPr/>
        </p:nvSpPr>
        <p:spPr>
          <a:xfrm>
            <a:off x="502920" y="1572768"/>
            <a:ext cx="8138160" cy="164592"/>
          </a:xfrm>
          <a:prstGeom prst="rect">
            <a:avLst/>
          </a:prstGeom>
          <a:noFill/>
          <a:ln/>
        </p:spPr>
        <p:txBody>
          <a:bodyPr wrap="square" rtlCol="0" anchor="ctr"/>
          <a:lstStyle/>
          <a:p>
            <a:pPr indent="0" marL="0">
              <a:buNone/>
            </a:pPr>
            <a:r>
              <a:rPr lang="en-US" sz="800" spc="160" kern="0" dirty="0">
                <a:solidFill>
                  <a:srgbClr val="C08D7C"/>
                </a:solidFill>
                <a:latin typeface="Century Gothic" pitchFamily="34" charset="0"/>
                <a:ea typeface="Century Gothic" pitchFamily="34" charset="-122"/>
                <a:cs typeface="Century Gothic" pitchFamily="34" charset="-120"/>
              </a:rPr>
              <a:t>RENT (5,825 SF NNN)</a:t>
            </a:r>
            <a:endParaRPr lang="en-US" sz="800" dirty="0"/>
          </a:p>
        </p:txBody>
      </p:sp>
      <p:sp>
        <p:nvSpPr>
          <p:cNvPr id="6" name="Text 4"/>
          <p:cNvSpPr/>
          <p:nvPr/>
        </p:nvSpPr>
        <p:spPr>
          <a:xfrm>
            <a:off x="502920" y="1737360"/>
            <a:ext cx="8138160" cy="241402"/>
          </a:xfrm>
          <a:prstGeom prst="rect">
            <a:avLst/>
          </a:prstGeom>
          <a:noFill/>
          <a:ln/>
        </p:spPr>
        <p:txBody>
          <a:bodyPr wrap="square" rtlCol="0" anchor="t"/>
          <a:lstStyle/>
          <a:p>
            <a:pPr indent="0" marL="0">
              <a:lnSpc>
                <a:spcPct val="120000"/>
              </a:lnSpc>
              <a:buNone/>
            </a:pPr>
            <a:r>
              <a:rPr lang="en-US" sz="800" dirty="0">
                <a:solidFill>
                  <a:srgbClr val="A8A296"/>
                </a:solidFill>
                <a:latin typeface="Calibri" pitchFamily="34" charset="0"/>
                <a:ea typeface="Calibri" pitchFamily="34" charset="-122"/>
                <a:cs typeface="Calibri" pitchFamily="34" charset="-120"/>
              </a:rPr>
              <a:t>This is the most exposed number in the model. There is no broker letter, no comparable set and no listing behind it anywhere in the lineage. The prior Playa Vista model implied $6.77/SF, so $5.50 is the more aggressive figure. Sensitivity is shown at the end of this document.</a:t>
            </a:r>
            <a:endParaRPr lang="en-US" sz="800" dirty="0"/>
          </a:p>
        </p:txBody>
      </p:sp>
      <p:sp>
        <p:nvSpPr>
          <p:cNvPr id="7" name="Text 5"/>
          <p:cNvSpPr/>
          <p:nvPr/>
        </p:nvSpPr>
        <p:spPr>
          <a:xfrm>
            <a:off x="502920" y="2115922"/>
            <a:ext cx="8138160" cy="164592"/>
          </a:xfrm>
          <a:prstGeom prst="rect">
            <a:avLst/>
          </a:prstGeom>
          <a:noFill/>
          <a:ln/>
        </p:spPr>
        <p:txBody>
          <a:bodyPr wrap="square" rtlCol="0" anchor="ctr"/>
          <a:lstStyle/>
          <a:p>
            <a:pPr indent="0" marL="0">
              <a:buNone/>
            </a:pPr>
            <a:r>
              <a:rPr lang="en-US" sz="800" spc="160" kern="0" dirty="0">
                <a:solidFill>
                  <a:srgbClr val="C08D7C"/>
                </a:solidFill>
                <a:latin typeface="Century Gothic" pitchFamily="34" charset="0"/>
                <a:ea typeface="Century Gothic" pitchFamily="34" charset="-122"/>
                <a:cs typeface="Century Gothic" pitchFamily="34" charset="-120"/>
              </a:rPr>
              <a:t>CLINICAL AND CLUB STAFF</a:t>
            </a:r>
            <a:endParaRPr lang="en-US" sz="800" dirty="0"/>
          </a:p>
        </p:txBody>
      </p:sp>
      <p:sp>
        <p:nvSpPr>
          <p:cNvPr id="8" name="Text 6"/>
          <p:cNvSpPr/>
          <p:nvPr/>
        </p:nvSpPr>
        <p:spPr>
          <a:xfrm>
            <a:off x="502920" y="2280514"/>
            <a:ext cx="8138160" cy="241402"/>
          </a:xfrm>
          <a:prstGeom prst="rect">
            <a:avLst/>
          </a:prstGeom>
          <a:noFill/>
          <a:ln/>
        </p:spPr>
        <p:txBody>
          <a:bodyPr wrap="square" rtlCol="0" anchor="t"/>
          <a:lstStyle/>
          <a:p>
            <a:pPr indent="0" marL="0">
              <a:lnSpc>
                <a:spcPct val="120000"/>
              </a:lnSpc>
              <a:buNone/>
            </a:pPr>
            <a:r>
              <a:rPr lang="en-US" sz="800" dirty="0">
                <a:solidFill>
                  <a:srgbClr val="A8A296"/>
                </a:solidFill>
                <a:latin typeface="Calibri" pitchFamily="34" charset="0"/>
                <a:ea typeface="Calibri" pitchFamily="34" charset="-122"/>
                <a:cs typeface="Calibri" pitchFamily="34" charset="-120"/>
              </a:rPr>
              <a:t>There is deliberately no surgeon line. The surgeon is a principal who bills professional fees directly, so their compensation sits below the operating line as an owner distribution rather than on facility payroll. That is the same reason the facility books only a facility fee.</a:t>
            </a:r>
            <a:endParaRPr lang="en-US" sz="800" dirty="0"/>
          </a:p>
        </p:txBody>
      </p:sp>
      <p:sp>
        <p:nvSpPr>
          <p:cNvPr id="9" name="Text 7"/>
          <p:cNvSpPr/>
          <p:nvPr/>
        </p:nvSpPr>
        <p:spPr>
          <a:xfrm>
            <a:off x="502920" y="2659075"/>
            <a:ext cx="8138160" cy="164592"/>
          </a:xfrm>
          <a:prstGeom prst="rect">
            <a:avLst/>
          </a:prstGeom>
          <a:noFill/>
          <a:ln/>
        </p:spPr>
        <p:txBody>
          <a:bodyPr wrap="square" rtlCol="0" anchor="ctr"/>
          <a:lstStyle/>
          <a:p>
            <a:pPr indent="0" marL="0">
              <a:buNone/>
            </a:pPr>
            <a:r>
              <a:rPr lang="en-US" sz="800" spc="160" kern="0" dirty="0">
                <a:solidFill>
                  <a:srgbClr val="C08D7C"/>
                </a:solidFill>
                <a:latin typeface="Century Gothic" pitchFamily="34" charset="0"/>
                <a:ea typeface="Century Gothic" pitchFamily="34" charset="-122"/>
                <a:cs typeface="Century Gothic" pitchFamily="34" charset="-120"/>
              </a:rPr>
              <a:t>EQUIPMENT LEASES</a:t>
            </a:r>
            <a:endParaRPr lang="en-US" sz="800" dirty="0"/>
          </a:p>
        </p:txBody>
      </p:sp>
      <p:sp>
        <p:nvSpPr>
          <p:cNvPr id="10" name="Text 8"/>
          <p:cNvSpPr/>
          <p:nvPr/>
        </p:nvSpPr>
        <p:spPr>
          <a:xfrm>
            <a:off x="502920" y="2823667"/>
            <a:ext cx="8138160" cy="241402"/>
          </a:xfrm>
          <a:prstGeom prst="rect">
            <a:avLst/>
          </a:prstGeom>
          <a:noFill/>
          <a:ln/>
        </p:spPr>
        <p:txBody>
          <a:bodyPr wrap="square" rtlCol="0" anchor="t"/>
          <a:lstStyle/>
          <a:p>
            <a:pPr indent="0" marL="0">
              <a:lnSpc>
                <a:spcPct val="120000"/>
              </a:lnSpc>
              <a:buNone/>
            </a:pPr>
            <a:r>
              <a:rPr lang="en-US" sz="800" dirty="0">
                <a:solidFill>
                  <a:srgbClr val="A8A296"/>
                </a:solidFill>
                <a:latin typeface="Calibri" pitchFamily="34" charset="0"/>
                <a:ea typeface="Calibri" pitchFamily="34" charset="-122"/>
                <a:cs typeface="Calibri" pitchFamily="34" charset="-120"/>
              </a:rPr>
              <a:t>One Ammortal chamber and one Aescape unit, matching the ample program this case is now built on, which is what takes this line down from $37,300. Aescape cannot be purchased, and its $10 per-massage fee sits inside that service line’s margin. The second red light bed is vendor-financed at $1,375 a month to carry 650 sessions.</a:t>
            </a:r>
            <a:endParaRPr lang="en-US" sz="800" dirty="0"/>
          </a:p>
        </p:txBody>
      </p:sp>
      <p:sp>
        <p:nvSpPr>
          <p:cNvPr id="11" name="Text 9"/>
          <p:cNvSpPr/>
          <p:nvPr/>
        </p:nvSpPr>
        <p:spPr>
          <a:xfrm>
            <a:off x="502920" y="3202229"/>
            <a:ext cx="8138160" cy="164592"/>
          </a:xfrm>
          <a:prstGeom prst="rect">
            <a:avLst/>
          </a:prstGeom>
          <a:noFill/>
          <a:ln/>
        </p:spPr>
        <p:txBody>
          <a:bodyPr wrap="square" rtlCol="0" anchor="ctr"/>
          <a:lstStyle/>
          <a:p>
            <a:pPr indent="0" marL="0">
              <a:buNone/>
            </a:pPr>
            <a:r>
              <a:rPr lang="en-US" sz="800" spc="160" kern="0" dirty="0">
                <a:solidFill>
                  <a:srgbClr val="C08D7C"/>
                </a:solidFill>
                <a:latin typeface="Century Gothic" pitchFamily="34" charset="0"/>
                <a:ea typeface="Century Gothic" pitchFamily="34" charset="-122"/>
                <a:cs typeface="Century Gothic" pitchFamily="34" charset="-120"/>
              </a:rPr>
              <a:t>ADMIN AND MANAGEMENT</a:t>
            </a:r>
            <a:endParaRPr lang="en-US" sz="800" dirty="0"/>
          </a:p>
        </p:txBody>
      </p:sp>
      <p:sp>
        <p:nvSpPr>
          <p:cNvPr id="12" name="Text 10"/>
          <p:cNvSpPr/>
          <p:nvPr/>
        </p:nvSpPr>
        <p:spPr>
          <a:xfrm>
            <a:off x="502920" y="3366821"/>
            <a:ext cx="8138160" cy="120701"/>
          </a:xfrm>
          <a:prstGeom prst="rect">
            <a:avLst/>
          </a:prstGeom>
          <a:noFill/>
          <a:ln/>
        </p:spPr>
        <p:txBody>
          <a:bodyPr wrap="square" rtlCol="0" anchor="t"/>
          <a:lstStyle/>
          <a:p>
            <a:pPr indent="0" marL="0">
              <a:lnSpc>
                <a:spcPct val="120000"/>
              </a:lnSpc>
              <a:buNone/>
            </a:pPr>
            <a:r>
              <a:rPr lang="en-US" sz="800" dirty="0">
                <a:solidFill>
                  <a:srgbClr val="A8A296"/>
                </a:solidFill>
                <a:latin typeface="Calibri" pitchFamily="34" charset="0"/>
                <a:ea typeface="Calibri" pitchFamily="34" charset="-122"/>
                <a:cs typeface="Calibri" pitchFamily="34" charset="-120"/>
              </a:rPr>
              <a:t>Merchant processing is the largest component and scales with card revenue at roughly 2.6%. Everything else is a fixed vendor cost.</a:t>
            </a:r>
            <a:endParaRPr lang="en-US" sz="800" dirty="0"/>
          </a:p>
        </p:txBody>
      </p:sp>
      <p:sp>
        <p:nvSpPr>
          <p:cNvPr id="13" name="Text 11"/>
          <p:cNvSpPr/>
          <p:nvPr/>
        </p:nvSpPr>
        <p:spPr>
          <a:xfrm>
            <a:off x="502920" y="3624682"/>
            <a:ext cx="8138160" cy="164592"/>
          </a:xfrm>
          <a:prstGeom prst="rect">
            <a:avLst/>
          </a:prstGeom>
          <a:noFill/>
          <a:ln/>
        </p:spPr>
        <p:txBody>
          <a:bodyPr wrap="square" rtlCol="0" anchor="ctr"/>
          <a:lstStyle/>
          <a:p>
            <a:pPr indent="0" marL="0">
              <a:buNone/>
            </a:pPr>
            <a:r>
              <a:rPr lang="en-US" sz="800" spc="160" kern="0" dirty="0">
                <a:solidFill>
                  <a:srgbClr val="C08D7C"/>
                </a:solidFill>
                <a:latin typeface="Century Gothic" pitchFamily="34" charset="0"/>
                <a:ea typeface="Century Gothic" pitchFamily="34" charset="-122"/>
                <a:cs typeface="Century Gothic" pitchFamily="34" charset="-120"/>
              </a:rPr>
              <a:t>MARKETING AND MEMBER ACQUISITION</a:t>
            </a:r>
            <a:endParaRPr lang="en-US" sz="800" dirty="0"/>
          </a:p>
        </p:txBody>
      </p:sp>
      <p:sp>
        <p:nvSpPr>
          <p:cNvPr id="14" name="Text 12"/>
          <p:cNvSpPr/>
          <p:nvPr/>
        </p:nvSpPr>
        <p:spPr>
          <a:xfrm>
            <a:off x="502920" y="3789274"/>
            <a:ext cx="8138160" cy="241402"/>
          </a:xfrm>
          <a:prstGeom prst="rect">
            <a:avLst/>
          </a:prstGeom>
          <a:noFill/>
          <a:ln/>
        </p:spPr>
        <p:txBody>
          <a:bodyPr wrap="square" rtlCol="0" anchor="t"/>
          <a:lstStyle/>
          <a:p>
            <a:pPr indent="0" marL="0">
              <a:lnSpc>
                <a:spcPct val="120000"/>
              </a:lnSpc>
              <a:buNone/>
            </a:pPr>
            <a:r>
              <a:rPr lang="en-US" sz="800" dirty="0">
                <a:solidFill>
                  <a:srgbClr val="A8A296"/>
                </a:solidFill>
                <a:latin typeface="Calibri" pitchFamily="34" charset="0"/>
                <a:ea typeface="Calibri" pitchFamily="34" charset="-122"/>
                <a:cs typeface="Calibri" pitchFamily="34" charset="-120"/>
              </a:rPr>
              <a:t>Weighted toward paid digital during the ramp and toward events and referral once the membership base exists. No blended CAC target is claimed, because none has been measured.</a:t>
            </a:r>
            <a:endParaRPr lang="en-US" sz="800" dirty="0"/>
          </a:p>
        </p:txBody>
      </p:sp>
      <p:sp>
        <p:nvSpPr>
          <p:cNvPr id="15" name="Text 13"/>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 $2.0M PRIVATE CASE  ·  CONFIDENTIAL</a:t>
            </a:r>
            <a:endParaRPr lang="en-US" sz="700" dirty="0"/>
          </a:p>
        </p:txBody>
      </p:sp>
      <p:sp>
        <p:nvSpPr>
          <p:cNvPr id="16" name="Text 14"/>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39</a:t>
            </a:r>
            <a:endParaRPr lang="en-US" sz="7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APPENDIX · PROVENANCE</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What rests on judgment (2 of 4).</a:t>
            </a:r>
            <a:endParaRPr lang="en-US" sz="2600" dirty="0"/>
          </a:p>
        </p:txBody>
      </p:sp>
      <p:sp>
        <p:nvSpPr>
          <p:cNvPr id="4" name="Text 2"/>
          <p:cNvSpPr/>
          <p:nvPr/>
        </p:nvSpPr>
        <p:spPr>
          <a:xfrm>
            <a:off x="502920" y="1298448"/>
            <a:ext cx="8138160" cy="164592"/>
          </a:xfrm>
          <a:prstGeom prst="rect">
            <a:avLst/>
          </a:prstGeom>
          <a:noFill/>
          <a:ln/>
        </p:spPr>
        <p:txBody>
          <a:bodyPr wrap="square" rtlCol="0" anchor="ctr"/>
          <a:lstStyle/>
          <a:p>
            <a:pPr indent="0" marL="0">
              <a:buNone/>
            </a:pPr>
            <a:r>
              <a:rPr lang="en-US" sz="800" spc="160" kern="0" dirty="0">
                <a:solidFill>
                  <a:srgbClr val="C08D7C"/>
                </a:solidFill>
                <a:latin typeface="Century Gothic" pitchFamily="34" charset="0"/>
                <a:ea typeface="Century Gothic" pitchFamily="34" charset="-122"/>
                <a:cs typeface="Century Gothic" pitchFamily="34" charset="-120"/>
              </a:rPr>
              <a:t>MALPRACTICE AND LIABILITY</a:t>
            </a:r>
            <a:endParaRPr lang="en-US" sz="800" dirty="0"/>
          </a:p>
        </p:txBody>
      </p:sp>
      <p:sp>
        <p:nvSpPr>
          <p:cNvPr id="5" name="Text 3"/>
          <p:cNvSpPr/>
          <p:nvPr/>
        </p:nvSpPr>
        <p:spPr>
          <a:xfrm>
            <a:off x="502920" y="1463040"/>
            <a:ext cx="8138160" cy="241402"/>
          </a:xfrm>
          <a:prstGeom prst="rect">
            <a:avLst/>
          </a:prstGeom>
          <a:noFill/>
          <a:ln/>
        </p:spPr>
        <p:txBody>
          <a:bodyPr wrap="square" rtlCol="0" anchor="t"/>
          <a:lstStyle/>
          <a:p>
            <a:pPr indent="0" marL="0">
              <a:lnSpc>
                <a:spcPct val="120000"/>
              </a:lnSpc>
              <a:buNone/>
            </a:pPr>
            <a:r>
              <a:rPr lang="en-US" sz="800" dirty="0">
                <a:solidFill>
                  <a:srgbClr val="A8A296"/>
                </a:solidFill>
                <a:latin typeface="Calibri" pitchFamily="34" charset="0"/>
                <a:ea typeface="Calibri" pitchFamily="34" charset="-122"/>
                <a:cs typeface="Calibri" pitchFamily="34" charset="-120"/>
              </a:rPr>
              <a:t>Priced per credentialed provider plus an entity policy and umbrella. The surgical case adds facility coverage for an accredited operating room, which is the single largest driver of the difference.</a:t>
            </a:r>
            <a:endParaRPr lang="en-US" sz="800" dirty="0"/>
          </a:p>
        </p:txBody>
      </p:sp>
      <p:sp>
        <p:nvSpPr>
          <p:cNvPr id="6" name="Text 4"/>
          <p:cNvSpPr/>
          <p:nvPr/>
        </p:nvSpPr>
        <p:spPr>
          <a:xfrm>
            <a:off x="502920" y="1841602"/>
            <a:ext cx="8138160" cy="164592"/>
          </a:xfrm>
          <a:prstGeom prst="rect">
            <a:avLst/>
          </a:prstGeom>
          <a:noFill/>
          <a:ln/>
        </p:spPr>
        <p:txBody>
          <a:bodyPr wrap="square" rtlCol="0" anchor="ctr"/>
          <a:lstStyle/>
          <a:p>
            <a:pPr indent="0" marL="0">
              <a:buNone/>
            </a:pPr>
            <a:r>
              <a:rPr lang="en-US" sz="800" spc="160" kern="0" dirty="0">
                <a:solidFill>
                  <a:srgbClr val="C08D7C"/>
                </a:solidFill>
                <a:latin typeface="Century Gothic" pitchFamily="34" charset="0"/>
                <a:ea typeface="Century Gothic" pitchFamily="34" charset="-122"/>
                <a:cs typeface="Century Gothic" pitchFamily="34" charset="-120"/>
              </a:rPr>
              <a:t>UTILITIES, SOFTWARE, MEMBER PLATFORM</a:t>
            </a:r>
            <a:endParaRPr lang="en-US" sz="800" dirty="0"/>
          </a:p>
        </p:txBody>
      </p:sp>
      <p:sp>
        <p:nvSpPr>
          <p:cNvPr id="7" name="Text 5"/>
          <p:cNvSpPr/>
          <p:nvPr/>
        </p:nvSpPr>
        <p:spPr>
          <a:xfrm>
            <a:off x="502920" y="2006194"/>
            <a:ext cx="8138160" cy="241402"/>
          </a:xfrm>
          <a:prstGeom prst="rect">
            <a:avLst/>
          </a:prstGeom>
          <a:noFill/>
          <a:ln/>
        </p:spPr>
        <p:txBody>
          <a:bodyPr wrap="square" rtlCol="0" anchor="t"/>
          <a:lstStyle/>
          <a:p>
            <a:pPr indent="0" marL="0">
              <a:lnSpc>
                <a:spcPct val="120000"/>
              </a:lnSpc>
              <a:buNone/>
            </a:pPr>
            <a:r>
              <a:rPr lang="en-US" sz="800" dirty="0">
                <a:solidFill>
                  <a:srgbClr val="A8A296"/>
                </a:solidFill>
                <a:latin typeface="Calibri" pitchFamily="34" charset="0"/>
                <a:ea typeface="Calibri" pitchFamily="34" charset="-122"/>
                <a:cs typeface="Calibri" pitchFamily="34" charset="-120"/>
              </a:rPr>
              <a:t>Wet areas dominate the utility line: saunas, plunges and their dehumidification run continuously and are materially more energy intensive than a dry medspa of the same footprint.</a:t>
            </a:r>
            <a:endParaRPr lang="en-US" sz="800" dirty="0"/>
          </a:p>
        </p:txBody>
      </p:sp>
      <p:sp>
        <p:nvSpPr>
          <p:cNvPr id="8" name="Text 6"/>
          <p:cNvSpPr/>
          <p:nvPr/>
        </p:nvSpPr>
        <p:spPr>
          <a:xfrm>
            <a:off x="502920" y="2384755"/>
            <a:ext cx="8138160" cy="164592"/>
          </a:xfrm>
          <a:prstGeom prst="rect">
            <a:avLst/>
          </a:prstGeom>
          <a:noFill/>
          <a:ln/>
        </p:spPr>
        <p:txBody>
          <a:bodyPr wrap="square" rtlCol="0" anchor="ctr"/>
          <a:lstStyle/>
          <a:p>
            <a:pPr indent="0" marL="0">
              <a:buNone/>
            </a:pPr>
            <a:r>
              <a:rPr lang="en-US" sz="800" spc="160" kern="0" dirty="0">
                <a:solidFill>
                  <a:srgbClr val="C08D7C"/>
                </a:solidFill>
                <a:latin typeface="Century Gothic" pitchFamily="34" charset="0"/>
                <a:ea typeface="Century Gothic" pitchFamily="34" charset="-122"/>
                <a:cs typeface="Century Gothic" pitchFamily="34" charset="-120"/>
              </a:rPr>
              <a:t>LICENSING, COMPLIANCE AND ACCREDITATION</a:t>
            </a:r>
            <a:endParaRPr lang="en-US" sz="800" dirty="0"/>
          </a:p>
        </p:txBody>
      </p:sp>
      <p:sp>
        <p:nvSpPr>
          <p:cNvPr id="9" name="Text 7"/>
          <p:cNvSpPr/>
          <p:nvPr/>
        </p:nvSpPr>
        <p:spPr>
          <a:xfrm>
            <a:off x="502920" y="2549347"/>
            <a:ext cx="8138160" cy="241402"/>
          </a:xfrm>
          <a:prstGeom prst="rect">
            <a:avLst/>
          </a:prstGeom>
          <a:noFill/>
          <a:ln/>
        </p:spPr>
        <p:txBody>
          <a:bodyPr wrap="square" rtlCol="0" anchor="t"/>
          <a:lstStyle/>
          <a:p>
            <a:pPr indent="0" marL="0">
              <a:lnSpc>
                <a:spcPct val="120000"/>
              </a:lnSpc>
              <a:buNone/>
            </a:pPr>
            <a:r>
              <a:rPr lang="en-US" sz="800" dirty="0">
                <a:solidFill>
                  <a:srgbClr val="A8A296"/>
                </a:solidFill>
                <a:latin typeface="Calibri" pitchFamily="34" charset="0"/>
                <a:ea typeface="Calibri" pitchFamily="34" charset="-122"/>
                <a:cs typeface="Calibri" pitchFamily="34" charset="-120"/>
              </a:rPr>
              <a:t>Routine regulatory carrying cost. The surgical case adds accreditation maintenance and a standing quality and performance improvement programme, both of which the accrediting body requires between surveys.</a:t>
            </a:r>
            <a:endParaRPr lang="en-US" sz="800" dirty="0"/>
          </a:p>
        </p:txBody>
      </p:sp>
      <p:sp>
        <p:nvSpPr>
          <p:cNvPr id="10" name="Text 8"/>
          <p:cNvSpPr/>
          <p:nvPr/>
        </p:nvSpPr>
        <p:spPr>
          <a:xfrm>
            <a:off x="502920" y="2927909"/>
            <a:ext cx="8138160" cy="164592"/>
          </a:xfrm>
          <a:prstGeom prst="rect">
            <a:avLst/>
          </a:prstGeom>
          <a:noFill/>
          <a:ln/>
        </p:spPr>
        <p:txBody>
          <a:bodyPr wrap="square" rtlCol="0" anchor="ctr"/>
          <a:lstStyle/>
          <a:p>
            <a:pPr indent="0" marL="0">
              <a:buNone/>
            </a:pPr>
            <a:r>
              <a:rPr lang="en-US" sz="800" spc="160" kern="0" dirty="0">
                <a:solidFill>
                  <a:srgbClr val="C08D7C"/>
                </a:solidFill>
                <a:latin typeface="Century Gothic" pitchFamily="34" charset="0"/>
                <a:ea typeface="Century Gothic" pitchFamily="34" charset="-122"/>
                <a:cs typeface="Century Gothic" pitchFamily="34" charset="-120"/>
              </a:rPr>
              <a:t>BUILDOUT AND TENANT IMPROVEMENTS (4,925 SF CLINIC AND CLUB @ $250/SF)</a:t>
            </a:r>
            <a:endParaRPr lang="en-US" sz="800" dirty="0"/>
          </a:p>
        </p:txBody>
      </p:sp>
      <p:sp>
        <p:nvSpPr>
          <p:cNvPr id="11" name="Text 9"/>
          <p:cNvSpPr/>
          <p:nvPr/>
        </p:nvSpPr>
        <p:spPr>
          <a:xfrm>
            <a:off x="502920" y="3092501"/>
            <a:ext cx="8138160" cy="241402"/>
          </a:xfrm>
          <a:prstGeom prst="rect">
            <a:avLst/>
          </a:prstGeom>
          <a:noFill/>
          <a:ln/>
        </p:spPr>
        <p:txBody>
          <a:bodyPr wrap="square" rtlCol="0" anchor="t"/>
          <a:lstStyle/>
          <a:p>
            <a:pPr indent="0" marL="0">
              <a:lnSpc>
                <a:spcPct val="120000"/>
              </a:lnSpc>
              <a:buNone/>
            </a:pPr>
            <a:r>
              <a:rPr lang="en-US" sz="800" dirty="0">
                <a:solidFill>
                  <a:srgbClr val="A8A296"/>
                </a:solidFill>
                <a:latin typeface="Calibri" pitchFamily="34" charset="0"/>
                <a:ea typeface="Calibri" pitchFamily="34" charset="-122"/>
                <a:cs typeface="Calibri" pitchFamily="34" charset="-120"/>
              </a:rPr>
              <a:t>The prior Playa Vista model used $200–$300/SF for comparable clinic buildout, so $250 sits mid-range. It is not a contractor bid; a general contractor bid remains the most valuable document to obtain before closing.</a:t>
            </a:r>
            <a:endParaRPr lang="en-US" sz="800" dirty="0"/>
          </a:p>
        </p:txBody>
      </p:sp>
      <p:sp>
        <p:nvSpPr>
          <p:cNvPr id="12" name="Text 10"/>
          <p:cNvSpPr/>
          <p:nvPr/>
        </p:nvSpPr>
        <p:spPr>
          <a:xfrm>
            <a:off x="502920" y="3471062"/>
            <a:ext cx="8138160" cy="164592"/>
          </a:xfrm>
          <a:prstGeom prst="rect">
            <a:avLst/>
          </a:prstGeom>
          <a:noFill/>
          <a:ln/>
        </p:spPr>
        <p:txBody>
          <a:bodyPr wrap="square" rtlCol="0" anchor="ctr"/>
          <a:lstStyle/>
          <a:p>
            <a:pPr indent="0" marL="0">
              <a:buNone/>
            </a:pPr>
            <a:r>
              <a:rPr lang="en-US" sz="800" spc="160" kern="0" dirty="0">
                <a:solidFill>
                  <a:srgbClr val="C08D7C"/>
                </a:solidFill>
                <a:latin typeface="Century Gothic" pitchFamily="34" charset="0"/>
                <a:ea typeface="Century Gothic" pitchFamily="34" charset="-122"/>
                <a:cs typeface="Century Gothic" pitchFamily="34" charset="-120"/>
              </a:rPr>
              <a:t>SURGICAL SUITE BUILDOUT (900 SF @ $320/SF, OR-GRADE HVAC AND FINISHES)</a:t>
            </a:r>
            <a:endParaRPr lang="en-US" sz="800" dirty="0"/>
          </a:p>
        </p:txBody>
      </p:sp>
      <p:sp>
        <p:nvSpPr>
          <p:cNvPr id="13" name="Text 11"/>
          <p:cNvSpPr/>
          <p:nvPr/>
        </p:nvSpPr>
        <p:spPr>
          <a:xfrm>
            <a:off x="502920" y="3635654"/>
            <a:ext cx="8138160" cy="241402"/>
          </a:xfrm>
          <a:prstGeom prst="rect">
            <a:avLst/>
          </a:prstGeom>
          <a:noFill/>
          <a:ln/>
        </p:spPr>
        <p:txBody>
          <a:bodyPr wrap="square" rtlCol="0" anchor="t"/>
          <a:lstStyle/>
          <a:p>
            <a:pPr indent="0" marL="0">
              <a:lnSpc>
                <a:spcPct val="120000"/>
              </a:lnSpc>
              <a:buNone/>
            </a:pPr>
            <a:r>
              <a:rPr lang="en-US" sz="800" dirty="0">
                <a:solidFill>
                  <a:srgbClr val="A8A296"/>
                </a:solidFill>
                <a:latin typeface="Calibri" pitchFamily="34" charset="0"/>
                <a:ea typeface="Calibri" pitchFamily="34" charset="-122"/>
                <a:cs typeface="Calibri" pitchFamily="34" charset="-120"/>
              </a:rPr>
              <a:t>iOR publishes $120–$220/SF nationally for an office-based surgery suite. $320 sits above that band deliberately: Playa Vista is a high-cost construction market, and positive-pressure HVAC with filtered air changes is not a clinic-grade system.</a:t>
            </a:r>
            <a:endParaRPr lang="en-US" sz="800" dirty="0"/>
          </a:p>
        </p:txBody>
      </p:sp>
      <p:sp>
        <p:nvSpPr>
          <p:cNvPr id="14" name="Text 12"/>
          <p:cNvSpPr/>
          <p:nvPr/>
        </p:nvSpPr>
        <p:spPr>
          <a:xfrm>
            <a:off x="502920" y="4014216"/>
            <a:ext cx="8138160" cy="164592"/>
          </a:xfrm>
          <a:prstGeom prst="rect">
            <a:avLst/>
          </a:prstGeom>
          <a:noFill/>
          <a:ln/>
        </p:spPr>
        <p:txBody>
          <a:bodyPr wrap="square" rtlCol="0" anchor="ctr"/>
          <a:lstStyle/>
          <a:p>
            <a:pPr indent="0" marL="0">
              <a:buNone/>
            </a:pPr>
            <a:r>
              <a:rPr lang="en-US" sz="800" spc="160" kern="0" dirty="0">
                <a:solidFill>
                  <a:srgbClr val="C08D7C"/>
                </a:solidFill>
                <a:latin typeface="Century Gothic" pitchFamily="34" charset="0"/>
                <a:ea typeface="Century Gothic" pitchFamily="34" charset="-122"/>
                <a:cs typeface="Century Gothic" pitchFamily="34" charset="-120"/>
              </a:rPr>
              <a:t>MEDICAL GAS, EMERGENCY POWER, LIFE-SAFETY BRANCH FOR THE SUITE</a:t>
            </a:r>
            <a:endParaRPr lang="en-US" sz="800" dirty="0"/>
          </a:p>
        </p:txBody>
      </p:sp>
      <p:sp>
        <p:nvSpPr>
          <p:cNvPr id="15" name="Text 13"/>
          <p:cNvSpPr/>
          <p:nvPr/>
        </p:nvSpPr>
        <p:spPr>
          <a:xfrm>
            <a:off x="502920" y="4178808"/>
            <a:ext cx="8138160" cy="241402"/>
          </a:xfrm>
          <a:prstGeom prst="rect">
            <a:avLst/>
          </a:prstGeom>
          <a:noFill/>
          <a:ln/>
        </p:spPr>
        <p:txBody>
          <a:bodyPr wrap="square" rtlCol="0" anchor="t"/>
          <a:lstStyle/>
          <a:p>
            <a:pPr indent="0" marL="0">
              <a:lnSpc>
                <a:spcPct val="120000"/>
              </a:lnSpc>
              <a:buNone/>
            </a:pPr>
            <a:r>
              <a:rPr lang="en-US" sz="800" dirty="0">
                <a:solidFill>
                  <a:srgbClr val="A8A296"/>
                </a:solidFill>
                <a:latin typeface="Calibri" pitchFamily="34" charset="0"/>
                <a:ea typeface="Calibri" pitchFamily="34" charset="-122"/>
                <a:cs typeface="Calibri" pitchFamily="34" charset="-120"/>
              </a:rPr>
              <a:t>The only externally cited construction figure in this table. The published ranges are $60K–$80K+ for medical gas and $40K–$100K for emergency power, a combined $100K–$180K. This line sits at the bottom of that range, which is the aggressive end.</a:t>
            </a:r>
            <a:endParaRPr lang="en-US" sz="800" dirty="0"/>
          </a:p>
        </p:txBody>
      </p:sp>
      <p:sp>
        <p:nvSpPr>
          <p:cNvPr id="16" name="Text 14"/>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 $2.0M PRIVATE CASE  ·  CONFIDENTIAL</a:t>
            </a:r>
            <a:endParaRPr lang="en-US" sz="700" dirty="0"/>
          </a:p>
        </p:txBody>
      </p:sp>
      <p:sp>
        <p:nvSpPr>
          <p:cNvPr id="17" name="Text 15"/>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40</a:t>
            </a:r>
            <a:endParaRPr lang="en-US" sz="7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APPENDIX · PROVENANCE</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What rests on judgment (3 of 4).</a:t>
            </a:r>
            <a:endParaRPr lang="en-US" sz="2600" dirty="0"/>
          </a:p>
        </p:txBody>
      </p:sp>
      <p:sp>
        <p:nvSpPr>
          <p:cNvPr id="4" name="Text 2"/>
          <p:cNvSpPr/>
          <p:nvPr/>
        </p:nvSpPr>
        <p:spPr>
          <a:xfrm>
            <a:off x="502920" y="1298448"/>
            <a:ext cx="8138160" cy="164592"/>
          </a:xfrm>
          <a:prstGeom prst="rect">
            <a:avLst/>
          </a:prstGeom>
          <a:noFill/>
          <a:ln/>
        </p:spPr>
        <p:txBody>
          <a:bodyPr wrap="square" rtlCol="0" anchor="ctr"/>
          <a:lstStyle/>
          <a:p>
            <a:pPr indent="0" marL="0">
              <a:buNone/>
            </a:pPr>
            <a:r>
              <a:rPr lang="en-US" sz="800" spc="160" kern="0" dirty="0">
                <a:solidFill>
                  <a:srgbClr val="C08D7C"/>
                </a:solidFill>
                <a:latin typeface="Century Gothic" pitchFamily="34" charset="0"/>
                <a:ea typeface="Century Gothic" pitchFamily="34" charset="-122"/>
                <a:cs typeface="Century Gothic" pitchFamily="34" charset="-120"/>
              </a:rPr>
              <a:t>MEDICAL AND AESTHETIC EQUIPMENT (PURCHASED)</a:t>
            </a:r>
            <a:endParaRPr lang="en-US" sz="800" dirty="0"/>
          </a:p>
        </p:txBody>
      </p:sp>
      <p:sp>
        <p:nvSpPr>
          <p:cNvPr id="5" name="Text 3"/>
          <p:cNvSpPr/>
          <p:nvPr/>
        </p:nvSpPr>
        <p:spPr>
          <a:xfrm>
            <a:off x="502920" y="1463040"/>
            <a:ext cx="8138160" cy="362102"/>
          </a:xfrm>
          <a:prstGeom prst="rect">
            <a:avLst/>
          </a:prstGeom>
          <a:noFill/>
          <a:ln/>
        </p:spPr>
        <p:txBody>
          <a:bodyPr wrap="square" rtlCol="0" anchor="t"/>
          <a:lstStyle/>
          <a:p>
            <a:pPr indent="0" marL="0">
              <a:lnSpc>
                <a:spcPct val="120000"/>
              </a:lnSpc>
              <a:buNone/>
            </a:pPr>
            <a:r>
              <a:rPr lang="en-US" sz="800" dirty="0">
                <a:solidFill>
                  <a:srgbClr val="A8A296"/>
                </a:solidFill>
                <a:latin typeface="Calibri" pitchFamily="34" charset="0"/>
                <a:ea typeface="Calibri" pitchFamily="34" charset="-122"/>
                <a:cs typeface="Calibri" pitchFamily="34" charset="-120"/>
              </a:rPr>
              <a:t>Category ranges come from the prior Playa Vista line-item budget: IV and exam $80K–$150K, PRP processing $40K–$125K, aesthetic laser $150K–$400K, RF microneedling $80K–$180K, body contouring $100K–$275K, diagnostics $80K–$180K. That budget is an internal planning document, not vendor quotes. The diagnostics range above covers biometrics, phlebotomy and the lab interface only: the GE iDXA is named and priced separately so the two cannot be counted twice.</a:t>
            </a:r>
            <a:endParaRPr lang="en-US" sz="800" dirty="0"/>
          </a:p>
        </p:txBody>
      </p:sp>
      <p:sp>
        <p:nvSpPr>
          <p:cNvPr id="6" name="Text 4"/>
          <p:cNvSpPr/>
          <p:nvPr/>
        </p:nvSpPr>
        <p:spPr>
          <a:xfrm>
            <a:off x="502920" y="1962302"/>
            <a:ext cx="8138160" cy="164592"/>
          </a:xfrm>
          <a:prstGeom prst="rect">
            <a:avLst/>
          </a:prstGeom>
          <a:noFill/>
          <a:ln/>
        </p:spPr>
        <p:txBody>
          <a:bodyPr wrap="square" rtlCol="0" anchor="ctr"/>
          <a:lstStyle/>
          <a:p>
            <a:pPr indent="0" marL="0">
              <a:buNone/>
            </a:pPr>
            <a:r>
              <a:rPr lang="en-US" sz="800" spc="160" kern="0" dirty="0">
                <a:solidFill>
                  <a:srgbClr val="C08D7C"/>
                </a:solidFill>
                <a:latin typeface="Century Gothic" pitchFamily="34" charset="0"/>
                <a:ea typeface="Century Gothic" pitchFamily="34" charset="-122"/>
                <a:cs typeface="Century Gothic" pitchFamily="34" charset="-120"/>
              </a:rPr>
              <a:t>SURGICAL CAPITAL EQUIPMENT (BALANCE LEASED)</a:t>
            </a:r>
            <a:endParaRPr lang="en-US" sz="800" dirty="0"/>
          </a:p>
        </p:txBody>
      </p:sp>
      <p:sp>
        <p:nvSpPr>
          <p:cNvPr id="7" name="Text 5"/>
          <p:cNvSpPr/>
          <p:nvPr/>
        </p:nvSpPr>
        <p:spPr>
          <a:xfrm>
            <a:off x="502920" y="2126894"/>
            <a:ext cx="8138160" cy="241402"/>
          </a:xfrm>
          <a:prstGeom prst="rect">
            <a:avLst/>
          </a:prstGeom>
          <a:noFill/>
          <a:ln/>
        </p:spPr>
        <p:txBody>
          <a:bodyPr wrap="square" rtlCol="0" anchor="t"/>
          <a:lstStyle/>
          <a:p>
            <a:pPr indent="0" marL="0">
              <a:lnSpc>
                <a:spcPct val="120000"/>
              </a:lnSpc>
              <a:buNone/>
            </a:pPr>
            <a:r>
              <a:rPr lang="en-US" sz="800" dirty="0">
                <a:solidFill>
                  <a:srgbClr val="A8A296"/>
                </a:solidFill>
                <a:latin typeface="Calibri" pitchFamily="34" charset="0"/>
                <a:ea typeface="Calibri" pitchFamily="34" charset="-122"/>
                <a:cs typeface="Calibri" pitchFamily="34" charset="-120"/>
              </a:rPr>
              <a:t>iOR publishes $150K–$225K of capital equipment for an ophthalmic suite. A plastics and facial suite carries a different mix (articulating table, dual lights, aspirator, monitors, crash cart, autoclaves and instrument sets), so this is set independently rather than adopted.</a:t>
            </a:r>
            <a:endParaRPr lang="en-US" sz="800" dirty="0"/>
          </a:p>
        </p:txBody>
      </p:sp>
      <p:sp>
        <p:nvSpPr>
          <p:cNvPr id="8" name="Text 6"/>
          <p:cNvSpPr/>
          <p:nvPr/>
        </p:nvSpPr>
        <p:spPr>
          <a:xfrm>
            <a:off x="502920" y="2505456"/>
            <a:ext cx="8138160" cy="164592"/>
          </a:xfrm>
          <a:prstGeom prst="rect">
            <a:avLst/>
          </a:prstGeom>
          <a:noFill/>
          <a:ln/>
        </p:spPr>
        <p:txBody>
          <a:bodyPr wrap="square" rtlCol="0" anchor="ctr"/>
          <a:lstStyle/>
          <a:p>
            <a:pPr indent="0" marL="0">
              <a:buNone/>
            </a:pPr>
            <a:r>
              <a:rPr lang="en-US" sz="800" spc="160" kern="0" dirty="0">
                <a:solidFill>
                  <a:srgbClr val="C08D7C"/>
                </a:solidFill>
                <a:latin typeface="Century Gothic" pitchFamily="34" charset="0"/>
                <a:ea typeface="Century Gothic" pitchFamily="34" charset="-122"/>
                <a:cs typeface="Century Gothic" pitchFamily="34" charset="-120"/>
              </a:rPr>
              <a:t>RECOVERY TECHNOLOGY: HBOT PURCHASED, AMMORTAL DEPOSIT</a:t>
            </a:r>
            <a:endParaRPr lang="en-US" sz="800" dirty="0"/>
          </a:p>
        </p:txBody>
      </p:sp>
      <p:sp>
        <p:nvSpPr>
          <p:cNvPr id="9" name="Text 7"/>
          <p:cNvSpPr/>
          <p:nvPr/>
        </p:nvSpPr>
        <p:spPr>
          <a:xfrm>
            <a:off x="502920" y="2670048"/>
            <a:ext cx="8138160" cy="241402"/>
          </a:xfrm>
          <a:prstGeom prst="rect">
            <a:avLst/>
          </a:prstGeom>
          <a:noFill/>
          <a:ln/>
        </p:spPr>
        <p:txBody>
          <a:bodyPr wrap="square" rtlCol="0" anchor="t"/>
          <a:lstStyle/>
          <a:p>
            <a:pPr indent="0" marL="0">
              <a:lnSpc>
                <a:spcPct val="120000"/>
              </a:lnSpc>
              <a:buNone/>
            </a:pPr>
            <a:r>
              <a:rPr lang="en-US" sz="800" dirty="0">
                <a:solidFill>
                  <a:srgbClr val="A8A296"/>
                </a:solidFill>
                <a:latin typeface="Calibri" pitchFamily="34" charset="0"/>
                <a:ea typeface="Calibri" pitchFamily="34" charset="-122"/>
                <a:cs typeface="Calibri" pitchFamily="34" charset="-120"/>
              </a:rPr>
              <a:t>The single Ammortal chamber lists at $159,500 including delivery, install and onboarding, with $15,950 down and roughly $3,000 a month thereafter. Both the Ammortal payment and the Aescape subscription appear in the monthly equipment lease line rather than here, along with the red light beds.</a:t>
            </a:r>
            <a:endParaRPr lang="en-US" sz="800" dirty="0"/>
          </a:p>
        </p:txBody>
      </p:sp>
      <p:sp>
        <p:nvSpPr>
          <p:cNvPr id="10" name="Text 8"/>
          <p:cNvSpPr/>
          <p:nvPr/>
        </p:nvSpPr>
        <p:spPr>
          <a:xfrm>
            <a:off x="502920" y="3048610"/>
            <a:ext cx="8138160" cy="164592"/>
          </a:xfrm>
          <a:prstGeom prst="rect">
            <a:avLst/>
          </a:prstGeom>
          <a:noFill/>
          <a:ln/>
        </p:spPr>
        <p:txBody>
          <a:bodyPr wrap="square" rtlCol="0" anchor="ctr"/>
          <a:lstStyle/>
          <a:p>
            <a:pPr indent="0" marL="0">
              <a:buNone/>
            </a:pPr>
            <a:r>
              <a:rPr lang="en-US" sz="800" spc="160" kern="0" dirty="0">
                <a:solidFill>
                  <a:srgbClr val="C08D7C"/>
                </a:solidFill>
                <a:latin typeface="Century Gothic" pitchFamily="34" charset="0"/>
                <a:ea typeface="Century Gothic" pitchFamily="34" charset="-122"/>
                <a:cs typeface="Century Gothic" pitchFamily="34" charset="-120"/>
              </a:rPr>
              <a:t>GE IDXA BONE DENSITOMETER, PURCHASED</a:t>
            </a:r>
            <a:endParaRPr lang="en-US" sz="800" dirty="0"/>
          </a:p>
        </p:txBody>
      </p:sp>
      <p:sp>
        <p:nvSpPr>
          <p:cNvPr id="11" name="Text 9"/>
          <p:cNvSpPr/>
          <p:nvPr/>
        </p:nvSpPr>
        <p:spPr>
          <a:xfrm>
            <a:off x="502920" y="3213202"/>
            <a:ext cx="8138160" cy="482803"/>
          </a:xfrm>
          <a:prstGeom prst="rect">
            <a:avLst/>
          </a:prstGeom>
          <a:noFill/>
          <a:ln/>
        </p:spPr>
        <p:txBody>
          <a:bodyPr wrap="square" rtlCol="0" anchor="t"/>
          <a:lstStyle/>
          <a:p>
            <a:pPr indent="0" marL="0">
              <a:lnSpc>
                <a:spcPct val="120000"/>
              </a:lnSpc>
              <a:buNone/>
            </a:pPr>
            <a:r>
              <a:rPr lang="en-US" sz="800" dirty="0">
                <a:solidFill>
                  <a:srgbClr val="A8A296"/>
                </a:solidFill>
                <a:latin typeface="Calibri" pitchFamily="34" charset="0"/>
                <a:ea typeface="Calibri" pitchFamily="34" charset="-122"/>
                <a:cs typeface="Calibri" pitchFamily="34" charset="-120"/>
              </a:rPr>
              <a:t>Price supplied by the operator. It is well below new-unit list, so it assumes a refurbished or off-lease scanner: confirm the condition, the remaining tube life and whether a service contract is included before closing. The room it needs added 125 SF to the footprint, which carries $31,250 of buildout at $250/SF; both that and the scanner itself are funded from the working capital reserve, so the project cost is unchanged. Owning the scanner rather than referring out is what puts the DEXA service line at a 77% margin and lets it be priced as a $95 screening entry point.</a:t>
            </a:r>
            <a:endParaRPr lang="en-US" sz="800" dirty="0"/>
          </a:p>
        </p:txBody>
      </p:sp>
      <p:sp>
        <p:nvSpPr>
          <p:cNvPr id="12" name="Text 10"/>
          <p:cNvSpPr/>
          <p:nvPr/>
        </p:nvSpPr>
        <p:spPr>
          <a:xfrm>
            <a:off x="502920" y="3833165"/>
            <a:ext cx="8138160" cy="164592"/>
          </a:xfrm>
          <a:prstGeom prst="rect">
            <a:avLst/>
          </a:prstGeom>
          <a:noFill/>
          <a:ln/>
        </p:spPr>
        <p:txBody>
          <a:bodyPr wrap="square" rtlCol="0" anchor="ctr"/>
          <a:lstStyle/>
          <a:p>
            <a:pPr indent="0" marL="0">
              <a:buNone/>
            </a:pPr>
            <a:r>
              <a:rPr lang="en-US" sz="800" spc="160" kern="0" dirty="0">
                <a:solidFill>
                  <a:srgbClr val="C08D7C"/>
                </a:solidFill>
                <a:latin typeface="Century Gothic" pitchFamily="34" charset="0"/>
                <a:ea typeface="Century Gothic" pitchFamily="34" charset="-122"/>
                <a:cs typeface="Century Gothic" pitchFamily="34" charset="-120"/>
              </a:rPr>
              <a:t>FF&amp;E, LOUNGE, MILLWORK, RETAIL</a:t>
            </a:r>
            <a:endParaRPr lang="en-US" sz="800" dirty="0"/>
          </a:p>
        </p:txBody>
      </p:sp>
      <p:sp>
        <p:nvSpPr>
          <p:cNvPr id="13" name="Text 11"/>
          <p:cNvSpPr/>
          <p:nvPr/>
        </p:nvSpPr>
        <p:spPr>
          <a:xfrm>
            <a:off x="502920" y="3997757"/>
            <a:ext cx="8138160" cy="120701"/>
          </a:xfrm>
          <a:prstGeom prst="rect">
            <a:avLst/>
          </a:prstGeom>
          <a:noFill/>
          <a:ln/>
        </p:spPr>
        <p:txBody>
          <a:bodyPr wrap="square" rtlCol="0" anchor="t"/>
          <a:lstStyle/>
          <a:p>
            <a:pPr indent="0" marL="0">
              <a:lnSpc>
                <a:spcPct val="120000"/>
              </a:lnSpc>
              <a:buNone/>
            </a:pPr>
            <a:r>
              <a:rPr lang="en-US" sz="800" dirty="0">
                <a:solidFill>
                  <a:srgbClr val="A8A296"/>
                </a:solidFill>
                <a:latin typeface="Calibri" pitchFamily="34" charset="0"/>
                <a:ea typeface="Calibri" pitchFamily="34" charset="-122"/>
                <a:cs typeface="Calibri" pitchFamily="34" charset="-120"/>
              </a:rPr>
              <a:t>Hospitality-grade rather than clinical-grade, because the lounge is the product. Per square foot this is the line most exposed to taste and specification drift.</a:t>
            </a:r>
            <a:endParaRPr lang="en-US" sz="800" dirty="0"/>
          </a:p>
        </p:txBody>
      </p:sp>
      <p:sp>
        <p:nvSpPr>
          <p:cNvPr id="14" name="Text 12"/>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 $2.0M PRIVATE CASE  ·  CONFIDENTIAL</a:t>
            </a:r>
            <a:endParaRPr lang="en-US" sz="700" dirty="0"/>
          </a:p>
        </p:txBody>
      </p:sp>
      <p:sp>
        <p:nvSpPr>
          <p:cNvPr id="15" name="Text 13"/>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41</a:t>
            </a:r>
            <a:endParaRPr lang="en-US" sz="7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APPENDIX · PROVENANCE</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What rests on judgment (4 of 4).</a:t>
            </a:r>
            <a:endParaRPr lang="en-US" sz="2600" dirty="0"/>
          </a:p>
        </p:txBody>
      </p:sp>
      <p:sp>
        <p:nvSpPr>
          <p:cNvPr id="4" name="Text 2"/>
          <p:cNvSpPr/>
          <p:nvPr/>
        </p:nvSpPr>
        <p:spPr>
          <a:xfrm>
            <a:off x="502920" y="1298448"/>
            <a:ext cx="8138160" cy="164592"/>
          </a:xfrm>
          <a:prstGeom prst="rect">
            <a:avLst/>
          </a:prstGeom>
          <a:noFill/>
          <a:ln/>
        </p:spPr>
        <p:txBody>
          <a:bodyPr wrap="square" rtlCol="0" anchor="ctr"/>
          <a:lstStyle/>
          <a:p>
            <a:pPr indent="0" marL="0">
              <a:buNone/>
            </a:pPr>
            <a:r>
              <a:rPr lang="en-US" sz="800" spc="160" kern="0" dirty="0">
                <a:solidFill>
                  <a:srgbClr val="C08D7C"/>
                </a:solidFill>
                <a:latin typeface="Century Gothic" pitchFamily="34" charset="0"/>
                <a:ea typeface="Century Gothic" pitchFamily="34" charset="-122"/>
                <a:cs typeface="Century Gothic" pitchFamily="34" charset="-120"/>
              </a:rPr>
              <a:t>PRE-OPENING: LICENSING, LEGAL, INSURANCE, HIRING, TRANSFER AGREEMENT</a:t>
            </a:r>
            <a:endParaRPr lang="en-US" sz="800" dirty="0"/>
          </a:p>
        </p:txBody>
      </p:sp>
      <p:sp>
        <p:nvSpPr>
          <p:cNvPr id="5" name="Text 3"/>
          <p:cNvSpPr/>
          <p:nvPr/>
        </p:nvSpPr>
        <p:spPr>
          <a:xfrm>
            <a:off x="502920" y="1463040"/>
            <a:ext cx="8138160" cy="241402"/>
          </a:xfrm>
          <a:prstGeom prst="rect">
            <a:avLst/>
          </a:prstGeom>
          <a:noFill/>
          <a:ln/>
        </p:spPr>
        <p:txBody>
          <a:bodyPr wrap="square" rtlCol="0" anchor="t"/>
          <a:lstStyle/>
          <a:p>
            <a:pPr indent="0" marL="0">
              <a:lnSpc>
                <a:spcPct val="120000"/>
              </a:lnSpc>
              <a:buNone/>
            </a:pPr>
            <a:r>
              <a:rPr lang="en-US" sz="800" dirty="0">
                <a:solidFill>
                  <a:srgbClr val="A8A296"/>
                </a:solidFill>
                <a:latin typeface="Calibri" pitchFamily="34" charset="0"/>
                <a:ea typeface="Calibri" pitchFamily="34" charset="-122"/>
                <a:cs typeface="Calibri" pitchFamily="34" charset="-120"/>
              </a:rPr>
              <a:t>The surgical case additionally carries the written transfer agreement with a nearby acute-care facility, which the accrediting body expects. It is priced inside this line rather than broken out.</a:t>
            </a:r>
            <a:endParaRPr lang="en-US" sz="800" dirty="0"/>
          </a:p>
        </p:txBody>
      </p:sp>
      <p:sp>
        <p:nvSpPr>
          <p:cNvPr id="6" name="Text 4"/>
          <p:cNvSpPr/>
          <p:nvPr/>
        </p:nvSpPr>
        <p:spPr>
          <a:xfrm>
            <a:off x="502920" y="1841602"/>
            <a:ext cx="8138160" cy="164592"/>
          </a:xfrm>
          <a:prstGeom prst="rect">
            <a:avLst/>
          </a:prstGeom>
          <a:noFill/>
          <a:ln/>
        </p:spPr>
        <p:txBody>
          <a:bodyPr wrap="square" rtlCol="0" anchor="ctr"/>
          <a:lstStyle/>
          <a:p>
            <a:pPr indent="0" marL="0">
              <a:buNone/>
            </a:pPr>
            <a:r>
              <a:rPr lang="en-US" sz="800" spc="160" kern="0" dirty="0">
                <a:solidFill>
                  <a:srgbClr val="C08D7C"/>
                </a:solidFill>
                <a:latin typeface="Century Gothic" pitchFamily="34" charset="0"/>
                <a:ea typeface="Century Gothic" pitchFamily="34" charset="-122"/>
                <a:cs typeface="Century Gothic" pitchFamily="34" charset="-120"/>
              </a:rPr>
              <a:t>ACCREDITATION: QUAD A SURVEY, POLICIES, QA/PI PROGRAM, STAFF TRAINING</a:t>
            </a:r>
            <a:endParaRPr lang="en-US" sz="800" dirty="0"/>
          </a:p>
        </p:txBody>
      </p:sp>
      <p:sp>
        <p:nvSpPr>
          <p:cNvPr id="7" name="Text 5"/>
          <p:cNvSpPr/>
          <p:nvPr/>
        </p:nvSpPr>
        <p:spPr>
          <a:xfrm>
            <a:off x="502920" y="2006194"/>
            <a:ext cx="8138160" cy="120701"/>
          </a:xfrm>
          <a:prstGeom prst="rect">
            <a:avLst/>
          </a:prstGeom>
          <a:noFill/>
          <a:ln/>
        </p:spPr>
        <p:txBody>
          <a:bodyPr wrap="square" rtlCol="0" anchor="t"/>
          <a:lstStyle/>
          <a:p>
            <a:pPr indent="0" marL="0">
              <a:lnSpc>
                <a:spcPct val="120000"/>
              </a:lnSpc>
              <a:buNone/>
            </a:pPr>
            <a:r>
              <a:rPr lang="en-US" sz="800" dirty="0">
                <a:solidFill>
                  <a:srgbClr val="A8A296"/>
                </a:solidFill>
                <a:latin typeface="Calibri" pitchFamily="34" charset="0"/>
                <a:ea typeface="Calibri" pitchFamily="34" charset="-122"/>
                <a:cs typeface="Calibri" pitchFamily="34" charset="-120"/>
              </a:rPr>
              <a:t>iOR does not publish its fees and does not serve these specialties in any case, so this assumes an independent accreditation consultant.</a:t>
            </a:r>
            <a:endParaRPr lang="en-US" sz="800" dirty="0"/>
          </a:p>
        </p:txBody>
      </p:sp>
      <p:sp>
        <p:nvSpPr>
          <p:cNvPr id="8" name="Text 6"/>
          <p:cNvSpPr/>
          <p:nvPr/>
        </p:nvSpPr>
        <p:spPr>
          <a:xfrm>
            <a:off x="502920" y="2264054"/>
            <a:ext cx="8138160" cy="164592"/>
          </a:xfrm>
          <a:prstGeom prst="rect">
            <a:avLst/>
          </a:prstGeom>
          <a:noFill/>
          <a:ln/>
        </p:spPr>
        <p:txBody>
          <a:bodyPr wrap="square" rtlCol="0" anchor="ctr"/>
          <a:lstStyle/>
          <a:p>
            <a:pPr indent="0" marL="0">
              <a:buNone/>
            </a:pPr>
            <a:r>
              <a:rPr lang="en-US" sz="800" spc="160" kern="0" dirty="0">
                <a:solidFill>
                  <a:srgbClr val="C08D7C"/>
                </a:solidFill>
                <a:latin typeface="Century Gothic" pitchFamily="34" charset="0"/>
                <a:ea typeface="Century Gothic" pitchFamily="34" charset="-122"/>
                <a:cs typeface="Century Gothic" pitchFamily="34" charset="-120"/>
              </a:rPr>
              <a:t>BRAND, LAUNCH, FOUNDING MEMBER CAMPAIGN</a:t>
            </a:r>
            <a:endParaRPr lang="en-US" sz="800" dirty="0"/>
          </a:p>
        </p:txBody>
      </p:sp>
      <p:sp>
        <p:nvSpPr>
          <p:cNvPr id="9" name="Text 7"/>
          <p:cNvSpPr/>
          <p:nvPr/>
        </p:nvSpPr>
        <p:spPr>
          <a:xfrm>
            <a:off x="502920" y="2428646"/>
            <a:ext cx="8138160" cy="241402"/>
          </a:xfrm>
          <a:prstGeom prst="rect">
            <a:avLst/>
          </a:prstGeom>
          <a:noFill/>
          <a:ln/>
        </p:spPr>
        <p:txBody>
          <a:bodyPr wrap="square" rtlCol="0" anchor="t"/>
          <a:lstStyle/>
          <a:p>
            <a:pPr indent="0" marL="0">
              <a:lnSpc>
                <a:spcPct val="120000"/>
              </a:lnSpc>
              <a:buNone/>
            </a:pPr>
            <a:r>
              <a:rPr lang="en-US" sz="800" dirty="0">
                <a:solidFill>
                  <a:srgbClr val="A8A296"/>
                </a:solidFill>
                <a:latin typeface="Calibri" pitchFamily="34" charset="0"/>
                <a:ea typeface="Calibri" pitchFamily="34" charset="-122"/>
                <a:cs typeface="Calibri" pitchFamily="34" charset="-120"/>
              </a:rPr>
              <a:t>Sized against the founding member target: the campaign has to convert enough pre-opening memberships to matter, and those proceeds are modelled as offsetting construction-period burn.</a:t>
            </a:r>
            <a:endParaRPr lang="en-US" sz="800" dirty="0"/>
          </a:p>
        </p:txBody>
      </p:sp>
      <p:sp>
        <p:nvSpPr>
          <p:cNvPr id="10" name="Text 8"/>
          <p:cNvSpPr/>
          <p:nvPr/>
        </p:nvSpPr>
        <p:spPr>
          <a:xfrm>
            <a:off x="502920" y="2807208"/>
            <a:ext cx="8138160" cy="164592"/>
          </a:xfrm>
          <a:prstGeom prst="rect">
            <a:avLst/>
          </a:prstGeom>
          <a:noFill/>
          <a:ln/>
        </p:spPr>
        <p:txBody>
          <a:bodyPr wrap="square" rtlCol="0" anchor="ctr"/>
          <a:lstStyle/>
          <a:p>
            <a:pPr indent="0" marL="0">
              <a:buNone/>
            </a:pPr>
            <a:r>
              <a:rPr lang="en-US" sz="800" spc="160" kern="0" dirty="0">
                <a:solidFill>
                  <a:srgbClr val="C08D7C"/>
                </a:solidFill>
                <a:latin typeface="Century Gothic" pitchFamily="34" charset="0"/>
                <a:ea typeface="Century Gothic" pitchFamily="34" charset="-122"/>
                <a:cs typeface="Century Gothic" pitchFamily="34" charset="-120"/>
              </a:rPr>
              <a:t>WORKING CAPITAL AND DEBT SERVICE RESERVE</a:t>
            </a:r>
            <a:endParaRPr lang="en-US" sz="800" dirty="0"/>
          </a:p>
        </p:txBody>
      </p:sp>
      <p:sp>
        <p:nvSpPr>
          <p:cNvPr id="11" name="Text 9"/>
          <p:cNvSpPr/>
          <p:nvPr/>
        </p:nvSpPr>
        <p:spPr>
          <a:xfrm>
            <a:off x="502920" y="2971800"/>
            <a:ext cx="8138160" cy="241402"/>
          </a:xfrm>
          <a:prstGeom prst="rect">
            <a:avLst/>
          </a:prstGeom>
          <a:noFill/>
          <a:ln/>
        </p:spPr>
        <p:txBody>
          <a:bodyPr wrap="square" rtlCol="0" anchor="t"/>
          <a:lstStyle/>
          <a:p>
            <a:pPr indent="0" marL="0">
              <a:lnSpc>
                <a:spcPct val="120000"/>
              </a:lnSpc>
              <a:buNone/>
            </a:pPr>
            <a:r>
              <a:rPr lang="en-US" sz="800" dirty="0">
                <a:solidFill>
                  <a:srgbClr val="A8A296"/>
                </a:solidFill>
                <a:latin typeface="Calibri" pitchFamily="34" charset="0"/>
                <a:ea typeface="Calibri" pitchFamily="34" charset="-122"/>
                <a:cs typeface="Calibri" pitchFamily="34" charset="-120"/>
              </a:rPr>
              <a:t>This is the one capital line that is computed rather than estimated. The model runs a 36-month cash curve and this reserve must exceed the deepest cumulative shortfall; a build assert fails if it does not. That is why the figure is not round.</a:t>
            </a:r>
            <a:endParaRPr lang="en-US" sz="800" dirty="0"/>
          </a:p>
        </p:txBody>
      </p:sp>
      <p:sp>
        <p:nvSpPr>
          <p:cNvPr id="12" name="Text 10"/>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 $2.0M PRIVATE CASE  ·  CONFIDENTIAL</a:t>
            </a:r>
            <a:endParaRPr lang="en-US" sz="700" dirty="0"/>
          </a:p>
        </p:txBody>
      </p:sp>
      <p:sp>
        <p:nvSpPr>
          <p:cNvPr id="13" name="Text 11"/>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42</a:t>
            </a:r>
            <a:endParaRPr lang="en-US" sz="7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APPENDIX · SENSITIVITY</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If rent is wrong, what happens.</a:t>
            </a:r>
            <a:endParaRPr lang="en-US" sz="2600" dirty="0"/>
          </a:p>
        </p:txBody>
      </p:sp>
      <p:sp>
        <p:nvSpPr>
          <p:cNvPr id="4" name="Text 2"/>
          <p:cNvSpPr/>
          <p:nvPr/>
        </p:nvSpPr>
        <p:spPr>
          <a:xfrm>
            <a:off x="502920" y="1097280"/>
            <a:ext cx="8138160" cy="457200"/>
          </a:xfrm>
          <a:prstGeom prst="rect">
            <a:avLst/>
          </a:prstGeom>
          <a:noFill/>
          <a:ln/>
        </p:spPr>
        <p:txBody>
          <a:bodyPr wrap="square" rtlCol="0" anchor="t"/>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Rent is the largest single assumption in the model and the easiest to check. Everything else is held constant.</a:t>
            </a:r>
            <a:endParaRPr lang="en-US" sz="115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502920" y="1828800"/>
          <a:ext cx="8138160" cy="914400"/>
        </p:xfrm>
        <a:graphic>
          <a:graphicData uri="http://schemas.openxmlformats.org/drawingml/2006/table">
            <a:tbl>
              <a:tblPr/>
              <a:tblGrid>
                <a:gridCol w="2103120"/>
                <a:gridCol w="1463040"/>
                <a:gridCol w="1645920"/>
                <a:gridCol w="1554480"/>
                <a:gridCol w="1371600"/>
              </a:tblGrid>
              <a:tr h="292608">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Rent $/SF/month NNN</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Monthly rent</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Operating /mo</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Annual</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DSCR</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292608">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5.50  (modelled)</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$32,038</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$189,541</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$2,274,497</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4.01x</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92608">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6.00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$34,950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$186,629</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$2,239,547</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3.95x</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92608">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6.50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$37,863</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$183,716</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$2,204,597</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3.89x</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92608">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7.00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$40,775</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$180,804</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$2,169,647</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3.82x</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bl>
          </a:graphicData>
        </a:graphic>
      </p:graphicFrame>
      <p:sp>
        <p:nvSpPr>
          <p:cNvPr id="6" name="Text 3"/>
          <p:cNvSpPr/>
          <p:nvPr/>
        </p:nvSpPr>
        <p:spPr>
          <a:xfrm>
            <a:off x="502920" y="3611880"/>
            <a:ext cx="8138160" cy="457200"/>
          </a:xfrm>
          <a:prstGeom prst="rect">
            <a:avLst/>
          </a:prstGeom>
          <a:noFill/>
          <a:ln/>
        </p:spPr>
        <p:txBody>
          <a:bodyPr wrap="square" rtlCol="0" anchor="ctr"/>
          <a:lstStyle/>
          <a:p>
            <a:pPr indent="0" marL="0">
              <a:lnSpc>
                <a:spcPct val="120000"/>
              </a:lnSpc>
              <a:buNone/>
            </a:pPr>
            <a:r>
              <a:rPr lang="en-US" sz="900" dirty="0">
                <a:solidFill>
                  <a:srgbClr val="6E6A62"/>
                </a:solidFill>
                <a:latin typeface="Calibri" pitchFamily="34" charset="0"/>
                <a:ea typeface="Calibri" pitchFamily="34" charset="-122"/>
                <a:cs typeface="Calibri" pitchFamily="34" charset="-120"/>
              </a:rPr>
              <a:t>Coverage against the 1.25x underwriting convention. The modelled rate is the more aggressive of the figures shown; a broker letter or signed lease would replace this assumption with a fact.</a:t>
            </a:r>
            <a:endParaRPr lang="en-US" sz="900" dirty="0"/>
          </a:p>
        </p:txBody>
      </p:sp>
      <p:sp>
        <p:nvSpPr>
          <p:cNvPr id="7" name="Text 4"/>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 $2.0M PRIVATE CASE  ·  CONFIDENTIAL</a:t>
            </a:r>
            <a:endParaRPr lang="en-US" sz="700" dirty="0"/>
          </a:p>
        </p:txBody>
      </p:sp>
      <p:sp>
        <p:nvSpPr>
          <p:cNvPr id="8" name="Text 5"/>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43</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43</Slides>
  <Notes>43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43</vt:i4>
      </vt:variant>
    </vt:vector>
  </HeadingPairs>
  <TitlesOfParts>
    <vt:vector size="4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vector>
  </TitlesOfParts>
  <Company>LK Wellness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L and K Wellness: Investor and SBA Brief</dc:subject>
  <dc:creator>LK Wellness</dc:creator>
  <cp:lastModifiedBy>LK Wellness</cp:lastModifiedBy>
  <cp:revision>1</cp:revision>
  <dcterms:created xsi:type="dcterms:W3CDTF">2026-08-20T02:33:30Z</dcterms:created>
  <dcterms:modified xsi:type="dcterms:W3CDTF">2026-08-20T02:33:30Z</dcterms:modified>
</cp:coreProperties>
</file>