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6,700 SF   ·   Est. 2026   ·   Surgical · $2.0M private case, $5.55M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  ·  Blepharoplasty (facility fee)  ·  Facial Contouring Surgery (facility fee)  ·  Awake Liposuction &amp; Body Contouring (facility fee)  ·  Fat Grafting &amp; Transfer (facility fee)  ·  Hair Restoration Surgery  ·  Office Surgical Procedures  ·  Ablative Laser &amp; Skin Tightening</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SURGERY SUITE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accredited operating room, inside the clinic.</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900 SF office-based surgery suite planned to the published iOR Partners specification, accredited by Quad A. It sits in the clinic layer, so anyone can book it — surgery is never a membership benefit. L&amp;K bills a facility fee; the operating surgeon is a principal who bills their professional fee directly.</a:t>
            </a:r>
            <a:endParaRPr lang="en-US" sz="1150" dirty="0"/>
          </a:p>
        </p:txBody>
      </p:sp>
      <p:sp>
        <p:nvSpPr>
          <p:cNvPr id="5" name="Shape 3"/>
          <p:cNvSpPr/>
          <p:nvPr/>
        </p:nvSpPr>
        <p:spPr>
          <a:xfrm>
            <a:off x="502920" y="1645920"/>
            <a:ext cx="8138160" cy="841248"/>
          </a:xfrm>
          <a:prstGeom prst="roundRect">
            <a:avLst>
              <a:gd name="adj" fmla="val 6522"/>
            </a:avLst>
          </a:prstGeom>
          <a:solidFill>
            <a:srgbClr val="241C1A"/>
          </a:solidFill>
          <a:ln w="15875">
            <a:solidFill>
              <a:srgbClr val="C08D7C"/>
            </a:solidFill>
            <a:prstDash val="solid"/>
          </a:ln>
        </p:spPr>
      </p:sp>
      <p:sp>
        <p:nvSpPr>
          <p:cNvPr id="6" name="Text 4"/>
          <p:cNvSpPr/>
          <p:nvPr/>
        </p:nvSpPr>
        <p:spPr>
          <a:xfrm>
            <a:off x="704088" y="1737360"/>
            <a:ext cx="7735824"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Moderate sedation. Under two hours of recovery. Nothing above that line.</a:t>
            </a:r>
            <a:endParaRPr lang="en-US" sz="1300" dirty="0"/>
          </a:p>
        </p:txBody>
      </p:sp>
      <p:sp>
        <p:nvSpPr>
          <p:cNvPr id="7" name="Text 5"/>
          <p:cNvSpPr/>
          <p:nvPr/>
        </p:nvSpPr>
        <p:spPr>
          <a:xfrm>
            <a:off x="704088" y="2011680"/>
            <a:ext cx="7735824" cy="420624"/>
          </a:xfrm>
          <a:prstGeom prst="rect">
            <a:avLst/>
          </a:prstGeom>
          <a:noFill/>
          <a:ln/>
        </p:spPr>
        <p:txBody>
          <a:bodyPr wrap="square" rtlCol="0" anchor="ctr"/>
          <a:lstStyle/>
          <a:p>
            <a:pPr indent="0" marL="0">
              <a:lnSpc>
                <a:spcPct val="112000"/>
              </a:lnSpc>
              <a:buNone/>
            </a:pPr>
            <a:r>
              <a:rPr lang="en-US" sz="900" dirty="0">
                <a:solidFill>
                  <a:srgbClr val="A8A296"/>
                </a:solidFill>
                <a:latin typeface="Calibri" pitchFamily="34" charset="0"/>
                <a:ea typeface="Calibri" pitchFamily="34" charset="-122"/>
                <a:cs typeface="Calibri" pitchFamily="34" charset="-120"/>
              </a:rPr>
              <a:t>A design decision, not a limitation. It is why there is no anesthesiologist on payroll, no anesthesia machine in the budget, and only three PACU bays. California requires accreditation only when protective reflexes may be lost; moderate sedation preserves them, so this suite sits below the trigger. We accredit anyway.</a:t>
            </a:r>
            <a:endParaRPr lang="en-US" sz="900" dirty="0"/>
          </a:p>
        </p:txBody>
      </p:sp>
      <p:sp>
        <p:nvSpPr>
          <p:cNvPr id="8" name="Shape 6"/>
          <p:cNvSpPr/>
          <p:nvPr/>
        </p:nvSpPr>
        <p:spPr>
          <a:xfrm>
            <a:off x="502920" y="2578608"/>
            <a:ext cx="3986784" cy="1901952"/>
          </a:xfrm>
          <a:prstGeom prst="roundRect">
            <a:avLst>
              <a:gd name="adj" fmla="val 2885"/>
            </a:avLst>
          </a:prstGeom>
          <a:solidFill>
            <a:srgbClr val="16241C"/>
          </a:solidFill>
          <a:ln w="12700">
            <a:solidFill>
              <a:srgbClr val="2E4237"/>
            </a:solidFill>
            <a:prstDash val="solid"/>
          </a:ln>
        </p:spPr>
      </p:sp>
      <p:sp>
        <p:nvSpPr>
          <p:cNvPr id="9" name="Text 7"/>
          <p:cNvSpPr/>
          <p:nvPr/>
        </p:nvSpPr>
        <p:spPr>
          <a:xfrm>
            <a:off x="649224"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OPERATING ROOM</a:t>
            </a:r>
            <a:endParaRPr lang="en-US" sz="750" dirty="0"/>
          </a:p>
        </p:txBody>
      </p:sp>
      <p:sp>
        <p:nvSpPr>
          <p:cNvPr id="10" name="Text 8"/>
          <p:cNvSpPr/>
          <p:nvPr/>
        </p:nvSpPr>
        <p:spPr>
          <a:xfrm>
            <a:off x="649224"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Blepharoplasty, upper, lower and combined</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Brow lift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Otoplasty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Chin augmentation and implant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Buccal fat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Facial fat grafting and transfer</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Liposuction, single or limited area, awake tumescent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Submental neck contouring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Limited body-contouring revision</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Scar revision, facial and body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Nasal valve procedures sold as elective self-pay</a:t>
            </a:r>
            <a:endParaRPr lang="en-US" sz="700" dirty="0"/>
          </a:p>
        </p:txBody>
      </p:sp>
      <p:sp>
        <p:nvSpPr>
          <p:cNvPr id="11" name="Shape 9"/>
          <p:cNvSpPr/>
          <p:nvPr/>
        </p:nvSpPr>
        <p:spPr>
          <a:xfrm>
            <a:off x="4654296" y="2578608"/>
            <a:ext cx="3986784" cy="1901952"/>
          </a:xfrm>
          <a:prstGeom prst="roundRect">
            <a:avLst>
              <a:gd name="adj" fmla="val 2885"/>
            </a:avLst>
          </a:prstGeom>
          <a:solidFill>
            <a:srgbClr val="16241C"/>
          </a:solidFill>
          <a:ln w="12700">
            <a:solidFill>
              <a:srgbClr val="2E4237"/>
            </a:solidFill>
            <a:prstDash val="solid"/>
          </a:ln>
        </p:spPr>
      </p:sp>
      <p:sp>
        <p:nvSpPr>
          <p:cNvPr id="12" name="Text 10"/>
          <p:cNvSpPr/>
          <p:nvPr/>
        </p:nvSpPr>
        <p:spPr>
          <a:xfrm>
            <a:off x="4800600"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TREATMENT ROOMS, UNDER LOCAL</a:t>
            </a:r>
            <a:endParaRPr lang="en-US" sz="750" dirty="0"/>
          </a:p>
        </p:txBody>
      </p:sp>
      <p:sp>
        <p:nvSpPr>
          <p:cNvPr id="13" name="Text 11"/>
          <p:cNvSpPr/>
          <p:nvPr/>
        </p:nvSpPr>
        <p:spPr>
          <a:xfrm>
            <a:off x="4800600"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Lipoma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Cyst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Benign lesion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Ablative laser resurfacing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Skin tightening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Hair restoration surgery and transplant</a:t>
            </a:r>
            <a:endParaRPr lang="en-US" sz="7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6,700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6309360"/>
                <a:gridCol w="1828800"/>
              </a:tblGrid>
              <a:tr h="16916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Arrival, concierge, retail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Lounge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Contrast suite (2 saunas, 2 plunges)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floor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and regenerative lounge (8 chairs)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Treatment rooms (3)</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 and consult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Operating room</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 and PACU (3 monitored bays)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220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processing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supply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Soiled utility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Locker, shower, changing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Staff, MEP, storage,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6,700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6,700 square feet, and how it is paid for.</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Shape 3"/>
          <p:cNvSpPr/>
          <p:nvPr/>
        </p:nvSpPr>
        <p:spPr>
          <a:xfrm>
            <a:off x="4754880" y="1645920"/>
            <a:ext cx="3520440" cy="2011680"/>
          </a:xfrm>
          <a:prstGeom prst="roundRect">
            <a:avLst>
              <a:gd name="adj" fmla="val 2727"/>
            </a:avLst>
          </a:prstGeom>
          <a:solidFill>
            <a:srgbClr val="16241C"/>
          </a:solidFill>
          <a:ln w="12700">
            <a:solidFill>
              <a:srgbClr val="2E4237"/>
            </a:solidFill>
            <a:prstDash val="solid"/>
          </a:ln>
        </p:spPr>
      </p:sp>
      <p:sp>
        <p:nvSpPr>
          <p:cNvPr id="7" name="Text 4"/>
          <p:cNvSpPr/>
          <p:nvPr/>
        </p:nvSpPr>
        <p:spPr>
          <a:xfrm>
            <a:off x="4901184" y="1773936"/>
            <a:ext cx="3246120"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8" name="Text 5"/>
          <p:cNvSpPr/>
          <p:nvPr/>
        </p:nvSpPr>
        <p:spPr>
          <a:xfrm>
            <a:off x="4901184" y="1993392"/>
            <a:ext cx="3246120" cy="15544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surgical equipment part leased. Wet areas drive cost — plunges, saunas and steam carry a materially higher per-SF buildout than a dry medspa, which is why the lean case trims the contrast suite before it trims treatment rooms.</a:t>
            </a:r>
            <a:endParaRPr lang="en-US" sz="9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2602992"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3270504" y="2240280"/>
            <a:ext cx="2602992"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3416808"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59%</a:t>
            </a:r>
            <a:endParaRPr lang="en-US" sz="2000" dirty="0"/>
          </a:p>
        </p:txBody>
      </p:sp>
      <p:sp>
        <p:nvSpPr>
          <p:cNvPr id="10" name="Text 8"/>
          <p:cNvSpPr/>
          <p:nvPr/>
        </p:nvSpPr>
        <p:spPr>
          <a:xfrm>
            <a:off x="3416808"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300 procedures against 507 practical capacity, leaving 207 slots of headroom.</a:t>
            </a:r>
            <a:endParaRPr lang="en-US" sz="900" dirty="0"/>
          </a:p>
        </p:txBody>
      </p:sp>
      <p:sp>
        <p:nvSpPr>
          <p:cNvPr id="11" name="Shape 9"/>
          <p:cNvSpPr/>
          <p:nvPr/>
        </p:nvSpPr>
        <p:spPr>
          <a:xfrm>
            <a:off x="6038088" y="2240280"/>
            <a:ext cx="2602992" cy="1554480"/>
          </a:xfrm>
          <a:prstGeom prst="roundRect">
            <a:avLst>
              <a:gd name="adj" fmla="val 3529"/>
            </a:avLst>
          </a:prstGeom>
          <a:solidFill>
            <a:srgbClr val="241C1A"/>
          </a:solidFill>
          <a:ln w="12700">
            <a:solidFill>
              <a:srgbClr val="C08D7C"/>
            </a:solidFill>
            <a:prstDash val="solid"/>
          </a:ln>
        </p:spPr>
      </p:sp>
      <p:sp>
        <p:nvSpPr>
          <p:cNvPr id="12" name="Text 10"/>
          <p:cNvSpPr/>
          <p:nvPr/>
        </p:nvSpPr>
        <p:spPr>
          <a:xfrm>
            <a:off x="6184392"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61%</a:t>
            </a:r>
            <a:endParaRPr lang="en-US" sz="2000" dirty="0"/>
          </a:p>
        </p:txBody>
      </p:sp>
      <p:sp>
        <p:nvSpPr>
          <p:cNvPr id="13" name="Text 11"/>
          <p:cNvSpPr/>
          <p:nvPr/>
        </p:nvSpPr>
        <p:spPr>
          <a:xfrm>
            <a:off x="6184392"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Operating room utilization. 22 cases needing 38.5 hours against 63 practical hours across nine block days, leaving 24.5 hours of headroom.</a:t>
            </a:r>
            <a:endParaRPr lang="en-US" sz="900" dirty="0"/>
          </a:p>
        </p:txBody>
      </p:sp>
      <p:sp>
        <p:nvSpPr>
          <p:cNvPr id="14" name="Text 12"/>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 surgical lines, also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Elective self-pay only. No payer contracts on the surgical side either, which is the direct result of holding the menu to the sedation ceiling.</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Blepharoplasty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Facial Contouring Surgery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Awake Liposuction &amp; Body Contouring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Fat Grafting &amp; Transfer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Hair Restoration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Office Surgical Procedures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$26,400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Ablative Laser &amp; Skin Tightening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Surgical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$145,250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3310128"/>
            <a:ext cx="8138160" cy="868680"/>
          </a:xfrm>
          <a:prstGeom prst="rect">
            <a:avLst/>
          </a:prstGeom>
          <a:noFill/>
          <a:ln/>
        </p:spPr>
        <p:txBody>
          <a:bodyPr wrap="square" rtlCol="0" anchor="ctr"/>
          <a:lstStyle/>
          <a:p>
            <a:pPr indent="0" marL="0">
              <a:lnSpc>
                <a:spcPct val="118000"/>
              </a:lnSpc>
              <a:buNone/>
            </a:pPr>
            <a:r>
              <a:rPr lang="en-US" sz="850" b="1" dirty="0">
                <a:solidFill>
                  <a:srgbClr val="C08D7C"/>
                </a:solidFill>
                <a:latin typeface="Calibri" pitchFamily="34" charset="0"/>
                <a:ea typeface="Calibri" pitchFamily="34" charset="-122"/>
                <a:cs typeface="Calibri" pitchFamily="34" charset="-120"/>
              </a:rPr>
              <a:t>The four operating-room lines are FACILITY FEES. </a:t>
            </a:r>
            <a:pPr indent="0" marL="0">
              <a:lnSpc>
                <a:spcPct val="118000"/>
              </a:lnSpc>
              <a:buNone/>
            </a:pPr>
            <a:r>
              <a:rPr lang="en-US" sz="850" dirty="0">
                <a:solidFill>
                  <a:srgbClr val="6E6A62"/>
                </a:solidFill>
                <a:latin typeface="Calibri" pitchFamily="34" charset="0"/>
                <a:ea typeface="Calibri" pitchFamily="34" charset="-122"/>
                <a:cs typeface="Calibri" pitchFamily="34" charset="-120"/>
              </a:rPr>
              <a:t>They are what L&amp;K collects for the room, clinical staff, supplies, sedation monitoring and recovery. The surgeon is a principal who bills the patient directly for their professional fee, which never appears on these books — so the all-in price a patient pays is materially higher than the figures above. That is also why OR margins exceed the treatment-room lines: with no surgeon share to pay, facility cost of goods is disposables, implants, drugs and linens only. Across 38.5 OR hours a month the schedule works out to about $1,756 per operating-room hour. Hair restoration, ablative laser and office excisions bill the full fee, because the clinic’s own clinicians perform them in treatment rooms it already has.</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$564,480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-$34,798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$400,182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$650,807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569319"/>
            <a:ext cx="8138160" cy="10973"/>
          </a:xfrm>
          <a:prstGeom prst="rect">
            <a:avLst/>
          </a:prstGeom>
          <a:solidFill>
            <a:srgbClr val="2E4237"/>
          </a:solidFill>
          <a:ln w="12700">
            <a:solidFill>
              <a:srgbClr val="2E4237"/>
            </a:solidFill>
            <a:prstDash val="solid"/>
          </a:ln>
        </p:spPr>
      </p:sp>
      <p:sp>
        <p:nvSpPr>
          <p:cNvPr id="7" name="Shape 5"/>
          <p:cNvSpPr/>
          <p:nvPr/>
        </p:nvSpPr>
        <p:spPr>
          <a:xfrm>
            <a:off x="539090" y="2569319"/>
            <a:ext cx="153721" cy="973870"/>
          </a:xfrm>
          <a:prstGeom prst="rect">
            <a:avLst/>
          </a:prstGeom>
          <a:solidFill>
            <a:srgbClr val="2E4237"/>
          </a:solidFill>
          <a:ln w="12700">
            <a:solidFill>
              <a:srgbClr val="2E4237"/>
            </a:solidFill>
            <a:prstDash val="solid"/>
          </a:ln>
        </p:spPr>
      </p:sp>
      <p:sp>
        <p:nvSpPr>
          <p:cNvPr id="8" name="Shape 6"/>
          <p:cNvSpPr/>
          <p:nvPr/>
        </p:nvSpPr>
        <p:spPr>
          <a:xfrm>
            <a:off x="765150" y="2569319"/>
            <a:ext cx="153721" cy="973870"/>
          </a:xfrm>
          <a:prstGeom prst="rect">
            <a:avLst/>
          </a:prstGeom>
          <a:solidFill>
            <a:srgbClr val="2E4237"/>
          </a:solidFill>
          <a:ln w="12700">
            <a:solidFill>
              <a:srgbClr val="2E4237"/>
            </a:solidFill>
            <a:prstDash val="solid"/>
          </a:ln>
        </p:spPr>
      </p:sp>
      <p:sp>
        <p:nvSpPr>
          <p:cNvPr id="9" name="Shape 7"/>
          <p:cNvSpPr/>
          <p:nvPr/>
        </p:nvSpPr>
        <p:spPr>
          <a:xfrm>
            <a:off x="991210" y="2569319"/>
            <a:ext cx="153721" cy="973870"/>
          </a:xfrm>
          <a:prstGeom prst="rect">
            <a:avLst/>
          </a:prstGeom>
          <a:solidFill>
            <a:srgbClr val="2E4237"/>
          </a:solidFill>
          <a:ln w="12700">
            <a:solidFill>
              <a:srgbClr val="2E4237"/>
            </a:solidFill>
            <a:prstDash val="solid"/>
          </a:ln>
        </p:spPr>
      </p:sp>
      <p:sp>
        <p:nvSpPr>
          <p:cNvPr id="10" name="Shape 8"/>
          <p:cNvSpPr/>
          <p:nvPr/>
        </p:nvSpPr>
        <p:spPr>
          <a:xfrm>
            <a:off x="1217270" y="2569319"/>
            <a:ext cx="153721" cy="973870"/>
          </a:xfrm>
          <a:prstGeom prst="rect">
            <a:avLst/>
          </a:prstGeom>
          <a:solidFill>
            <a:srgbClr val="2E4237"/>
          </a:solidFill>
          <a:ln w="12700">
            <a:solidFill>
              <a:srgbClr val="2E4237"/>
            </a:solidFill>
            <a:prstDash val="solid"/>
          </a:ln>
        </p:spPr>
      </p:sp>
      <p:sp>
        <p:nvSpPr>
          <p:cNvPr id="11" name="Shape 9"/>
          <p:cNvSpPr/>
          <p:nvPr/>
        </p:nvSpPr>
        <p:spPr>
          <a:xfrm>
            <a:off x="1443330" y="2569319"/>
            <a:ext cx="153721" cy="973870"/>
          </a:xfrm>
          <a:prstGeom prst="rect">
            <a:avLst/>
          </a:prstGeom>
          <a:solidFill>
            <a:srgbClr val="2E4237"/>
          </a:solidFill>
          <a:ln w="12700">
            <a:solidFill>
              <a:srgbClr val="2E4237"/>
            </a:solidFill>
            <a:prstDash val="solid"/>
          </a:ln>
        </p:spPr>
      </p:sp>
      <p:sp>
        <p:nvSpPr>
          <p:cNvPr id="12" name="Shape 10"/>
          <p:cNvSpPr/>
          <p:nvPr/>
        </p:nvSpPr>
        <p:spPr>
          <a:xfrm>
            <a:off x="1669390" y="2569319"/>
            <a:ext cx="153721" cy="973870"/>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569319"/>
            <a:ext cx="153721" cy="1380889"/>
          </a:xfrm>
          <a:prstGeom prst="rect">
            <a:avLst/>
          </a:prstGeom>
          <a:solidFill>
            <a:srgbClr val="2E4237"/>
          </a:solidFill>
          <a:ln w="12700">
            <a:solidFill>
              <a:srgbClr val="2E4237"/>
            </a:solidFill>
            <a:prstDash val="solid"/>
          </a:ln>
        </p:spPr>
      </p:sp>
      <p:sp>
        <p:nvSpPr>
          <p:cNvPr id="15" name="Shape 13"/>
          <p:cNvSpPr/>
          <p:nvPr/>
        </p:nvSpPr>
        <p:spPr>
          <a:xfrm>
            <a:off x="2121510" y="2569319"/>
            <a:ext cx="153721" cy="1116355"/>
          </a:xfrm>
          <a:prstGeom prst="rect">
            <a:avLst/>
          </a:prstGeom>
          <a:solidFill>
            <a:srgbClr val="2E4237"/>
          </a:solidFill>
          <a:ln w="12700">
            <a:solidFill>
              <a:srgbClr val="2E4237"/>
            </a:solidFill>
            <a:prstDash val="solid"/>
          </a:ln>
        </p:spPr>
      </p:sp>
      <p:sp>
        <p:nvSpPr>
          <p:cNvPr id="16" name="Shape 14"/>
          <p:cNvSpPr/>
          <p:nvPr/>
        </p:nvSpPr>
        <p:spPr>
          <a:xfrm>
            <a:off x="2347570" y="2569319"/>
            <a:ext cx="153721" cy="814032"/>
          </a:xfrm>
          <a:prstGeom prst="rect">
            <a:avLst/>
          </a:prstGeom>
          <a:solidFill>
            <a:srgbClr val="2E4237"/>
          </a:solidFill>
          <a:ln w="12700">
            <a:solidFill>
              <a:srgbClr val="2E4237"/>
            </a:solidFill>
            <a:prstDash val="solid"/>
          </a:ln>
        </p:spPr>
      </p:sp>
      <p:sp>
        <p:nvSpPr>
          <p:cNvPr id="17" name="Shape 15"/>
          <p:cNvSpPr/>
          <p:nvPr/>
        </p:nvSpPr>
        <p:spPr>
          <a:xfrm>
            <a:off x="2573630" y="2569319"/>
            <a:ext cx="153721" cy="587293"/>
          </a:xfrm>
          <a:prstGeom prst="rect">
            <a:avLst/>
          </a:prstGeom>
          <a:solidFill>
            <a:srgbClr val="2E4237"/>
          </a:solidFill>
          <a:ln w="12700">
            <a:solidFill>
              <a:srgbClr val="2E4237"/>
            </a:solidFill>
            <a:prstDash val="solid"/>
          </a:ln>
        </p:spPr>
      </p:sp>
      <p:sp>
        <p:nvSpPr>
          <p:cNvPr id="18" name="Shape 16"/>
          <p:cNvSpPr/>
          <p:nvPr/>
        </p:nvSpPr>
        <p:spPr>
          <a:xfrm>
            <a:off x="2799690" y="2569319"/>
            <a:ext cx="153721" cy="360547"/>
          </a:xfrm>
          <a:prstGeom prst="rect">
            <a:avLst/>
          </a:prstGeom>
          <a:solidFill>
            <a:srgbClr val="2E4237"/>
          </a:solidFill>
          <a:ln w="12700">
            <a:solidFill>
              <a:srgbClr val="2E4237"/>
            </a:solidFill>
            <a:prstDash val="solid"/>
          </a:ln>
        </p:spPr>
      </p:sp>
      <p:sp>
        <p:nvSpPr>
          <p:cNvPr id="19" name="Shape 17"/>
          <p:cNvSpPr/>
          <p:nvPr/>
        </p:nvSpPr>
        <p:spPr>
          <a:xfrm>
            <a:off x="3025750" y="2569319"/>
            <a:ext cx="153721" cy="133809"/>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476381"/>
            <a:ext cx="153721" cy="92938"/>
          </a:xfrm>
          <a:prstGeom prst="rect">
            <a:avLst/>
          </a:prstGeom>
          <a:solidFill>
            <a:srgbClr val="C08D7C"/>
          </a:solidFill>
          <a:ln w="12700">
            <a:solidFill>
              <a:srgbClr val="C08D7C"/>
            </a:solidFill>
            <a:prstDash val="solid"/>
          </a:ln>
        </p:spPr>
      </p:sp>
      <p:sp>
        <p:nvSpPr>
          <p:cNvPr id="22" name="Shape 20"/>
          <p:cNvSpPr/>
          <p:nvPr/>
        </p:nvSpPr>
        <p:spPr>
          <a:xfrm>
            <a:off x="3477870" y="2325219"/>
            <a:ext cx="153721" cy="244099"/>
          </a:xfrm>
          <a:prstGeom prst="rect">
            <a:avLst/>
          </a:prstGeom>
          <a:solidFill>
            <a:srgbClr val="C08D7C"/>
          </a:solidFill>
          <a:ln w="12700">
            <a:solidFill>
              <a:srgbClr val="C08D7C"/>
            </a:solidFill>
            <a:prstDash val="solid"/>
          </a:ln>
        </p:spPr>
      </p:sp>
      <p:sp>
        <p:nvSpPr>
          <p:cNvPr id="23" name="Shape 21"/>
          <p:cNvSpPr/>
          <p:nvPr/>
        </p:nvSpPr>
        <p:spPr>
          <a:xfrm>
            <a:off x="3703930" y="2174058"/>
            <a:ext cx="153721" cy="395261"/>
          </a:xfrm>
          <a:prstGeom prst="rect">
            <a:avLst/>
          </a:prstGeom>
          <a:solidFill>
            <a:srgbClr val="C08D7C"/>
          </a:solidFill>
          <a:ln w="12700">
            <a:solidFill>
              <a:srgbClr val="C08D7C"/>
            </a:solidFill>
            <a:prstDash val="solid"/>
          </a:ln>
        </p:spPr>
      </p:sp>
      <p:sp>
        <p:nvSpPr>
          <p:cNvPr id="24" name="Shape 22"/>
          <p:cNvSpPr/>
          <p:nvPr/>
        </p:nvSpPr>
        <p:spPr>
          <a:xfrm>
            <a:off x="3929990" y="2022896"/>
            <a:ext cx="153721" cy="546422"/>
          </a:xfrm>
          <a:prstGeom prst="rect">
            <a:avLst/>
          </a:prstGeom>
          <a:solidFill>
            <a:srgbClr val="C08D7C"/>
          </a:solidFill>
          <a:ln w="12700">
            <a:solidFill>
              <a:srgbClr val="C08D7C"/>
            </a:solidFill>
            <a:prstDash val="solid"/>
          </a:ln>
        </p:spPr>
      </p:sp>
      <p:sp>
        <p:nvSpPr>
          <p:cNvPr id="25" name="Shape 23"/>
          <p:cNvSpPr/>
          <p:nvPr/>
        </p:nvSpPr>
        <p:spPr>
          <a:xfrm>
            <a:off x="4156050" y="1871735"/>
            <a:ext cx="153721" cy="697584"/>
          </a:xfrm>
          <a:prstGeom prst="rect">
            <a:avLst/>
          </a:prstGeom>
          <a:solidFill>
            <a:srgbClr val="C08D7C"/>
          </a:solidFill>
          <a:ln w="12700">
            <a:solidFill>
              <a:srgbClr val="C08D7C"/>
            </a:solidFill>
            <a:prstDash val="solid"/>
          </a:ln>
        </p:spPr>
      </p:sp>
      <p:sp>
        <p:nvSpPr>
          <p:cNvPr id="26" name="Shape 24"/>
          <p:cNvSpPr/>
          <p:nvPr/>
        </p:nvSpPr>
        <p:spPr>
          <a:xfrm>
            <a:off x="4382110" y="1841840"/>
            <a:ext cx="153721" cy="727478"/>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11938"/>
            <a:ext cx="153721" cy="757380"/>
          </a:xfrm>
          <a:prstGeom prst="rect">
            <a:avLst/>
          </a:prstGeom>
          <a:solidFill>
            <a:srgbClr val="C08D7C"/>
          </a:solidFill>
          <a:ln w="12700">
            <a:solidFill>
              <a:srgbClr val="C08D7C"/>
            </a:solidFill>
            <a:prstDash val="solid"/>
          </a:ln>
        </p:spPr>
      </p:sp>
      <p:sp>
        <p:nvSpPr>
          <p:cNvPr id="29" name="Shape 27"/>
          <p:cNvSpPr/>
          <p:nvPr/>
        </p:nvSpPr>
        <p:spPr>
          <a:xfrm>
            <a:off x="4834230" y="1782044"/>
            <a:ext cx="153721" cy="787275"/>
          </a:xfrm>
          <a:prstGeom prst="rect">
            <a:avLst/>
          </a:prstGeom>
          <a:solidFill>
            <a:srgbClr val="C08D7C"/>
          </a:solidFill>
          <a:ln w="12700">
            <a:solidFill>
              <a:srgbClr val="C08D7C"/>
            </a:solidFill>
            <a:prstDash val="solid"/>
          </a:ln>
        </p:spPr>
      </p:sp>
      <p:sp>
        <p:nvSpPr>
          <p:cNvPr id="30" name="Shape 28"/>
          <p:cNvSpPr/>
          <p:nvPr/>
        </p:nvSpPr>
        <p:spPr>
          <a:xfrm>
            <a:off x="5060290" y="1752150"/>
            <a:ext cx="153721" cy="817169"/>
          </a:xfrm>
          <a:prstGeom prst="rect">
            <a:avLst/>
          </a:prstGeom>
          <a:solidFill>
            <a:srgbClr val="C08D7C"/>
          </a:solidFill>
          <a:ln w="12700">
            <a:solidFill>
              <a:srgbClr val="C08D7C"/>
            </a:solidFill>
            <a:prstDash val="solid"/>
          </a:ln>
        </p:spPr>
      </p:sp>
      <p:sp>
        <p:nvSpPr>
          <p:cNvPr id="31" name="Shape 29"/>
          <p:cNvSpPr/>
          <p:nvPr/>
        </p:nvSpPr>
        <p:spPr>
          <a:xfrm>
            <a:off x="5286350" y="1722247"/>
            <a:ext cx="153721" cy="847071"/>
          </a:xfrm>
          <a:prstGeom prst="rect">
            <a:avLst/>
          </a:prstGeom>
          <a:solidFill>
            <a:srgbClr val="C08D7C"/>
          </a:solidFill>
          <a:ln w="12700">
            <a:solidFill>
              <a:srgbClr val="C08D7C"/>
            </a:solidFill>
            <a:prstDash val="solid"/>
          </a:ln>
        </p:spPr>
      </p:sp>
      <p:sp>
        <p:nvSpPr>
          <p:cNvPr id="32" name="Shape 30"/>
          <p:cNvSpPr/>
          <p:nvPr/>
        </p:nvSpPr>
        <p:spPr>
          <a:xfrm>
            <a:off x="5512410" y="1702321"/>
            <a:ext cx="153721" cy="866998"/>
          </a:xfrm>
          <a:prstGeom prst="rect">
            <a:avLst/>
          </a:prstGeom>
          <a:solidFill>
            <a:srgbClr val="C08D7C"/>
          </a:solidFill>
          <a:ln w="12700">
            <a:solidFill>
              <a:srgbClr val="C08D7C"/>
            </a:solidFill>
            <a:prstDash val="solid"/>
          </a:ln>
        </p:spPr>
      </p:sp>
      <p:sp>
        <p:nvSpPr>
          <p:cNvPr id="33" name="Shape 31"/>
          <p:cNvSpPr/>
          <p:nvPr/>
        </p:nvSpPr>
        <p:spPr>
          <a:xfrm>
            <a:off x="5738470" y="1682386"/>
            <a:ext cx="153721" cy="886933"/>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62459"/>
            <a:ext cx="153721" cy="906860"/>
          </a:xfrm>
          <a:prstGeom prst="rect">
            <a:avLst/>
          </a:prstGeom>
          <a:solidFill>
            <a:srgbClr val="C08D7C"/>
          </a:solidFill>
          <a:ln w="12700">
            <a:solidFill>
              <a:srgbClr val="C08D7C"/>
            </a:solidFill>
            <a:prstDash val="solid"/>
          </a:ln>
        </p:spPr>
      </p:sp>
      <p:sp>
        <p:nvSpPr>
          <p:cNvPr id="36" name="Shape 34"/>
          <p:cNvSpPr/>
          <p:nvPr/>
        </p:nvSpPr>
        <p:spPr>
          <a:xfrm>
            <a:off x="6190590" y="1642524"/>
            <a:ext cx="153721" cy="926795"/>
          </a:xfrm>
          <a:prstGeom prst="rect">
            <a:avLst/>
          </a:prstGeom>
          <a:solidFill>
            <a:srgbClr val="C08D7C"/>
          </a:solidFill>
          <a:ln w="12700">
            <a:solidFill>
              <a:srgbClr val="C08D7C"/>
            </a:solidFill>
            <a:prstDash val="solid"/>
          </a:ln>
        </p:spPr>
      </p:sp>
      <p:sp>
        <p:nvSpPr>
          <p:cNvPr id="37" name="Shape 35"/>
          <p:cNvSpPr/>
          <p:nvPr/>
        </p:nvSpPr>
        <p:spPr>
          <a:xfrm>
            <a:off x="6416650" y="1632564"/>
            <a:ext cx="153721" cy="936754"/>
          </a:xfrm>
          <a:prstGeom prst="rect">
            <a:avLst/>
          </a:prstGeom>
          <a:solidFill>
            <a:srgbClr val="C08D7C"/>
          </a:solidFill>
          <a:ln w="12700">
            <a:solidFill>
              <a:srgbClr val="C08D7C"/>
            </a:solidFill>
            <a:prstDash val="solid"/>
          </a:ln>
        </p:spPr>
      </p:sp>
      <p:sp>
        <p:nvSpPr>
          <p:cNvPr id="38" name="Shape 36"/>
          <p:cNvSpPr/>
          <p:nvPr/>
        </p:nvSpPr>
        <p:spPr>
          <a:xfrm>
            <a:off x="6642710" y="1612630"/>
            <a:ext cx="153721" cy="956689"/>
          </a:xfrm>
          <a:prstGeom prst="rect">
            <a:avLst/>
          </a:prstGeom>
          <a:solidFill>
            <a:srgbClr val="C08D7C"/>
          </a:solidFill>
          <a:ln w="12700">
            <a:solidFill>
              <a:srgbClr val="C08D7C"/>
            </a:solidFill>
            <a:prstDash val="solid"/>
          </a:ln>
        </p:spPr>
      </p:sp>
      <p:sp>
        <p:nvSpPr>
          <p:cNvPr id="39" name="Shape 37"/>
          <p:cNvSpPr/>
          <p:nvPr/>
        </p:nvSpPr>
        <p:spPr>
          <a:xfrm>
            <a:off x="6868770" y="1602662"/>
            <a:ext cx="153721" cy="966656"/>
          </a:xfrm>
          <a:prstGeom prst="rect">
            <a:avLst/>
          </a:prstGeom>
          <a:solidFill>
            <a:srgbClr val="C08D7C"/>
          </a:solidFill>
          <a:ln w="12700">
            <a:solidFill>
              <a:srgbClr val="C08D7C"/>
            </a:solidFill>
            <a:prstDash val="solid"/>
          </a:ln>
        </p:spPr>
      </p:sp>
      <p:sp>
        <p:nvSpPr>
          <p:cNvPr id="40" name="Shape 38"/>
          <p:cNvSpPr/>
          <p:nvPr/>
        </p:nvSpPr>
        <p:spPr>
          <a:xfrm>
            <a:off x="7094830" y="1592703"/>
            <a:ext cx="153721" cy="976616"/>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2735"/>
            <a:ext cx="153721" cy="986583"/>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996551"/>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996551"/>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996551"/>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996551"/>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996551"/>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$127,376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$-176,501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-$1,037,517 at month 13, against a $1,395,000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$650,807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-$149,021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$483,026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(6,700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-$36,850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-$37,300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compliance and accreditation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-$355,650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$127,376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$-0.09M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$468,581</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$347,779</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$-7,871</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-0.15x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$1.53M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$650,807</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$483,026</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$127,376</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2.50x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$3.15M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$833,032</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$618,273</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$262,623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5.16x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$2.0M private against a $3.55M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$5.55M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36%</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$3,550,000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6,700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2.50x.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$5.55M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$1,037,517 at month 13, not to a round number.</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clinic and club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buildout (900 SF @ $320/SF, OR-grade HVAC and finishes)</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$288,000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gas, emergency power, life-safety branch for the suite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capital equipment (balance leased)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$182,000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 transfer agreement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Accreditation: Quad A survey, policies, QA/PI program, staff training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$1,395,000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$5,550,000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$2,000,000  (36%)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$28,104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$50,857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$1,395,000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-$1,308,352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$252,936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-5.17x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$979,922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$473,766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2.07x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$1,487,751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$610,284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2.44x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$1,528,512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$610,288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2.50x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2.50x at 9.5%   ·   2.41x at 10.5%   ·   2.33x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$1,395,000 reserve inside use of funds is sized against a modeled cash trough of $1,037,517 at month 13.</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2.07x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2.50x at 9.5%, 2.41x at 10.5%, 2.33x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Surgeon (plastic or facial plastic) · Principal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Operative cases, patient selection, surgical QA. Bills professional fees directly, not facility payroll.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Tech, Circulator and Monitoring RN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 setup, sterile field, sedation monitoring, PACU, instrument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170432"/>
          <a:ext cx="8138160" cy="914400"/>
        </p:xfrm>
        <a:graphic>
          <a:graphicData uri="http://schemas.openxmlformats.org/drawingml/2006/table">
            <a:tbl>
              <a:tblPr/>
              <a:tblGrid>
                <a:gridCol w="2743200"/>
                <a:gridCol w="5394960"/>
              </a:tblGrid>
              <a:tr h="27432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Risk</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Mitigation</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Membership fills slower than modeled.</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 redeem more than their fees cover.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key clinical seat turns over during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An adverse surgical event, or an accreditation lapse.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sedation ceiling and two-hour recovery cap exclude every general-anesthesia procedure and its acuity. Patient-selection criteria, a written transfer agreement with a nearby acute-care facility, and a standing QA program sit behind that.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Operating room utilization comes in below plan.</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facility bills for the room, not for a particular surgeon, so this is not one person’s key-person exposure — further credentialed principals can be added without changing the model. Facility fees are roughly a tenth of revenue and the OR runs at 61% of practical capacity, so coverage holds above 1.25x on the wellness business alone.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Rates move against us before close.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national brand opens nearby.</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Wet-area construction overruns.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Surgical · $2.0M private case  ·  $5.55M project  ·  6,700 SF  ·  2.50x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 rent — turns out to be wrong.</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$355,650 a month. Rent is 6,700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chambers (2 units)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6500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(2 units)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and surgical equipment financed (~$900,000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19800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$37,300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Recruiting, training, miscellaneous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Ammortal is financed as a single facility covering both chambers: $320,000 of equipment, $32,000 down, $6,500 a month. Aescape cannot be purchased — it is $5,500 a month per unit, plus $10 for every completed massage, which is a variable cost and sits in cost of goods on that service line rather than here.</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 $165,000/month.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club runs 14 hours a day, 7 days a week — 98 hours — so one continuously staffed post is 2.45 FTE, not 1. All figures are fully loaded: base plus payroll tax, workers compensation and benefits.</a:t>
            </a:r>
            <a:endParaRPr lang="en-US" sz="11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Founder &amp; Operator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$14,500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Nurses — IV, regenerative, recovery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assistants / technicians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General Manager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$11,875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hosts / floor attendants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$11,250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Membership &amp; events coordinator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Facilities / housekeeping</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Surgical Technologist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Circulator RN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Monitoring RN — sedation and PACU</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Sterile processing technician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and surgical staff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Accredited OR facility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raised umbrella limits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$26,000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 OR HVAC)</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 and surgical records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COMPLIANCE AND ACCREDITATION</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licenses and DEA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Compliance and policy management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Continuing education and training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Biohazard and sharps disposal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Quad A accreditation maintenance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QA / PI programme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$167,781 a month against $650,807 of revenue, a blended 74.2% margin.</a:t>
            </a:r>
            <a:endParaRPr lang="en-US" sz="11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72–78%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 kits and centrifuge consumables, IV bags, vitamins and NAD+, peptides and pharmacy cost, tubing and sharps.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laser tips and consumables, RF and cryo applicators, topicals. The lowest wellness margins because product cost dominates.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62–70%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 towels, laundry, water and amenities —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chambers (2 units, $160,000 each),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(2 units),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(5,800 SF clinic and…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suite buildout (900 SF @ $320/SF, OR-grade…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$288,000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900 SF × $320/SF for OR-grade construction.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emergency power, life-safety branch for…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plus emergency power and life-safety branch for the suite.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 waterproofing…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capital equipment (balance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surgical package; the balance is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chambers are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Accreditation: Quad A survey, policies, QA/PI…</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Quad A survey fees, policy and procedure development, QA/PI programme, staff training.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$1,395,000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$5,550,000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$36,850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$127,376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$1,528,512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$124,026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$1,488,312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2.44x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$43,550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$120,676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$1,448,112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$46,900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$117,326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$1,407,912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35</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2026-08-12T10:01:02Z</dcterms:created>
  <dcterms:modified xsi:type="dcterms:W3CDTF">2026-08-12T10:01:02Z</dcterms:modified>
</cp:coreProperties>
</file>