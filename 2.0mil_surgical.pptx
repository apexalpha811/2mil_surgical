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5,825 SF   ·   Est. 2026   ·   Surgical · $2.0M private case, $5.3M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24 of 30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Services on the L&amp;K menu that require a physician, nurse practitioner or nurse. A recovery studio without a physician can offer 6.</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Others proved the format. Only a licensed facility can deliver it.</a:t>
            </a:r>
            <a:endParaRPr lang="en-US" sz="2600" dirty="0"/>
          </a:p>
        </p:txBody>
      </p:sp>
      <p:sp>
        <p:nvSpPr>
          <p:cNvPr id="4" name="Shape 2"/>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5" name="Text 3"/>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6" name="Text 4"/>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Where a non-medical operator stops. No physician on site means no PRP, no IV therapy, no neuromodulators, no filler, no laser. Not features they skipped: the other side of a licensing threshold.</a:t>
            </a:r>
            <a:endParaRPr lang="en-US" sz="900" dirty="0"/>
          </a:p>
        </p:txBody>
      </p:sp>
      <p:sp>
        <p:nvSpPr>
          <p:cNvPr id="7" name="Shape 5"/>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8" name="Text 6"/>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9" name="Text 7"/>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Where the ladder was proven. Soho Friends is a published annual tier buying discounts and event invitations but no club access. What they lack is medicine.</a:t>
            </a:r>
            <a:endParaRPr lang="en-US" sz="900" dirty="0"/>
          </a:p>
        </p:txBody>
      </p:sp>
      <p:sp>
        <p:nvSpPr>
          <p:cNvPr id="10" name="Shape 8"/>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1" name="Text 9"/>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DIFFERENCE</a:t>
            </a:r>
            <a:endParaRPr lang="en-US" sz="850" dirty="0"/>
          </a:p>
        </p:txBody>
      </p:sp>
      <p:sp>
        <p:nvSpPr>
          <p:cNvPr id="12" name="Text 10"/>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L&amp;K is not a practice built around a doctor. It is the facility a doctor needs.</a:t>
            </a:r>
            <a:endParaRPr lang="en-US" sz="1450" dirty="0"/>
          </a:p>
        </p:txBody>
      </p:sp>
      <p:sp>
        <p:nvSpPr>
          <p:cNvPr id="13" name="Text 11"/>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The rooms, the diagnostics, the infusion suite, the operating suite, the staff and the accreditation, already standing. Physicians practice here. Investors own the building they practice in, which is why the surgical lines bill a facility fee while the surgeon bills their own patients directly.</a:t>
            </a:r>
            <a:endParaRPr lang="en-US" sz="10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463040"/>
          </a:xfrm>
          <a:prstGeom prst="roundRect">
            <a:avLst>
              <a:gd name="adj" fmla="val 3750"/>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310128"/>
            <a:ext cx="7735824"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39312"/>
            <a:ext cx="7735824" cy="731520"/>
          </a:xfrm>
          <a:prstGeom prst="rect">
            <a:avLst/>
          </a:prstGeom>
          <a:noFill/>
          <a:ln/>
        </p:spPr>
        <p:txBody>
          <a:bodyPr wrap="square" rtlCol="0" anchor="ctr"/>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Compression Therapy  ·  PRP: Hair &amp; Scalp  ·  PRP: Face &amp; Aesthetic  ·  PRP: Scar &amp; Skin Repair  ·  PRP: Soft Tissue  ·  PRP: Joint &amp; Cartilage  ·  PRP: Post-procedure  ·  Basic Hydration  ·  Myers Cocktail  ·  Recovery / Hangover  ·  Immunity / High-Dose C  ·  Beauty / Glutathione  ·  Athletic Performance  ·  NAD+ 100mg  ·  NAD+ 250mg  ·  NAD+ 500mg  ·  IM Shot: B12 / Lipo  ·  Therapeutic medications  ·  Botox (15-unit minimum)  ·  Filler (0.5 ml)  ·  RF Microneedling  ·  Laser Platform  ·  Advanced Biometrics  ·  DNA Analysis  ·  DUTCH Plus Test  ·  DEXA Scan  ·  Blepharoplasty (facility fee)  ·  Facial Contouring Surgery (facility fee)  ·  Awake Liposuction &amp; Body Contouring (facility fee)  ·  Fat Grafting &amp; Transfer (facility fee)  ·  Hair Restoration Surgery  ·  Office Surgical Procedures  ·  Ablative Laser &amp; Skin Tightening</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SURGERY SUITE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accredited operating room, inside the clinic.</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900 SF office-based surgery suite planned to the published iOR Partners specification, accredited by Quad A. It sits in the clinic layer, so anyone can book it, surgery is never a membership benefit. L&amp;K bills a facility fee; the operating surgeon is a principal who bills their professional fee directly.</a:t>
            </a:r>
            <a:endParaRPr lang="en-US" sz="1150" dirty="0"/>
          </a:p>
        </p:txBody>
      </p:sp>
      <p:sp>
        <p:nvSpPr>
          <p:cNvPr id="5" name="Shape 3"/>
          <p:cNvSpPr/>
          <p:nvPr/>
        </p:nvSpPr>
        <p:spPr>
          <a:xfrm>
            <a:off x="502920" y="1645920"/>
            <a:ext cx="8138160" cy="841248"/>
          </a:xfrm>
          <a:prstGeom prst="roundRect">
            <a:avLst>
              <a:gd name="adj" fmla="val 6522"/>
            </a:avLst>
          </a:prstGeom>
          <a:solidFill>
            <a:srgbClr val="241C1A"/>
          </a:solidFill>
          <a:ln w="15875">
            <a:solidFill>
              <a:srgbClr val="C08D7C"/>
            </a:solidFill>
            <a:prstDash val="solid"/>
          </a:ln>
        </p:spPr>
      </p:sp>
      <p:sp>
        <p:nvSpPr>
          <p:cNvPr id="6" name="Text 4"/>
          <p:cNvSpPr/>
          <p:nvPr/>
        </p:nvSpPr>
        <p:spPr>
          <a:xfrm>
            <a:off x="704088" y="1737360"/>
            <a:ext cx="7735824" cy="256032"/>
          </a:xfrm>
          <a:prstGeom prst="rect">
            <a:avLst/>
          </a:prstGeom>
          <a:noFill/>
          <a:ln/>
        </p:spPr>
        <p:txBody>
          <a:bodyPr wrap="square" rtlCol="0" anchor="ctr"/>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Moderate sedation. Under two hours of recovery. Nothing above that line.</a:t>
            </a:r>
            <a:endParaRPr lang="en-US" sz="1300" dirty="0"/>
          </a:p>
        </p:txBody>
      </p:sp>
      <p:sp>
        <p:nvSpPr>
          <p:cNvPr id="7" name="Text 5"/>
          <p:cNvSpPr/>
          <p:nvPr/>
        </p:nvSpPr>
        <p:spPr>
          <a:xfrm>
            <a:off x="704088" y="2011680"/>
            <a:ext cx="7735824" cy="420624"/>
          </a:xfrm>
          <a:prstGeom prst="rect">
            <a:avLst/>
          </a:prstGeom>
          <a:noFill/>
          <a:ln/>
        </p:spPr>
        <p:txBody>
          <a:bodyPr wrap="square" rtlCol="0" anchor="ctr"/>
          <a:lstStyle/>
          <a:p>
            <a:pPr indent="0" marL="0">
              <a:lnSpc>
                <a:spcPct val="112000"/>
              </a:lnSpc>
              <a:buNone/>
            </a:pPr>
            <a:r>
              <a:rPr lang="en-US" sz="900" dirty="0">
                <a:solidFill>
                  <a:srgbClr val="A8A296"/>
                </a:solidFill>
                <a:latin typeface="Calibri" pitchFamily="34" charset="0"/>
                <a:ea typeface="Calibri" pitchFamily="34" charset="-122"/>
                <a:cs typeface="Calibri" pitchFamily="34" charset="-120"/>
              </a:rPr>
              <a:t>A design decision, not a limitation. It is why there is no anesthesiologist on payroll, no anesthesia machine in the budget, and only three PACU bays. California requires accreditation only when protective reflexes may be lost; moderate sedation preserves them, so this suite sits below the trigger. We accredit anyway.</a:t>
            </a:r>
            <a:endParaRPr lang="en-US" sz="900" dirty="0"/>
          </a:p>
        </p:txBody>
      </p:sp>
      <p:sp>
        <p:nvSpPr>
          <p:cNvPr id="8" name="Shape 6"/>
          <p:cNvSpPr/>
          <p:nvPr/>
        </p:nvSpPr>
        <p:spPr>
          <a:xfrm>
            <a:off x="502920" y="2578608"/>
            <a:ext cx="3986784" cy="1901952"/>
          </a:xfrm>
          <a:prstGeom prst="roundRect">
            <a:avLst>
              <a:gd name="adj" fmla="val 2885"/>
            </a:avLst>
          </a:prstGeom>
          <a:solidFill>
            <a:srgbClr val="16241C"/>
          </a:solidFill>
          <a:ln w="12700">
            <a:solidFill>
              <a:srgbClr val="2E4237"/>
            </a:solidFill>
            <a:prstDash val="solid"/>
          </a:ln>
        </p:spPr>
      </p:sp>
      <p:sp>
        <p:nvSpPr>
          <p:cNvPr id="9" name="Text 7"/>
          <p:cNvSpPr/>
          <p:nvPr/>
        </p:nvSpPr>
        <p:spPr>
          <a:xfrm>
            <a:off x="649224"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OPERATING ROOM</a:t>
            </a:r>
            <a:endParaRPr lang="en-US" sz="750" dirty="0"/>
          </a:p>
        </p:txBody>
      </p:sp>
      <p:sp>
        <p:nvSpPr>
          <p:cNvPr id="10" name="Text 8"/>
          <p:cNvSpPr/>
          <p:nvPr/>
        </p:nvSpPr>
        <p:spPr>
          <a:xfrm>
            <a:off x="649224"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Blepharoplasty, upper, lower and combined</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Brow lift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Otoplasty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Chin augmentation and implant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Buccal fat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Facial fat grafting and transfer</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Liposuction, single or limited area, awake tumescent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Submental neck contouring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Limited body-contouring revision</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Scar revision, facial and body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Nasal valve procedures sold as elective self-pay</a:t>
            </a:r>
            <a:endParaRPr lang="en-US" sz="700" dirty="0"/>
          </a:p>
        </p:txBody>
      </p:sp>
      <p:sp>
        <p:nvSpPr>
          <p:cNvPr id="11" name="Shape 9"/>
          <p:cNvSpPr/>
          <p:nvPr/>
        </p:nvSpPr>
        <p:spPr>
          <a:xfrm>
            <a:off x="4654296" y="2578608"/>
            <a:ext cx="3986784" cy="1901952"/>
          </a:xfrm>
          <a:prstGeom prst="roundRect">
            <a:avLst>
              <a:gd name="adj" fmla="val 2885"/>
            </a:avLst>
          </a:prstGeom>
          <a:solidFill>
            <a:srgbClr val="16241C"/>
          </a:solidFill>
          <a:ln w="12700">
            <a:solidFill>
              <a:srgbClr val="2E4237"/>
            </a:solidFill>
            <a:prstDash val="solid"/>
          </a:ln>
        </p:spPr>
      </p:sp>
      <p:sp>
        <p:nvSpPr>
          <p:cNvPr id="12" name="Text 10"/>
          <p:cNvSpPr/>
          <p:nvPr/>
        </p:nvSpPr>
        <p:spPr>
          <a:xfrm>
            <a:off x="4800600"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TREATMENT ROOMS, UNDER LOCAL</a:t>
            </a:r>
            <a:endParaRPr lang="en-US" sz="750" dirty="0"/>
          </a:p>
        </p:txBody>
      </p:sp>
      <p:sp>
        <p:nvSpPr>
          <p:cNvPr id="13" name="Text 11"/>
          <p:cNvSpPr/>
          <p:nvPr/>
        </p:nvSpPr>
        <p:spPr>
          <a:xfrm>
            <a:off x="4800600"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Lipoma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Cyst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Benign lesion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Ablative laser resurfacing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Skin tightening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Hair restoration surgery and transplant</a:t>
            </a:r>
            <a:endParaRPr lang="en-US" sz="7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list price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275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900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350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Therapeutic medications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40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5,825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room (seated)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 light beds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imaging (GE iDXA densitometer)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Operating 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Pre-op and PACU (3 monitored bays)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Sterile processing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Sterile supply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Soiled utility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Surgical suite circulation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 bathrooms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Admin offices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Kitchen and breakroom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Storage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Biohazard and linen closets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Circulation and grossing factor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5,825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8"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Stations and equipment.</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What sits in the 5,825 square feet, and how it is paid for.</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3931920" cy="914400"/>
        </p:xfrm>
        <a:graphic>
          <a:graphicData uri="http://schemas.openxmlformats.org/drawingml/2006/table">
            <a:tbl>
              <a:tblPr/>
              <a:tblGrid>
                <a:gridCol w="301752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754880" y="1645920"/>
          <a:ext cx="3520440" cy="914400"/>
        </p:xfrm>
        <a:graphic>
          <a:graphicData uri="http://schemas.openxmlformats.org/drawingml/2006/table">
            <a:tbl>
              <a:tblPr/>
              <a:tblGrid>
                <a:gridCol w="260604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Redlight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DEXA scan 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7" name="Shape 3"/>
          <p:cNvSpPr/>
          <p:nvPr/>
        </p:nvSpPr>
        <p:spPr>
          <a:xfrm>
            <a:off x="502920" y="3456432"/>
            <a:ext cx="8138160" cy="1024128"/>
          </a:xfrm>
          <a:prstGeom prst="roundRect">
            <a:avLst>
              <a:gd name="adj" fmla="val 5357"/>
            </a:avLst>
          </a:prstGeom>
          <a:solidFill>
            <a:srgbClr val="16241C"/>
          </a:solidFill>
          <a:ln w="12700">
            <a:solidFill>
              <a:srgbClr val="2E4237"/>
            </a:solidFill>
            <a:prstDash val="solid"/>
          </a:ln>
        </p:spPr>
      </p:sp>
      <p:sp>
        <p:nvSpPr>
          <p:cNvPr id="8" name="Text 4"/>
          <p:cNvSpPr/>
          <p:nvPr/>
        </p:nvSpPr>
        <p:spPr>
          <a:xfrm>
            <a:off x="649224" y="3566160"/>
            <a:ext cx="7845552" cy="182880"/>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EQUIPMENT STRATEGY</a:t>
            </a:r>
            <a:endParaRPr lang="en-US" sz="750" dirty="0"/>
          </a:p>
        </p:txBody>
      </p:sp>
      <p:sp>
        <p:nvSpPr>
          <p:cNvPr id="9" name="Text 5"/>
          <p:cNvSpPr/>
          <p:nvPr/>
        </p:nvSpPr>
        <p:spPr>
          <a:xfrm>
            <a:off x="649224" y="3767328"/>
            <a:ext cx="7845552" cy="640080"/>
          </a:xfrm>
          <a:prstGeom prst="rect">
            <a:avLst/>
          </a:prstGeom>
          <a:noFill/>
          <a:ln/>
        </p:spPr>
        <p:txBody>
          <a:bodyPr wrap="square" rtlCol="0" anchor="t"/>
          <a:lstStyle/>
          <a:p>
            <a:pPr indent="0" marL="0">
              <a:lnSpc>
                <a:spcPct val="120000"/>
              </a:lnSpc>
              <a:buNone/>
            </a:pPr>
            <a:r>
              <a:rPr lang="en-US" sz="900" dirty="0">
                <a:solidFill>
                  <a:srgbClr val="A8A296"/>
                </a:solidFill>
                <a:latin typeface="Calibri" pitchFamily="34" charset="0"/>
                <a:ea typeface="Calibri" pitchFamily="34" charset="-122"/>
                <a:cs typeface="Calibri" pitchFamily="34" charset="-120"/>
              </a:rPr>
              <a:t>Purchased where payback justifies it, surgical equipment part leased. Wet areas drive cost, plunges, saunas and steam carry a materially higher per-SF buildout than a dry medspa, which is why the lean case trims the contrast suite before it trims treatment rooms.</a:t>
            </a:r>
            <a:endParaRPr lang="en-US" sz="90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building can serve the memberships being sold.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2602992"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3270504" y="2240280"/>
            <a:ext cx="2602992"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3416808"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87%</a:t>
            </a:r>
            <a:endParaRPr lang="en-US" sz="2000" dirty="0"/>
          </a:p>
        </p:txBody>
      </p:sp>
      <p:sp>
        <p:nvSpPr>
          <p:cNvPr id="10" name="Text 8"/>
          <p:cNvSpPr/>
          <p:nvPr/>
        </p:nvSpPr>
        <p:spPr>
          <a:xfrm>
            <a:off x="3416808"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439 procedures against 507 practical capacity, leaving 68 slots of headroom.</a:t>
            </a:r>
            <a:endParaRPr lang="en-US" sz="900" dirty="0"/>
          </a:p>
        </p:txBody>
      </p:sp>
      <p:sp>
        <p:nvSpPr>
          <p:cNvPr id="11" name="Shape 9"/>
          <p:cNvSpPr/>
          <p:nvPr/>
        </p:nvSpPr>
        <p:spPr>
          <a:xfrm>
            <a:off x="6038088" y="2240280"/>
            <a:ext cx="2602992" cy="1554480"/>
          </a:xfrm>
          <a:prstGeom prst="roundRect">
            <a:avLst>
              <a:gd name="adj" fmla="val 3529"/>
            </a:avLst>
          </a:prstGeom>
          <a:solidFill>
            <a:srgbClr val="241C1A"/>
          </a:solidFill>
          <a:ln w="12700">
            <a:solidFill>
              <a:srgbClr val="C08D7C"/>
            </a:solidFill>
            <a:prstDash val="solid"/>
          </a:ln>
        </p:spPr>
      </p:sp>
      <p:sp>
        <p:nvSpPr>
          <p:cNvPr id="12" name="Text 10"/>
          <p:cNvSpPr/>
          <p:nvPr/>
        </p:nvSpPr>
        <p:spPr>
          <a:xfrm>
            <a:off x="6184392"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61%</a:t>
            </a:r>
            <a:endParaRPr lang="en-US" sz="2000" dirty="0"/>
          </a:p>
        </p:txBody>
      </p:sp>
      <p:sp>
        <p:nvSpPr>
          <p:cNvPr id="13" name="Text 11"/>
          <p:cNvSpPr/>
          <p:nvPr/>
        </p:nvSpPr>
        <p:spPr>
          <a:xfrm>
            <a:off x="6184392"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Operating room utilization. 22 cases needing 38.5 hours against 63 practical hours across nine block days, leaving 24.5 hours of headroom.</a:t>
            </a:r>
            <a:endParaRPr lang="en-US" sz="900" dirty="0"/>
          </a:p>
        </p:txBody>
      </p:sp>
      <p:sp>
        <p:nvSpPr>
          <p:cNvPr id="14" name="Text 12"/>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Silicon Beach, at its densest.</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Playa Vista is a master-planned innovation district on the old Hughes Aircraft site, and it has become the centre of gravity for the Westside’s technology, media, advertising and creator economy. Google, YouTube and Meta campuses sit within a walk of one another. LAX is four miles south, the studios fifteen minutes north, and the district was designed to be walked rather than driven.</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market.  (US Census Bureau, via Point2Homes)</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4" name="Text 12"/>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5" name="Text 13"/>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30 wellness lines, every one cash-pay (1 of 2).</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Prices are exact, not banded.</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$11,480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$13,776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$31,980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$10,125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$8,303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Hair &amp; Scalp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$32,835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$23,641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Face &amp; Aesthetic</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$16,660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Scar &amp; Skin Repair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$3,900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Soft Tissue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Joint &amp; Cartilage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Post-procedure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Basic Hydration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$7,029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$4,780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Myers Cocktail</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$3,789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 Hangover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$8,466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Immunity / High-Dose C</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$4,407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Subtotal, continued overleaf</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1,552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$247,496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$176,665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30 wellness lines, every one cash-pay (2 of 2).</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Beauty / Glutathione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$9,405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$6,207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Athletic Performance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$6,474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NAD+ 100mg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$5,347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NAD+ 250mg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$8,778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NAD+ 500mg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$14,157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IM Shot: B12 / Lipo</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$5,510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Therapeutic medications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(15-unit minimum)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$13,440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Filler (0.5 ml)</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$47,600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$30,940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$17,850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Plus Test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$6,949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list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672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$259,625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$183,654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 surgical lines, also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Elective self-pay only. No payer contracts on the surgical side either, which is the direct result of holding the menu to the sedation ceiling.</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Blepharoplasty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$15,680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Facial Contouring Surgery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Awake Liposuction &amp; Body Contouring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$17,784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Fat Grafting &amp; Transfer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$8,960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Hair Restoration 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Office Surgical Procedures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$26,400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$20,064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Ablative Laser &amp; Skin Tightening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$21,250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$15,513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Surgical delivery at list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$145,250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$111,401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3310128"/>
            <a:ext cx="8138160" cy="868680"/>
          </a:xfrm>
          <a:prstGeom prst="rect">
            <a:avLst/>
          </a:prstGeom>
          <a:noFill/>
          <a:ln/>
        </p:spPr>
        <p:txBody>
          <a:bodyPr wrap="square" rtlCol="0" anchor="ctr"/>
          <a:lstStyle/>
          <a:p>
            <a:pPr indent="0" marL="0">
              <a:lnSpc>
                <a:spcPct val="118000"/>
              </a:lnSpc>
              <a:buNone/>
            </a:pPr>
            <a:r>
              <a:rPr lang="en-US" sz="850" b="1" dirty="0">
                <a:solidFill>
                  <a:srgbClr val="C08D7C"/>
                </a:solidFill>
                <a:latin typeface="Calibri" pitchFamily="34" charset="0"/>
                <a:ea typeface="Calibri" pitchFamily="34" charset="-122"/>
                <a:cs typeface="Calibri" pitchFamily="34" charset="-120"/>
              </a:rPr>
              <a:t>The four operating-room lines are FACILITY FEES. </a:t>
            </a:r>
            <a:pPr indent="0" marL="0">
              <a:lnSpc>
                <a:spcPct val="118000"/>
              </a:lnSpc>
              <a:buNone/>
            </a:pPr>
            <a:r>
              <a:rPr lang="en-US" sz="850" dirty="0">
                <a:solidFill>
                  <a:srgbClr val="6E6A62"/>
                </a:solidFill>
                <a:latin typeface="Calibri" pitchFamily="34" charset="0"/>
                <a:ea typeface="Calibri" pitchFamily="34" charset="-122"/>
                <a:cs typeface="Calibri" pitchFamily="34" charset="-120"/>
              </a:rPr>
              <a:t>They are what L&amp;K collects for the room, clinical staff, supplies, sedation monitoring and recovery. The surgeon is a principal who bills the patient directly for their professional fee, which never appears on these books, so the all-in price a patient pays is materially higher than the figures above. That is also why OR margins exceed the treatment-room lines: with no surgeon share to pay, facility cost of goods is disposables, implants, drugs and linens only. Across 38.5 OR hours a month the schedule works out to about $1,756 per operating-room hour. Hair restoration, ablative laser and office excisions bill the full fee, because the clinic’s own clinicians perform them in treatment rooms it already has.</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list price, so redemption is netted out first.</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list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$652,371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-$41,830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$481,041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$731,666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12.</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2861726"/>
            <a:ext cx="8138160" cy="10973"/>
          </a:xfrm>
          <a:prstGeom prst="rect">
            <a:avLst/>
          </a:prstGeom>
          <a:solidFill>
            <a:srgbClr val="2E4237"/>
          </a:solidFill>
          <a:ln w="12700">
            <a:solidFill>
              <a:srgbClr val="2E4237"/>
            </a:solidFill>
            <a:prstDash val="solid"/>
          </a:ln>
        </p:spPr>
      </p:sp>
      <p:sp>
        <p:nvSpPr>
          <p:cNvPr id="7" name="Shape 5"/>
          <p:cNvSpPr/>
          <p:nvPr/>
        </p:nvSpPr>
        <p:spPr>
          <a:xfrm>
            <a:off x="539090" y="2861726"/>
            <a:ext cx="153721" cy="815703"/>
          </a:xfrm>
          <a:prstGeom prst="rect">
            <a:avLst/>
          </a:prstGeom>
          <a:solidFill>
            <a:srgbClr val="2E4237"/>
          </a:solidFill>
          <a:ln w="12700">
            <a:solidFill>
              <a:srgbClr val="2E4237"/>
            </a:solidFill>
            <a:prstDash val="solid"/>
          </a:ln>
        </p:spPr>
      </p:sp>
      <p:sp>
        <p:nvSpPr>
          <p:cNvPr id="8" name="Shape 6"/>
          <p:cNvSpPr/>
          <p:nvPr/>
        </p:nvSpPr>
        <p:spPr>
          <a:xfrm>
            <a:off x="765150" y="2861726"/>
            <a:ext cx="153721" cy="815703"/>
          </a:xfrm>
          <a:prstGeom prst="rect">
            <a:avLst/>
          </a:prstGeom>
          <a:solidFill>
            <a:srgbClr val="2E4237"/>
          </a:solidFill>
          <a:ln w="12700">
            <a:solidFill>
              <a:srgbClr val="2E4237"/>
            </a:solidFill>
            <a:prstDash val="solid"/>
          </a:ln>
        </p:spPr>
      </p:sp>
      <p:sp>
        <p:nvSpPr>
          <p:cNvPr id="9" name="Shape 7"/>
          <p:cNvSpPr/>
          <p:nvPr/>
        </p:nvSpPr>
        <p:spPr>
          <a:xfrm>
            <a:off x="991210" y="2861726"/>
            <a:ext cx="153721" cy="815703"/>
          </a:xfrm>
          <a:prstGeom prst="rect">
            <a:avLst/>
          </a:prstGeom>
          <a:solidFill>
            <a:srgbClr val="2E4237"/>
          </a:solidFill>
          <a:ln w="12700">
            <a:solidFill>
              <a:srgbClr val="2E4237"/>
            </a:solidFill>
            <a:prstDash val="solid"/>
          </a:ln>
        </p:spPr>
      </p:sp>
      <p:sp>
        <p:nvSpPr>
          <p:cNvPr id="10" name="Shape 8"/>
          <p:cNvSpPr/>
          <p:nvPr/>
        </p:nvSpPr>
        <p:spPr>
          <a:xfrm>
            <a:off x="1217270" y="2861726"/>
            <a:ext cx="153721" cy="815703"/>
          </a:xfrm>
          <a:prstGeom prst="rect">
            <a:avLst/>
          </a:prstGeom>
          <a:solidFill>
            <a:srgbClr val="2E4237"/>
          </a:solidFill>
          <a:ln w="12700">
            <a:solidFill>
              <a:srgbClr val="2E4237"/>
            </a:solidFill>
            <a:prstDash val="solid"/>
          </a:ln>
        </p:spPr>
      </p:sp>
      <p:sp>
        <p:nvSpPr>
          <p:cNvPr id="11" name="Shape 9"/>
          <p:cNvSpPr/>
          <p:nvPr/>
        </p:nvSpPr>
        <p:spPr>
          <a:xfrm>
            <a:off x="1443330" y="2861726"/>
            <a:ext cx="153721" cy="815703"/>
          </a:xfrm>
          <a:prstGeom prst="rect">
            <a:avLst/>
          </a:prstGeom>
          <a:solidFill>
            <a:srgbClr val="2E4237"/>
          </a:solidFill>
          <a:ln w="12700">
            <a:solidFill>
              <a:srgbClr val="2E4237"/>
            </a:solidFill>
            <a:prstDash val="solid"/>
          </a:ln>
        </p:spPr>
      </p:sp>
      <p:sp>
        <p:nvSpPr>
          <p:cNvPr id="12" name="Shape 10"/>
          <p:cNvSpPr/>
          <p:nvPr/>
        </p:nvSpPr>
        <p:spPr>
          <a:xfrm>
            <a:off x="1669390" y="2861726"/>
            <a:ext cx="153721" cy="815703"/>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2861726"/>
            <a:ext cx="153721" cy="1088482"/>
          </a:xfrm>
          <a:prstGeom prst="rect">
            <a:avLst/>
          </a:prstGeom>
          <a:solidFill>
            <a:srgbClr val="2E4237"/>
          </a:solidFill>
          <a:ln w="12700">
            <a:solidFill>
              <a:srgbClr val="2E4237"/>
            </a:solidFill>
            <a:prstDash val="solid"/>
          </a:ln>
        </p:spPr>
      </p:sp>
      <p:sp>
        <p:nvSpPr>
          <p:cNvPr id="15" name="Shape 13"/>
          <p:cNvSpPr/>
          <p:nvPr/>
        </p:nvSpPr>
        <p:spPr>
          <a:xfrm>
            <a:off x="2121510" y="2861726"/>
            <a:ext cx="153721" cy="835112"/>
          </a:xfrm>
          <a:prstGeom prst="rect">
            <a:avLst/>
          </a:prstGeom>
          <a:solidFill>
            <a:srgbClr val="2E4237"/>
          </a:solidFill>
          <a:ln w="12700">
            <a:solidFill>
              <a:srgbClr val="2E4237"/>
            </a:solidFill>
            <a:prstDash val="solid"/>
          </a:ln>
        </p:spPr>
      </p:sp>
      <p:sp>
        <p:nvSpPr>
          <p:cNvPr id="16" name="Shape 14"/>
          <p:cNvSpPr/>
          <p:nvPr/>
        </p:nvSpPr>
        <p:spPr>
          <a:xfrm>
            <a:off x="2347570" y="2861726"/>
            <a:ext cx="153721" cy="545550"/>
          </a:xfrm>
          <a:prstGeom prst="rect">
            <a:avLst/>
          </a:prstGeom>
          <a:solidFill>
            <a:srgbClr val="2E4237"/>
          </a:solidFill>
          <a:ln w="12700">
            <a:solidFill>
              <a:srgbClr val="2E4237"/>
            </a:solidFill>
            <a:prstDash val="solid"/>
          </a:ln>
        </p:spPr>
      </p:sp>
      <p:sp>
        <p:nvSpPr>
          <p:cNvPr id="17" name="Shape 15"/>
          <p:cNvSpPr/>
          <p:nvPr/>
        </p:nvSpPr>
        <p:spPr>
          <a:xfrm>
            <a:off x="2573630" y="2861726"/>
            <a:ext cx="153721" cy="328372"/>
          </a:xfrm>
          <a:prstGeom prst="rect">
            <a:avLst/>
          </a:prstGeom>
          <a:solidFill>
            <a:srgbClr val="2E4237"/>
          </a:solidFill>
          <a:ln w="12700">
            <a:solidFill>
              <a:srgbClr val="2E4237"/>
            </a:solidFill>
            <a:prstDash val="solid"/>
          </a:ln>
        </p:spPr>
      </p:sp>
      <p:sp>
        <p:nvSpPr>
          <p:cNvPr id="18" name="Shape 16"/>
          <p:cNvSpPr/>
          <p:nvPr/>
        </p:nvSpPr>
        <p:spPr>
          <a:xfrm>
            <a:off x="2799690" y="2861726"/>
            <a:ext cx="153721" cy="111200"/>
          </a:xfrm>
          <a:prstGeom prst="rect">
            <a:avLst/>
          </a:prstGeom>
          <a:solidFill>
            <a:srgbClr val="2E4237"/>
          </a:solidFill>
          <a:ln w="12700">
            <a:solidFill>
              <a:srgbClr val="2E4237"/>
            </a:solidFill>
            <a:prstDash val="solid"/>
          </a:ln>
        </p:spPr>
      </p:sp>
      <p:sp>
        <p:nvSpPr>
          <p:cNvPr id="19" name="Shape 17"/>
          <p:cNvSpPr/>
          <p:nvPr/>
        </p:nvSpPr>
        <p:spPr>
          <a:xfrm>
            <a:off x="3025750" y="2755755"/>
            <a:ext cx="153721" cy="105971"/>
          </a:xfrm>
          <a:prstGeom prst="rect">
            <a:avLst/>
          </a:prstGeom>
          <a:solidFill>
            <a:srgbClr val="C08D7C"/>
          </a:solidFill>
          <a:ln w="12700">
            <a:solidFill>
              <a:srgbClr val="C08D7C"/>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538584"/>
            <a:ext cx="153721" cy="323142"/>
          </a:xfrm>
          <a:prstGeom prst="rect">
            <a:avLst/>
          </a:prstGeom>
          <a:solidFill>
            <a:srgbClr val="C08D7C"/>
          </a:solidFill>
          <a:ln w="12700">
            <a:solidFill>
              <a:srgbClr val="C08D7C"/>
            </a:solidFill>
            <a:prstDash val="solid"/>
          </a:ln>
        </p:spPr>
      </p:sp>
      <p:sp>
        <p:nvSpPr>
          <p:cNvPr id="22" name="Shape 20"/>
          <p:cNvSpPr/>
          <p:nvPr/>
        </p:nvSpPr>
        <p:spPr>
          <a:xfrm>
            <a:off x="3477870" y="2393796"/>
            <a:ext cx="153721" cy="467930"/>
          </a:xfrm>
          <a:prstGeom prst="rect">
            <a:avLst/>
          </a:prstGeom>
          <a:solidFill>
            <a:srgbClr val="C08D7C"/>
          </a:solidFill>
          <a:ln w="12700">
            <a:solidFill>
              <a:srgbClr val="C08D7C"/>
            </a:solidFill>
            <a:prstDash val="solid"/>
          </a:ln>
        </p:spPr>
      </p:sp>
      <p:sp>
        <p:nvSpPr>
          <p:cNvPr id="23" name="Shape 21"/>
          <p:cNvSpPr/>
          <p:nvPr/>
        </p:nvSpPr>
        <p:spPr>
          <a:xfrm>
            <a:off x="3703930" y="2249015"/>
            <a:ext cx="153721" cy="612711"/>
          </a:xfrm>
          <a:prstGeom prst="rect">
            <a:avLst/>
          </a:prstGeom>
          <a:solidFill>
            <a:srgbClr val="C08D7C"/>
          </a:solidFill>
          <a:ln w="12700">
            <a:solidFill>
              <a:srgbClr val="C08D7C"/>
            </a:solidFill>
            <a:prstDash val="solid"/>
          </a:ln>
        </p:spPr>
      </p:sp>
      <p:sp>
        <p:nvSpPr>
          <p:cNvPr id="24" name="Shape 22"/>
          <p:cNvSpPr/>
          <p:nvPr/>
        </p:nvSpPr>
        <p:spPr>
          <a:xfrm>
            <a:off x="3929990" y="2104234"/>
            <a:ext cx="153721" cy="757492"/>
          </a:xfrm>
          <a:prstGeom prst="rect">
            <a:avLst/>
          </a:prstGeom>
          <a:solidFill>
            <a:srgbClr val="C08D7C"/>
          </a:solidFill>
          <a:ln w="12700">
            <a:solidFill>
              <a:srgbClr val="C08D7C"/>
            </a:solidFill>
            <a:prstDash val="solid"/>
          </a:ln>
        </p:spPr>
      </p:sp>
      <p:sp>
        <p:nvSpPr>
          <p:cNvPr id="25" name="Shape 23"/>
          <p:cNvSpPr/>
          <p:nvPr/>
        </p:nvSpPr>
        <p:spPr>
          <a:xfrm>
            <a:off x="4156050" y="1959453"/>
            <a:ext cx="153721" cy="902273"/>
          </a:xfrm>
          <a:prstGeom prst="rect">
            <a:avLst/>
          </a:prstGeom>
          <a:solidFill>
            <a:srgbClr val="C08D7C"/>
          </a:solidFill>
          <a:ln w="12700">
            <a:solidFill>
              <a:srgbClr val="C08D7C"/>
            </a:solidFill>
            <a:prstDash val="solid"/>
          </a:ln>
        </p:spPr>
      </p:sp>
      <p:sp>
        <p:nvSpPr>
          <p:cNvPr id="26" name="Shape 24"/>
          <p:cNvSpPr/>
          <p:nvPr/>
        </p:nvSpPr>
        <p:spPr>
          <a:xfrm>
            <a:off x="4382110" y="1920786"/>
            <a:ext cx="153721" cy="940940"/>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882119"/>
            <a:ext cx="153721" cy="979607"/>
          </a:xfrm>
          <a:prstGeom prst="rect">
            <a:avLst/>
          </a:prstGeom>
          <a:solidFill>
            <a:srgbClr val="C08D7C"/>
          </a:solidFill>
          <a:ln w="12700">
            <a:solidFill>
              <a:srgbClr val="C08D7C"/>
            </a:solidFill>
            <a:prstDash val="solid"/>
          </a:ln>
        </p:spPr>
      </p:sp>
      <p:sp>
        <p:nvSpPr>
          <p:cNvPr id="29" name="Shape 27"/>
          <p:cNvSpPr/>
          <p:nvPr/>
        </p:nvSpPr>
        <p:spPr>
          <a:xfrm>
            <a:off x="4834230" y="1843445"/>
            <a:ext cx="153721" cy="1018281"/>
          </a:xfrm>
          <a:prstGeom prst="rect">
            <a:avLst/>
          </a:prstGeom>
          <a:solidFill>
            <a:srgbClr val="C08D7C"/>
          </a:solidFill>
          <a:ln w="12700">
            <a:solidFill>
              <a:srgbClr val="C08D7C"/>
            </a:solidFill>
            <a:prstDash val="solid"/>
          </a:ln>
        </p:spPr>
      </p:sp>
      <p:sp>
        <p:nvSpPr>
          <p:cNvPr id="30" name="Shape 28"/>
          <p:cNvSpPr/>
          <p:nvPr/>
        </p:nvSpPr>
        <p:spPr>
          <a:xfrm>
            <a:off x="5060290" y="1804778"/>
            <a:ext cx="153721" cy="1056948"/>
          </a:xfrm>
          <a:prstGeom prst="rect">
            <a:avLst/>
          </a:prstGeom>
          <a:solidFill>
            <a:srgbClr val="C08D7C"/>
          </a:solidFill>
          <a:ln w="12700">
            <a:solidFill>
              <a:srgbClr val="C08D7C"/>
            </a:solidFill>
            <a:prstDash val="solid"/>
          </a:ln>
        </p:spPr>
      </p:sp>
      <p:sp>
        <p:nvSpPr>
          <p:cNvPr id="31" name="Shape 29"/>
          <p:cNvSpPr/>
          <p:nvPr/>
        </p:nvSpPr>
        <p:spPr>
          <a:xfrm>
            <a:off x="5286350" y="1766111"/>
            <a:ext cx="153721" cy="1095615"/>
          </a:xfrm>
          <a:prstGeom prst="rect">
            <a:avLst/>
          </a:prstGeom>
          <a:solidFill>
            <a:srgbClr val="C08D7C"/>
          </a:solidFill>
          <a:ln w="12700">
            <a:solidFill>
              <a:srgbClr val="C08D7C"/>
            </a:solidFill>
            <a:prstDash val="solid"/>
          </a:ln>
        </p:spPr>
      </p:sp>
      <p:sp>
        <p:nvSpPr>
          <p:cNvPr id="32" name="Shape 30"/>
          <p:cNvSpPr/>
          <p:nvPr/>
        </p:nvSpPr>
        <p:spPr>
          <a:xfrm>
            <a:off x="5512410" y="1740330"/>
            <a:ext cx="153721" cy="1121396"/>
          </a:xfrm>
          <a:prstGeom prst="rect">
            <a:avLst/>
          </a:prstGeom>
          <a:solidFill>
            <a:srgbClr val="C08D7C"/>
          </a:solidFill>
          <a:ln w="12700">
            <a:solidFill>
              <a:srgbClr val="C08D7C"/>
            </a:solidFill>
            <a:prstDash val="solid"/>
          </a:ln>
        </p:spPr>
      </p:sp>
      <p:sp>
        <p:nvSpPr>
          <p:cNvPr id="33" name="Shape 31"/>
          <p:cNvSpPr/>
          <p:nvPr/>
        </p:nvSpPr>
        <p:spPr>
          <a:xfrm>
            <a:off x="5738470" y="1714550"/>
            <a:ext cx="153721" cy="1147176"/>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688770"/>
            <a:ext cx="153721" cy="1172957"/>
          </a:xfrm>
          <a:prstGeom prst="rect">
            <a:avLst/>
          </a:prstGeom>
          <a:solidFill>
            <a:srgbClr val="C08D7C"/>
          </a:solidFill>
          <a:ln w="12700">
            <a:solidFill>
              <a:srgbClr val="C08D7C"/>
            </a:solidFill>
            <a:prstDash val="solid"/>
          </a:ln>
        </p:spPr>
      </p:sp>
      <p:sp>
        <p:nvSpPr>
          <p:cNvPr id="36" name="Shape 34"/>
          <p:cNvSpPr/>
          <p:nvPr/>
        </p:nvSpPr>
        <p:spPr>
          <a:xfrm>
            <a:off x="6190590" y="1662989"/>
            <a:ext cx="153721" cy="1198737"/>
          </a:xfrm>
          <a:prstGeom prst="rect">
            <a:avLst/>
          </a:prstGeom>
          <a:solidFill>
            <a:srgbClr val="C08D7C"/>
          </a:solidFill>
          <a:ln w="12700">
            <a:solidFill>
              <a:srgbClr val="C08D7C"/>
            </a:solidFill>
            <a:prstDash val="solid"/>
          </a:ln>
        </p:spPr>
      </p:sp>
      <p:sp>
        <p:nvSpPr>
          <p:cNvPr id="37" name="Shape 35"/>
          <p:cNvSpPr/>
          <p:nvPr/>
        </p:nvSpPr>
        <p:spPr>
          <a:xfrm>
            <a:off x="6416650" y="1650102"/>
            <a:ext cx="153721" cy="1211624"/>
          </a:xfrm>
          <a:prstGeom prst="rect">
            <a:avLst/>
          </a:prstGeom>
          <a:solidFill>
            <a:srgbClr val="C08D7C"/>
          </a:solidFill>
          <a:ln w="12700">
            <a:solidFill>
              <a:srgbClr val="C08D7C"/>
            </a:solidFill>
            <a:prstDash val="solid"/>
          </a:ln>
        </p:spPr>
      </p:sp>
      <p:sp>
        <p:nvSpPr>
          <p:cNvPr id="38" name="Shape 36"/>
          <p:cNvSpPr/>
          <p:nvPr/>
        </p:nvSpPr>
        <p:spPr>
          <a:xfrm>
            <a:off x="6642710" y="1624322"/>
            <a:ext cx="153721" cy="1237404"/>
          </a:xfrm>
          <a:prstGeom prst="rect">
            <a:avLst/>
          </a:prstGeom>
          <a:solidFill>
            <a:srgbClr val="C08D7C"/>
          </a:solidFill>
          <a:ln w="12700">
            <a:solidFill>
              <a:srgbClr val="C08D7C"/>
            </a:solidFill>
            <a:prstDash val="solid"/>
          </a:ln>
        </p:spPr>
      </p:sp>
      <p:sp>
        <p:nvSpPr>
          <p:cNvPr id="39" name="Shape 37"/>
          <p:cNvSpPr/>
          <p:nvPr/>
        </p:nvSpPr>
        <p:spPr>
          <a:xfrm>
            <a:off x="6868770" y="1611435"/>
            <a:ext cx="153721" cy="1250291"/>
          </a:xfrm>
          <a:prstGeom prst="rect">
            <a:avLst/>
          </a:prstGeom>
          <a:solidFill>
            <a:srgbClr val="C08D7C"/>
          </a:solidFill>
          <a:ln w="12700">
            <a:solidFill>
              <a:srgbClr val="C08D7C"/>
            </a:solidFill>
            <a:prstDash val="solid"/>
          </a:ln>
        </p:spPr>
      </p:sp>
      <p:sp>
        <p:nvSpPr>
          <p:cNvPr id="40" name="Shape 38"/>
          <p:cNvSpPr/>
          <p:nvPr/>
        </p:nvSpPr>
        <p:spPr>
          <a:xfrm>
            <a:off x="7094830" y="1598542"/>
            <a:ext cx="153721" cy="1263185"/>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85655"/>
            <a:ext cx="153721" cy="1276071"/>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1288958"/>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1288958"/>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1288958"/>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1288958"/>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1288958"/>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$189,541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$-160,061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-$826,964 at month 12, against a $1,354,800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$731,666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-$180,652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$532,254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(5,825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-$32,038</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-$29,175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compliance and accreditation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-$342,713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$189,541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we are wrong, 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$0.49M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$526,800</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$383,223</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$40,510</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0.86x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$2.27M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$731,666</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$532,254</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$189,541</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4.01x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$4.06M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$936,533</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$681,285</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$338,573</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7.16x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$2.0M private against a $3.3M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$5.3M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$2,000,000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38%</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$3,300,000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5,825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4.01x.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$5.3M goes.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$826,964 at month 12, not to a round number.</a:t>
            </a:r>
            <a:endParaRPr lang="en-US" sz="11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(4,925 SF clinic and club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$1,231,250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suite buildout (900 SF @ $320/SF, OR-grade HVAC and finishes)</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$288,000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gas, emergency power, life-safety branch for the suite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capital equipment (balance leased)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$165,950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GE iDXA bone densitometer,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 transfer agreement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Accreditation: Quad A survey, policies, QA/PI program, staff training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$1,354,800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$5,300,000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$5,300,000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$2,000,000  (38%)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$3,300,000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$26,125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$47,276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$1,354,800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977640" cy="914400"/>
        </p:xfrm>
        <a:graphic>
          <a:graphicData uri="http://schemas.openxmlformats.org/drawingml/2006/table">
            <a:tbl>
              <a:tblPr/>
              <a:tblGrid>
                <a:gridCol w="777240"/>
                <a:gridCol w="1234440"/>
                <a:gridCol w="118872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-$1,131,837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$235,128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-4.81x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$1,532,775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$440,406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3.48x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$2,213,843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$567,312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3.90x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$2,274,497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$567,310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4.01x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4.01x at 9.5%   ·   3.86x at 10.5%   ·   3.73x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$1,354,800 reserve inside use of funds is sized against a modeled cash trough of $826,964 at month 12.</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3.48x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4.01x at 9.5%, 3.86x at 10.5%, 3.73x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Surgeon (plastic or facial plastic) · Principal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Operative cases, patient selection, surgical QA. Bills professional fees directly, not facility payroll.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Surgical Tech, Circulator and Monitoring RN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 setup, sterile field, sedation monitoring, PACU, instrument processing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Therapeutic medications,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170432"/>
          <a:ext cx="8138160" cy="914400"/>
        </p:xfrm>
        <a:graphic>
          <a:graphicData uri="http://schemas.openxmlformats.org/drawingml/2006/table">
            <a:tbl>
              <a:tblPr/>
              <a:tblGrid>
                <a:gridCol w="2743200"/>
                <a:gridCol w="5394960"/>
              </a:tblGrid>
              <a:tr h="27432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Risk</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Mitigation</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Membership fills slower than modeled.</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 redeem more than their fees cover.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key clinical seat turns over during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asset is the facility, not any one clinician. The club layer, recovery floor and infusion suite run on materially less scarce staffing than the injectable and prescribing lines, so a temporary gap narrows the offering without closing the building. A licensed, equipped facility can credential a replacement. Clinical compensation carries retention terms through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An adverse surgical event, or an accreditation lapse.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sedation ceiling and two-hour recovery cap exclude every general-anesthesia procedure and its acuity. Patient-selection criteria, a written transfer agreement with a nearby acute-care facility, and a standing QA program sit behind that.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Operating room utilization comes in below plan.</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facility bills for the room, not for a particular surgeon, so this is not one person’s key-person exposure, further credentialed principals can be added without changing the model. Facility fees are roughly a tenth of revenue and the OR runs at 61% of practical capacity, so coverage holds above 1.25x on the wellness business alone.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Rates move against us before close.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national brand opens nearby.</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defensible asset is the licensed facility, not the sauna. Adding injectables, infusions and physician oversight is not a product decision for a recovery studio: it means becoming a licensed medical facility, with the staffing, supervision, malpractice and accreditation that implies.</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Wet-area construction overruns.</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14400"/>
          </a:xfrm>
          <a:prstGeom prst="rect">
            <a:avLst/>
          </a:prstGeom>
          <a:noFill/>
          <a:ln/>
        </p:spPr>
        <p:txBody>
          <a:bodyPr wrap="square" rtlCol="0" anchor="ctr"/>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Few rooms are built to hold it, and fewer are licensed to treat you.</a:t>
            </a:r>
            <a:endParaRPr lang="en-US" sz="2400" dirty="0"/>
          </a:p>
        </p:txBody>
      </p:sp>
      <p:sp>
        <p:nvSpPr>
          <p:cNvPr id="5" name="Text 3"/>
          <p:cNvSpPr/>
          <p:nvPr/>
        </p:nvSpPr>
        <p:spPr>
          <a:xfrm>
            <a:off x="502920" y="269748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Surgical · $2.0M private case  ·  $5.3M project  ·  5,825 SF  ·  4.01x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Text 1"/>
          <p:cNvSpPr/>
          <p:nvPr/>
        </p:nvSpPr>
        <p:spPr>
          <a:xfrm>
            <a:off x="502920" y="1417320"/>
            <a:ext cx="8138160" cy="219456"/>
          </a:xfrm>
          <a:prstGeom prst="rect">
            <a:avLst/>
          </a:prstGeom>
          <a:noFill/>
          <a:ln/>
        </p:spPr>
        <p:txBody>
          <a:bodyPr wrap="square" rtlCol="0" anchor="ctr"/>
          <a:lstStyle/>
          <a:p>
            <a:pPr indent="0" marL="0">
              <a:buNone/>
            </a:pPr>
            <a:r>
              <a:rPr lang="en-US" sz="900" spc="340" kern="0" dirty="0">
                <a:solidFill>
                  <a:srgbClr val="C08D7C"/>
                </a:solidFill>
                <a:latin typeface="Century Gothic" pitchFamily="34" charset="0"/>
                <a:ea typeface="Century Gothic" pitchFamily="34" charset="-122"/>
                <a:cs typeface="Century Gothic" pitchFamily="34" charset="-120"/>
              </a:rPr>
              <a:t>APPENDIX</a:t>
            </a:r>
            <a:endParaRPr lang="en-US" sz="900" dirty="0"/>
          </a:p>
        </p:txBody>
      </p:sp>
      <p:sp>
        <p:nvSpPr>
          <p:cNvPr id="4" name="Text 2"/>
          <p:cNvSpPr/>
          <p:nvPr/>
        </p:nvSpPr>
        <p:spPr>
          <a:xfrm>
            <a:off x="502920" y="1691640"/>
            <a:ext cx="8138160" cy="548640"/>
          </a:xfrm>
          <a:prstGeom prst="rect">
            <a:avLst/>
          </a:prstGeom>
          <a:noFill/>
          <a:ln/>
        </p:spPr>
        <p:txBody>
          <a:bodyPr wrap="square" rtlCol="0" anchor="ctr"/>
          <a:lstStyle/>
          <a:p>
            <a:pPr indent="0" marL="0">
              <a:buNone/>
            </a:pPr>
            <a:r>
              <a:rPr lang="en-US" sz="3000" dirty="0">
                <a:solidFill>
                  <a:srgbClr val="EDE6DA"/>
                </a:solidFill>
                <a:latin typeface="Century Gothic" pitchFamily="34" charset="0"/>
                <a:ea typeface="Century Gothic" pitchFamily="34" charset="-122"/>
                <a:cs typeface="Century Gothic" pitchFamily="34" charset="-120"/>
              </a:rPr>
              <a:t>How these numbers were built.</a:t>
            </a:r>
            <a:endParaRPr lang="en-US" sz="3000" dirty="0"/>
          </a:p>
        </p:txBody>
      </p:sp>
      <p:sp>
        <p:nvSpPr>
          <p:cNvPr id="5" name="Shape 3"/>
          <p:cNvSpPr/>
          <p:nvPr/>
        </p:nvSpPr>
        <p:spPr>
          <a:xfrm>
            <a:off x="502920" y="2359152"/>
            <a:ext cx="822960" cy="36576"/>
          </a:xfrm>
          <a:prstGeom prst="rect">
            <a:avLst/>
          </a:prstGeom>
          <a:solidFill>
            <a:srgbClr val="C08D7C"/>
          </a:solidFill>
          <a:ln w="12700">
            <a:solidFill>
              <a:srgbClr val="C08D7C"/>
            </a:solidFill>
            <a:prstDash val="solid"/>
          </a:ln>
        </p:spPr>
      </p:sp>
      <p:sp>
        <p:nvSpPr>
          <p:cNvPr id="6" name="Text 4"/>
          <p:cNvSpPr/>
          <p:nvPr/>
        </p:nvSpPr>
        <p:spPr>
          <a:xfrm>
            <a:off x="502920" y="2606040"/>
            <a:ext cx="6673291" cy="640080"/>
          </a:xfrm>
          <a:prstGeom prst="rect">
            <a:avLst/>
          </a:prstGeom>
          <a:noFill/>
          <a:ln/>
        </p:spPr>
        <p:txBody>
          <a:bodyPr wrap="square" rtlCol="0" anchor="ctr"/>
          <a:lstStyle/>
          <a:p>
            <a:pPr indent="0" marL="0">
              <a:lnSpc>
                <a:spcPct val="125000"/>
              </a:lnSpc>
              <a:buNone/>
            </a:pPr>
            <a:r>
              <a:rPr lang="en-US" sz="1200" dirty="0">
                <a:solidFill>
                  <a:srgbClr val="A8A296"/>
                </a:solidFill>
                <a:latin typeface="Calibri" pitchFamily="34" charset="0"/>
                <a:ea typeface="Calibri" pitchFamily="34" charset="-122"/>
                <a:cs typeface="Calibri" pitchFamily="34" charset="-120"/>
              </a:rPr>
              <a:t>Everything in this brief resolves to a stabilized P&amp;L and a use-of-funds table. The slides that follow itemise both, every overhead line broken into its components, every capital line into what it buys, and the staffing plan named role by role.</a:t>
            </a:r>
            <a:endParaRPr lang="en-US" sz="1200" dirty="0"/>
          </a:p>
        </p:txBody>
      </p:sp>
      <p:sp>
        <p:nvSpPr>
          <p:cNvPr id="7" name="Text 5"/>
          <p:cNvSpPr/>
          <p:nvPr/>
        </p:nvSpPr>
        <p:spPr>
          <a:xfrm>
            <a:off x="502920" y="3310128"/>
            <a:ext cx="6673291" cy="731520"/>
          </a:xfrm>
          <a:prstGeom prst="rect">
            <a:avLst/>
          </a:prstGeom>
          <a:noFill/>
          <a:ln/>
        </p:spPr>
        <p:txBody>
          <a:bodyPr wrap="square" rtlCol="0" anchor="ctr"/>
          <a:lstStyle/>
          <a:p>
            <a:pPr indent="0" marL="0">
              <a:lnSpc>
                <a:spcPct val="125000"/>
              </a:lnSpc>
              <a:buNone/>
            </a:pPr>
            <a:r>
              <a:rPr lang="en-US" sz="1050" dirty="0">
                <a:solidFill>
                  <a:srgbClr val="6E6A62"/>
                </a:solidFill>
                <a:latin typeface="Calibri" pitchFamily="34" charset="0"/>
                <a:ea typeface="Calibri" pitchFamily="34" charset="-122"/>
                <a:cs typeface="Calibri" pitchFamily="34" charset="-120"/>
              </a:rPr>
              <a:t>These figures are generated from the same financial model that produces the rest of the deck, so the appendix cannot disagree with the pages in front of it. Each build-up is checked at build time to sum to the total it explains. The final page shows what happens to debt service coverage if the largest assumption, rent, turns out to be wrong.</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Rent, equipment and administration.</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Fixed overhead totals $342,713 a month. Rent is 5,825 SF at $5.50/SF/month NNN.</a:t>
            </a:r>
            <a:endParaRPr lang="en-US" sz="1150" dirty="0"/>
          </a:p>
        </p:txBody>
      </p:sp>
      <p:sp>
        <p:nvSpPr>
          <p:cNvPr id="5" name="Text 3"/>
          <p:cNvSpPr/>
          <p:nvPr/>
        </p:nvSpPr>
        <p:spPr>
          <a:xfrm>
            <a:off x="502920"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EQUIPMENT LEASES</a:t>
            </a:r>
            <a:endParaRPr lang="en-US" sz="7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Ammortal chamber (1 unit)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Aescape robotic massage (1 unit) subscription</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Second red light bed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1375</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Balance of clinical and surgical equipment financed (~$900,000 @ 2.2%/mo)</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19800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$29,175</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4"/>
          <p:cNvSpPr/>
          <p:nvPr/>
        </p:nvSpPr>
        <p:spPr>
          <a:xfrm>
            <a:off x="4672584"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ADMIN AND MANAGEMENT</a:t>
            </a:r>
            <a:endParaRPr lang="en-US" sz="750" dirty="0"/>
          </a:p>
        </p:txBody>
      </p:sp>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4672584"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Bookkeeping and accounting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Legal and compliance retainer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IT and managed services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Business insurance (GL, property, cyber)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Merchant processing and banking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Recruiting, training, miscellaneous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9" name="Text 5"/>
          <p:cNvSpPr/>
          <p:nvPr/>
        </p:nvSpPr>
        <p:spPr>
          <a:xfrm>
            <a:off x="502920" y="3886200"/>
            <a:ext cx="8138160" cy="59436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One Ammortal chamber and one Aescape unit, matching the ample program this case is now built on, which is what takes this line down from $37,300. Aescape cannot be purchased, and its $10 per-massage fee sits inside that service line’s margin. The second red light bed is vendor-financed at $1,375 a month to carry 650 sessions.</a:t>
            </a:r>
            <a:endParaRPr lang="en-US" sz="8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Clinical and club staff: $165,000/month.</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club runs 14 hours a day, 7 days a week (98 hours), so one continuously staffed post is 2.45 FTE, not 1. All figures are fully loaded: base plus payroll tax, workers compensation and benefits.</a:t>
            </a:r>
            <a:endParaRPr lang="en-US" sz="11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120640"/>
                <a:gridCol w="1097280"/>
                <a:gridCol w="192024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Role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FTE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 loaded</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Founder &amp; Operator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Director (MD/DO)</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Aesthetics Injector (NP or PA)</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$14,500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Longevity Clinical Lead (NP or PA)</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Registered Nurses: IV, regenerative, recovery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$19,000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assistants / technicians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$16,500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Club General Manager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Front desk / concierge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$11,875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Club hosts / floor attendants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$11,250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Membership &amp; events coordinator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Facilities / housekeeping</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$7,375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Surgical Technologist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Circulator RN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Monitoring RN: sedation and PACU</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Sterile processing technician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$165,000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Marketing and insurance.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7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Paid digital and social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Content, photography, video</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Events and community programming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Agency / fractional marketing lead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Referral and partnership incentives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$32,000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MALPRACTICE AND LIABILITY</a:t>
            </a:r>
            <a:endParaRPr lang="en-US" sz="750" dirty="0"/>
          </a:p>
        </p:txBody>
      </p:sp>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Director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 injector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Longevity clinical lead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Nursing and surgical staff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Accredited OR facility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Entity policy and raised umbrella limits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$26,000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3840480"/>
            <a:ext cx="8138160" cy="5029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5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Utilities and compliance.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7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Utilities (electric, gas, water, OR HVAC)</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 platform and booking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EMR / charting and surgical records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Phone, internet, security monitoring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Laundry and linen service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Music, AV, miscellaneous systems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$18,500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LICENSING, COMPLIANCE AND ACCREDITATION</a:t>
            </a:r>
            <a:endParaRPr lang="en-US" sz="75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licenses and DEA</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Business licenses and permits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CLIA waiver / lab</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Compliance and policy management</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Continuing education and training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Biohazard and sharps disposal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Quad A accreditation maintenance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QA / PI programme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COST OF GOODS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the margins pay for.</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Cost of goods runs $199,412 a month against $731,666 of revenue, a blended 72.7% margin.</a:t>
            </a:r>
            <a:endParaRPr lang="en-US" sz="11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822960"/>
                <a:gridCol w="557784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Category</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Margin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What the cost side is</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80–82%</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Consumables, filters and water treatment, linens, device servicing contracts. Almost no per-session variable cost, which is why these margins are the highest in the building.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60–72%</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Draw kits, separation tubes and centrifuge consumables, needles and sharps, topical anaesthetic. Cost per case is close to fixed, so the margin spread across the six lines is a pricing decision rather than a cost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Regenerative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56–78%</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IV bags and tubing, vitamins, glutathione and NAD+ compound, pharmacy cost on prescribed therapeutics. The widest band in the book: NAD+ carries the compound cost and the hydration drips carry almost none.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65–75%</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Neuromodulator and filler units at acquisition cost, RF microneedling tips, laser consumables, topicals. Filler is the thinnest because product cost dominates a single syringe.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65–77%</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Reference lab send-out fees, DEXA consumables, DNA and DUTCH collection kits, interpretation time. DEXA sits at the top because the scanner is owned and the marginal cost of a scan is small.</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facility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78–80%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Disposables, implants, drugs and linens, instrument reprocessing. Clinical staff sits in fixed overhead and the surgeon takes no share of the facility fee, which is why these exceed the treatment-room lines.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full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73–76%</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As above, plus graft handling and technician time on hair restoration and laser consumables on ablative resurfacing.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069080"/>
            <a:ext cx="8138160" cy="365760"/>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Circuit consumables (towels, laundry, water and amenities) are carried separately at $8 a visit across 2,345 monthly visits, or $18,760.</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itemised capital lines.</a:t>
            </a:r>
            <a:endParaRPr lang="en-US" sz="2600" dirty="0"/>
          </a:p>
        </p:txBody>
      </p:sp>
      <p:sp>
        <p:nvSpPr>
          <p:cNvPr id="4" name="Text 2"/>
          <p:cNvSpPr/>
          <p:nvPr/>
        </p:nvSpPr>
        <p:spPr>
          <a:xfrm>
            <a:off x="502920"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WET AREAS</a:t>
            </a:r>
            <a:endParaRPr lang="en-US" sz="7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Saunas (2), cedar, heaters, controls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Cold plunges (2), chillers, filtration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Steam room and generator</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Waterproofing, drainage, floor slopes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Dedicated ventilation and dehumidification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Tile, benching, finishes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RECOVERY TECHNOLOGY</a:t>
            </a:r>
            <a:endParaRPr lang="en-US" sz="750" dirty="0"/>
          </a:p>
        </p:txBody>
      </p:sp>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4672584"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 chamber, purchased</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 ($159,500 list), 10% finance deposit</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 (1 unit), subscription only</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a:t>
            </a:r>
            <a:endParaRPr lang="en-US" sz="26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Buildout and tenant improvements (4,925 SF clinic and…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$1,231,250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Square footage × $250/SF for clinic and club space.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Surgical suite buildout (900 SF @ $320/SF, OR-grade…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$288,000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900 SF × $320/SF for OR-grade construction.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gas, emergency power, life-safety branch for…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gas plus emergency power and life-safety branch for the suite.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 areas: 2 saunas, 2 plunges, steam, drainage…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Itemised below. Wet construction is the highest-variance line in the whole buildout: waterproofing failures…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and aesthetic equipment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medical and aesthetic package. Excludes bone densitometry, which is itemised on…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Surgical capital equipment (balance leased)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surgical package; the balance is leased.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technology: HBOT purchased, Ammortal deposit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Only the hyperbaric chamber is bought outright. The Ammortal chamber is financed, so the capital cost is…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36</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 (2 of 2).</a:t>
            </a:r>
            <a:endParaRPr lang="en-US" sz="26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GE iDXA bone densitometer,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GE Lunar iDXA bone densitometer, bought outright rather than leased, plus the 125 SF room it occupies.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FF&amp;E, lounge, millwork, retail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Furniture, lounge fit-out, millwork and retail fixtures.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Pre-opening: licensing, legal, insurance, hiring…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Licensing, legal, insurance binders, recruiting and pre-opening payroll.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Accreditation: Quad A survey, policies, QA/PI…</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Quad A survey fees, policy and procedure development, QA/PI programme, staff training.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Brand, launch, founding member campaign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Identity, site, photography, launch campaign and the founding member drive.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Working capital and debt service reserve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$1,354,800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Sized against the modelled cash trough, not set to a round number.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 project cost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$5,300,000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35</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rent is wrong, what happens.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Rent is the largest single assumption in the model and the easiest to check. Everything else is held constant.</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Rent $/SF/month NNN</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 rent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/mo</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Annual</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$5.50  (modelled)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$32,038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$189,541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$2,274,497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4.01x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$34,950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$186,629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$2,239,547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3.95x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$37,863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$183,716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$2,204,597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3.89x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$40,775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$180,804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$2,169,647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3.82x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361188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Coverage against the 1.25x underwriting convention. The modelled rate is the more aggressive of the figures shown; a broker letter or signed lease would replace this assumption with a fact.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37</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Investor and SBA Brief</dc:subject>
  <dc:creator>LK Wellness</dc:creator>
  <cp:lastModifiedBy>LK Wellness</cp:lastModifiedBy>
  <cp:revision>1</cp:revision>
  <dcterms:created xsi:type="dcterms:W3CDTF">2026-08-17T08:17:38Z</dcterms:created>
  <dcterms:modified xsi:type="dcterms:W3CDTF">2026-08-17T08:17:38Z</dcterms:modified>
</cp:coreProperties>
</file>