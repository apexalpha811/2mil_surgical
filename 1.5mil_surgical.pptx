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5,825 SF   ·   Est. 2026   ·   Surgical · $1.5M private case, $5.3M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 Only a licensed facility can deliver it.</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 and PACU (3 monitored bays)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supply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Soiled utility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5,825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87%</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439 procedures against 507 practical capacity, leaving 68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$15,680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$17,784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$20,064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$15,513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$111,401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$652,371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-$41,830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$481,041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$731,666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12.</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861726"/>
            <a:ext cx="8138160" cy="10973"/>
          </a:xfrm>
          <a:prstGeom prst="rect">
            <a:avLst/>
          </a:prstGeom>
          <a:solidFill>
            <a:srgbClr val="2E4237"/>
          </a:solidFill>
          <a:ln w="12700">
            <a:solidFill>
              <a:srgbClr val="2E4237"/>
            </a:solidFill>
            <a:prstDash val="solid"/>
          </a:ln>
        </p:spPr>
      </p:sp>
      <p:sp>
        <p:nvSpPr>
          <p:cNvPr id="7" name="Shape 5"/>
          <p:cNvSpPr/>
          <p:nvPr/>
        </p:nvSpPr>
        <p:spPr>
          <a:xfrm>
            <a:off x="539090" y="2861726"/>
            <a:ext cx="153721" cy="815703"/>
          </a:xfrm>
          <a:prstGeom prst="rect">
            <a:avLst/>
          </a:prstGeom>
          <a:solidFill>
            <a:srgbClr val="2E4237"/>
          </a:solidFill>
          <a:ln w="12700">
            <a:solidFill>
              <a:srgbClr val="2E4237"/>
            </a:solidFill>
            <a:prstDash val="solid"/>
          </a:ln>
        </p:spPr>
      </p:sp>
      <p:sp>
        <p:nvSpPr>
          <p:cNvPr id="8" name="Shape 6"/>
          <p:cNvSpPr/>
          <p:nvPr/>
        </p:nvSpPr>
        <p:spPr>
          <a:xfrm>
            <a:off x="765150" y="2861726"/>
            <a:ext cx="153721" cy="815703"/>
          </a:xfrm>
          <a:prstGeom prst="rect">
            <a:avLst/>
          </a:prstGeom>
          <a:solidFill>
            <a:srgbClr val="2E4237"/>
          </a:solidFill>
          <a:ln w="12700">
            <a:solidFill>
              <a:srgbClr val="2E4237"/>
            </a:solidFill>
            <a:prstDash val="solid"/>
          </a:ln>
        </p:spPr>
      </p:sp>
      <p:sp>
        <p:nvSpPr>
          <p:cNvPr id="9" name="Shape 7"/>
          <p:cNvSpPr/>
          <p:nvPr/>
        </p:nvSpPr>
        <p:spPr>
          <a:xfrm>
            <a:off x="991210" y="2861726"/>
            <a:ext cx="153721" cy="815703"/>
          </a:xfrm>
          <a:prstGeom prst="rect">
            <a:avLst/>
          </a:prstGeom>
          <a:solidFill>
            <a:srgbClr val="2E4237"/>
          </a:solidFill>
          <a:ln w="12700">
            <a:solidFill>
              <a:srgbClr val="2E4237"/>
            </a:solidFill>
            <a:prstDash val="solid"/>
          </a:ln>
        </p:spPr>
      </p:sp>
      <p:sp>
        <p:nvSpPr>
          <p:cNvPr id="10" name="Shape 8"/>
          <p:cNvSpPr/>
          <p:nvPr/>
        </p:nvSpPr>
        <p:spPr>
          <a:xfrm>
            <a:off x="1217270" y="2861726"/>
            <a:ext cx="153721" cy="815703"/>
          </a:xfrm>
          <a:prstGeom prst="rect">
            <a:avLst/>
          </a:prstGeom>
          <a:solidFill>
            <a:srgbClr val="2E4237"/>
          </a:solidFill>
          <a:ln w="12700">
            <a:solidFill>
              <a:srgbClr val="2E4237"/>
            </a:solidFill>
            <a:prstDash val="solid"/>
          </a:ln>
        </p:spPr>
      </p:sp>
      <p:sp>
        <p:nvSpPr>
          <p:cNvPr id="11" name="Shape 9"/>
          <p:cNvSpPr/>
          <p:nvPr/>
        </p:nvSpPr>
        <p:spPr>
          <a:xfrm>
            <a:off x="1443330" y="2861726"/>
            <a:ext cx="153721" cy="815703"/>
          </a:xfrm>
          <a:prstGeom prst="rect">
            <a:avLst/>
          </a:prstGeom>
          <a:solidFill>
            <a:srgbClr val="2E4237"/>
          </a:solidFill>
          <a:ln w="12700">
            <a:solidFill>
              <a:srgbClr val="2E4237"/>
            </a:solidFill>
            <a:prstDash val="solid"/>
          </a:ln>
        </p:spPr>
      </p:sp>
      <p:sp>
        <p:nvSpPr>
          <p:cNvPr id="12" name="Shape 10"/>
          <p:cNvSpPr/>
          <p:nvPr/>
        </p:nvSpPr>
        <p:spPr>
          <a:xfrm>
            <a:off x="1669390" y="2861726"/>
            <a:ext cx="153721" cy="81570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861726"/>
            <a:ext cx="153721" cy="1088482"/>
          </a:xfrm>
          <a:prstGeom prst="rect">
            <a:avLst/>
          </a:prstGeom>
          <a:solidFill>
            <a:srgbClr val="2E4237"/>
          </a:solidFill>
          <a:ln w="12700">
            <a:solidFill>
              <a:srgbClr val="2E4237"/>
            </a:solidFill>
            <a:prstDash val="solid"/>
          </a:ln>
        </p:spPr>
      </p:sp>
      <p:sp>
        <p:nvSpPr>
          <p:cNvPr id="15" name="Shape 13"/>
          <p:cNvSpPr/>
          <p:nvPr/>
        </p:nvSpPr>
        <p:spPr>
          <a:xfrm>
            <a:off x="2121510" y="2861726"/>
            <a:ext cx="153721" cy="835112"/>
          </a:xfrm>
          <a:prstGeom prst="rect">
            <a:avLst/>
          </a:prstGeom>
          <a:solidFill>
            <a:srgbClr val="2E4237"/>
          </a:solidFill>
          <a:ln w="12700">
            <a:solidFill>
              <a:srgbClr val="2E4237"/>
            </a:solidFill>
            <a:prstDash val="solid"/>
          </a:ln>
        </p:spPr>
      </p:sp>
      <p:sp>
        <p:nvSpPr>
          <p:cNvPr id="16" name="Shape 14"/>
          <p:cNvSpPr/>
          <p:nvPr/>
        </p:nvSpPr>
        <p:spPr>
          <a:xfrm>
            <a:off x="2347570" y="2861726"/>
            <a:ext cx="153721" cy="545550"/>
          </a:xfrm>
          <a:prstGeom prst="rect">
            <a:avLst/>
          </a:prstGeom>
          <a:solidFill>
            <a:srgbClr val="2E4237"/>
          </a:solidFill>
          <a:ln w="12700">
            <a:solidFill>
              <a:srgbClr val="2E4237"/>
            </a:solidFill>
            <a:prstDash val="solid"/>
          </a:ln>
        </p:spPr>
      </p:sp>
      <p:sp>
        <p:nvSpPr>
          <p:cNvPr id="17" name="Shape 15"/>
          <p:cNvSpPr/>
          <p:nvPr/>
        </p:nvSpPr>
        <p:spPr>
          <a:xfrm>
            <a:off x="2573630" y="2861726"/>
            <a:ext cx="153721" cy="328372"/>
          </a:xfrm>
          <a:prstGeom prst="rect">
            <a:avLst/>
          </a:prstGeom>
          <a:solidFill>
            <a:srgbClr val="2E4237"/>
          </a:solidFill>
          <a:ln w="12700">
            <a:solidFill>
              <a:srgbClr val="2E4237"/>
            </a:solidFill>
            <a:prstDash val="solid"/>
          </a:ln>
        </p:spPr>
      </p:sp>
      <p:sp>
        <p:nvSpPr>
          <p:cNvPr id="18" name="Shape 16"/>
          <p:cNvSpPr/>
          <p:nvPr/>
        </p:nvSpPr>
        <p:spPr>
          <a:xfrm>
            <a:off x="2799690" y="2861726"/>
            <a:ext cx="153721" cy="111200"/>
          </a:xfrm>
          <a:prstGeom prst="rect">
            <a:avLst/>
          </a:prstGeom>
          <a:solidFill>
            <a:srgbClr val="2E4237"/>
          </a:solidFill>
          <a:ln w="12700">
            <a:solidFill>
              <a:srgbClr val="2E4237"/>
            </a:solidFill>
            <a:prstDash val="solid"/>
          </a:ln>
        </p:spPr>
      </p:sp>
      <p:sp>
        <p:nvSpPr>
          <p:cNvPr id="19" name="Shape 17"/>
          <p:cNvSpPr/>
          <p:nvPr/>
        </p:nvSpPr>
        <p:spPr>
          <a:xfrm>
            <a:off x="3025750" y="2755755"/>
            <a:ext cx="153721" cy="105971"/>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38584"/>
            <a:ext cx="153721" cy="323142"/>
          </a:xfrm>
          <a:prstGeom prst="rect">
            <a:avLst/>
          </a:prstGeom>
          <a:solidFill>
            <a:srgbClr val="C08D7C"/>
          </a:solidFill>
          <a:ln w="12700">
            <a:solidFill>
              <a:srgbClr val="C08D7C"/>
            </a:solidFill>
            <a:prstDash val="solid"/>
          </a:ln>
        </p:spPr>
      </p:sp>
      <p:sp>
        <p:nvSpPr>
          <p:cNvPr id="22" name="Shape 20"/>
          <p:cNvSpPr/>
          <p:nvPr/>
        </p:nvSpPr>
        <p:spPr>
          <a:xfrm>
            <a:off x="3477870" y="2393796"/>
            <a:ext cx="153721" cy="467930"/>
          </a:xfrm>
          <a:prstGeom prst="rect">
            <a:avLst/>
          </a:prstGeom>
          <a:solidFill>
            <a:srgbClr val="C08D7C"/>
          </a:solidFill>
          <a:ln w="12700">
            <a:solidFill>
              <a:srgbClr val="C08D7C"/>
            </a:solidFill>
            <a:prstDash val="solid"/>
          </a:ln>
        </p:spPr>
      </p:sp>
      <p:sp>
        <p:nvSpPr>
          <p:cNvPr id="23" name="Shape 21"/>
          <p:cNvSpPr/>
          <p:nvPr/>
        </p:nvSpPr>
        <p:spPr>
          <a:xfrm>
            <a:off x="3703930" y="2249015"/>
            <a:ext cx="153721" cy="612711"/>
          </a:xfrm>
          <a:prstGeom prst="rect">
            <a:avLst/>
          </a:prstGeom>
          <a:solidFill>
            <a:srgbClr val="C08D7C"/>
          </a:solidFill>
          <a:ln w="12700">
            <a:solidFill>
              <a:srgbClr val="C08D7C"/>
            </a:solidFill>
            <a:prstDash val="solid"/>
          </a:ln>
        </p:spPr>
      </p:sp>
      <p:sp>
        <p:nvSpPr>
          <p:cNvPr id="24" name="Shape 22"/>
          <p:cNvSpPr/>
          <p:nvPr/>
        </p:nvSpPr>
        <p:spPr>
          <a:xfrm>
            <a:off x="3929990" y="2104234"/>
            <a:ext cx="153721" cy="757492"/>
          </a:xfrm>
          <a:prstGeom prst="rect">
            <a:avLst/>
          </a:prstGeom>
          <a:solidFill>
            <a:srgbClr val="C08D7C"/>
          </a:solidFill>
          <a:ln w="12700">
            <a:solidFill>
              <a:srgbClr val="C08D7C"/>
            </a:solidFill>
            <a:prstDash val="solid"/>
          </a:ln>
        </p:spPr>
      </p:sp>
      <p:sp>
        <p:nvSpPr>
          <p:cNvPr id="25" name="Shape 23"/>
          <p:cNvSpPr/>
          <p:nvPr/>
        </p:nvSpPr>
        <p:spPr>
          <a:xfrm>
            <a:off x="4156050" y="1959453"/>
            <a:ext cx="153721" cy="902273"/>
          </a:xfrm>
          <a:prstGeom prst="rect">
            <a:avLst/>
          </a:prstGeom>
          <a:solidFill>
            <a:srgbClr val="C08D7C"/>
          </a:solidFill>
          <a:ln w="12700">
            <a:solidFill>
              <a:srgbClr val="C08D7C"/>
            </a:solidFill>
            <a:prstDash val="solid"/>
          </a:ln>
        </p:spPr>
      </p:sp>
      <p:sp>
        <p:nvSpPr>
          <p:cNvPr id="26" name="Shape 24"/>
          <p:cNvSpPr/>
          <p:nvPr/>
        </p:nvSpPr>
        <p:spPr>
          <a:xfrm>
            <a:off x="4382110" y="1920786"/>
            <a:ext cx="153721" cy="940940"/>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82119"/>
            <a:ext cx="153721" cy="979607"/>
          </a:xfrm>
          <a:prstGeom prst="rect">
            <a:avLst/>
          </a:prstGeom>
          <a:solidFill>
            <a:srgbClr val="C08D7C"/>
          </a:solidFill>
          <a:ln w="12700">
            <a:solidFill>
              <a:srgbClr val="C08D7C"/>
            </a:solidFill>
            <a:prstDash val="solid"/>
          </a:ln>
        </p:spPr>
      </p:sp>
      <p:sp>
        <p:nvSpPr>
          <p:cNvPr id="29" name="Shape 27"/>
          <p:cNvSpPr/>
          <p:nvPr/>
        </p:nvSpPr>
        <p:spPr>
          <a:xfrm>
            <a:off x="4834230" y="1843445"/>
            <a:ext cx="153721" cy="1018281"/>
          </a:xfrm>
          <a:prstGeom prst="rect">
            <a:avLst/>
          </a:prstGeom>
          <a:solidFill>
            <a:srgbClr val="C08D7C"/>
          </a:solidFill>
          <a:ln w="12700">
            <a:solidFill>
              <a:srgbClr val="C08D7C"/>
            </a:solidFill>
            <a:prstDash val="solid"/>
          </a:ln>
        </p:spPr>
      </p:sp>
      <p:sp>
        <p:nvSpPr>
          <p:cNvPr id="30" name="Shape 28"/>
          <p:cNvSpPr/>
          <p:nvPr/>
        </p:nvSpPr>
        <p:spPr>
          <a:xfrm>
            <a:off x="5060290" y="1804778"/>
            <a:ext cx="153721" cy="1056948"/>
          </a:xfrm>
          <a:prstGeom prst="rect">
            <a:avLst/>
          </a:prstGeom>
          <a:solidFill>
            <a:srgbClr val="C08D7C"/>
          </a:solidFill>
          <a:ln w="12700">
            <a:solidFill>
              <a:srgbClr val="C08D7C"/>
            </a:solidFill>
            <a:prstDash val="solid"/>
          </a:ln>
        </p:spPr>
      </p:sp>
      <p:sp>
        <p:nvSpPr>
          <p:cNvPr id="31" name="Shape 29"/>
          <p:cNvSpPr/>
          <p:nvPr/>
        </p:nvSpPr>
        <p:spPr>
          <a:xfrm>
            <a:off x="5286350" y="1766111"/>
            <a:ext cx="153721" cy="1095615"/>
          </a:xfrm>
          <a:prstGeom prst="rect">
            <a:avLst/>
          </a:prstGeom>
          <a:solidFill>
            <a:srgbClr val="C08D7C"/>
          </a:solidFill>
          <a:ln w="12700">
            <a:solidFill>
              <a:srgbClr val="C08D7C"/>
            </a:solidFill>
            <a:prstDash val="solid"/>
          </a:ln>
        </p:spPr>
      </p:sp>
      <p:sp>
        <p:nvSpPr>
          <p:cNvPr id="32" name="Shape 30"/>
          <p:cNvSpPr/>
          <p:nvPr/>
        </p:nvSpPr>
        <p:spPr>
          <a:xfrm>
            <a:off x="5512410" y="1740330"/>
            <a:ext cx="153721" cy="1121396"/>
          </a:xfrm>
          <a:prstGeom prst="rect">
            <a:avLst/>
          </a:prstGeom>
          <a:solidFill>
            <a:srgbClr val="C08D7C"/>
          </a:solidFill>
          <a:ln w="12700">
            <a:solidFill>
              <a:srgbClr val="C08D7C"/>
            </a:solidFill>
            <a:prstDash val="solid"/>
          </a:ln>
        </p:spPr>
      </p:sp>
      <p:sp>
        <p:nvSpPr>
          <p:cNvPr id="33" name="Shape 31"/>
          <p:cNvSpPr/>
          <p:nvPr/>
        </p:nvSpPr>
        <p:spPr>
          <a:xfrm>
            <a:off x="5738470" y="1714550"/>
            <a:ext cx="153721" cy="1147176"/>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88770"/>
            <a:ext cx="153721" cy="1172957"/>
          </a:xfrm>
          <a:prstGeom prst="rect">
            <a:avLst/>
          </a:prstGeom>
          <a:solidFill>
            <a:srgbClr val="C08D7C"/>
          </a:solidFill>
          <a:ln w="12700">
            <a:solidFill>
              <a:srgbClr val="C08D7C"/>
            </a:solidFill>
            <a:prstDash val="solid"/>
          </a:ln>
        </p:spPr>
      </p:sp>
      <p:sp>
        <p:nvSpPr>
          <p:cNvPr id="36" name="Shape 34"/>
          <p:cNvSpPr/>
          <p:nvPr/>
        </p:nvSpPr>
        <p:spPr>
          <a:xfrm>
            <a:off x="6190590" y="1662989"/>
            <a:ext cx="153721" cy="1198737"/>
          </a:xfrm>
          <a:prstGeom prst="rect">
            <a:avLst/>
          </a:prstGeom>
          <a:solidFill>
            <a:srgbClr val="C08D7C"/>
          </a:solidFill>
          <a:ln w="12700">
            <a:solidFill>
              <a:srgbClr val="C08D7C"/>
            </a:solidFill>
            <a:prstDash val="solid"/>
          </a:ln>
        </p:spPr>
      </p:sp>
      <p:sp>
        <p:nvSpPr>
          <p:cNvPr id="37" name="Shape 35"/>
          <p:cNvSpPr/>
          <p:nvPr/>
        </p:nvSpPr>
        <p:spPr>
          <a:xfrm>
            <a:off x="6416650" y="1650102"/>
            <a:ext cx="153721" cy="1211624"/>
          </a:xfrm>
          <a:prstGeom prst="rect">
            <a:avLst/>
          </a:prstGeom>
          <a:solidFill>
            <a:srgbClr val="C08D7C"/>
          </a:solidFill>
          <a:ln w="12700">
            <a:solidFill>
              <a:srgbClr val="C08D7C"/>
            </a:solidFill>
            <a:prstDash val="solid"/>
          </a:ln>
        </p:spPr>
      </p:sp>
      <p:sp>
        <p:nvSpPr>
          <p:cNvPr id="38" name="Shape 36"/>
          <p:cNvSpPr/>
          <p:nvPr/>
        </p:nvSpPr>
        <p:spPr>
          <a:xfrm>
            <a:off x="6642710" y="1624322"/>
            <a:ext cx="153721" cy="1237404"/>
          </a:xfrm>
          <a:prstGeom prst="rect">
            <a:avLst/>
          </a:prstGeom>
          <a:solidFill>
            <a:srgbClr val="C08D7C"/>
          </a:solidFill>
          <a:ln w="12700">
            <a:solidFill>
              <a:srgbClr val="C08D7C"/>
            </a:solidFill>
            <a:prstDash val="solid"/>
          </a:ln>
        </p:spPr>
      </p:sp>
      <p:sp>
        <p:nvSpPr>
          <p:cNvPr id="39" name="Shape 37"/>
          <p:cNvSpPr/>
          <p:nvPr/>
        </p:nvSpPr>
        <p:spPr>
          <a:xfrm>
            <a:off x="6868770" y="1611435"/>
            <a:ext cx="153721" cy="1250291"/>
          </a:xfrm>
          <a:prstGeom prst="rect">
            <a:avLst/>
          </a:prstGeom>
          <a:solidFill>
            <a:srgbClr val="C08D7C"/>
          </a:solidFill>
          <a:ln w="12700">
            <a:solidFill>
              <a:srgbClr val="C08D7C"/>
            </a:solidFill>
            <a:prstDash val="solid"/>
          </a:ln>
        </p:spPr>
      </p:sp>
      <p:sp>
        <p:nvSpPr>
          <p:cNvPr id="40" name="Shape 38"/>
          <p:cNvSpPr/>
          <p:nvPr/>
        </p:nvSpPr>
        <p:spPr>
          <a:xfrm>
            <a:off x="7094830" y="1598542"/>
            <a:ext cx="153721" cy="126318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5655"/>
            <a:ext cx="153721" cy="1276071"/>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288958"/>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288958"/>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288958"/>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288958"/>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288958"/>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$189,541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$-160,061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-$862,589 at month 12, against a $1,354,800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$731,666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-$180,652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$532,254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-$342,713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$189,541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$0.49M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$526,800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$383,223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$40,510</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0.74x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$2.27M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$731,666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$532,254</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$189,541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3.48x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$4.06M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$936,533</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$681,285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$338,573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6.22x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$3.8M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$5.3M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28%</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$3,800,000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3.48x.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$5.3M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$862,589 at month 12,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$1,354,800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$5,300,000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$5,300,000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$3,800,000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$30,083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$54,439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$1,354,800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-$1,131,837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$270,750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$1,532,775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$507,132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3.02x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$2,213,843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$653,268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3.39x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$653,266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3.48x at 9.5%   ·   3.36x at 10.5%   ·   3.24x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$1,354,800 reserve inside use of funds is sized against a modeled cash trough of $862,589 at month 12.</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3.02x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3.48x at 9.5%, 3.36x at 10.5%, 3.24x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built to hold it, and fewer are licensed to treat you.</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$1.5M private case  ·  $5.3M project  ·  5,825 SF  ·  3.48x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rent, turns out to be wrong.</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$342,713 a month. Rent is 5,825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(98 hours), so one continuously staffed post is 2.45 FTE, not 1. All figures are fully loaded: base plus payroll tax, workers compensation and benefits.</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$199,412 a month against $731,666 of revenue, a blended 72.7% margin.</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 (2 of 2).</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$1,354,800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$5,300,000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$189,541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$34,950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$186,629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$2,239,547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$37,863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$183,716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$2,204,597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$180,804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$2,169,647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2026-08-17T08:17:38Z</dcterms:created>
  <dcterms:modified xsi:type="dcterms:W3CDTF">2026-08-17T08:17:38Z</dcterms:modified>
</cp:coreProperties>
</file>