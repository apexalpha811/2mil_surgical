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6,700 SF   ·   Est. 2026   ·   Surgical · $1.5M private case, $5.55M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  ·  Blepharoplasty (facility fee)  ·  Facial Contouring Surgery (facility fee)  ·  Awake Liposuction &amp; Body Contouring (facility fee)  ·  Fat Grafting &amp; Transfer (facility fee)  ·  Hair Restoration Surgery  ·  Office Surgical Procedures  ·  Ablative Laser &amp; Skin Tightening</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6,700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6309360"/>
                <a:gridCol w="1828800"/>
              </a:tblGrid>
              <a:tr h="16916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Arrival, concierge, retail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Lounge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Contrast suite (2 saunas, 2 plunges)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floor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and regenerative lounge (8 chairs)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Treatment rooms (3)</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 and consult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Operating room</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 and PACU (3 monitored bays)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220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processing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Sterile supply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Soiled utility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Locker, shower, changing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Staff, MEP, storage, circulation</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1,150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69164">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6,700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6,700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59%</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300 procedures against 507 practical capacity, leaving 207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$564,480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-$34,798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$400,182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$650,807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9319"/>
            <a:ext cx="8138160" cy="10973"/>
          </a:xfrm>
          <a:prstGeom prst="rect">
            <a:avLst/>
          </a:prstGeom>
          <a:solidFill>
            <a:srgbClr val="2E4237"/>
          </a:solidFill>
          <a:ln w="12700">
            <a:solidFill>
              <a:srgbClr val="2E4237"/>
            </a:solidFill>
            <a:prstDash val="solid"/>
          </a:ln>
        </p:spPr>
      </p:sp>
      <p:sp>
        <p:nvSpPr>
          <p:cNvPr id="7" name="Shape 5"/>
          <p:cNvSpPr/>
          <p:nvPr/>
        </p:nvSpPr>
        <p:spPr>
          <a:xfrm>
            <a:off x="539090" y="2569319"/>
            <a:ext cx="153721" cy="973870"/>
          </a:xfrm>
          <a:prstGeom prst="rect">
            <a:avLst/>
          </a:prstGeom>
          <a:solidFill>
            <a:srgbClr val="2E4237"/>
          </a:solidFill>
          <a:ln w="12700">
            <a:solidFill>
              <a:srgbClr val="2E4237"/>
            </a:solidFill>
            <a:prstDash val="solid"/>
          </a:ln>
        </p:spPr>
      </p:sp>
      <p:sp>
        <p:nvSpPr>
          <p:cNvPr id="8" name="Shape 6"/>
          <p:cNvSpPr/>
          <p:nvPr/>
        </p:nvSpPr>
        <p:spPr>
          <a:xfrm>
            <a:off x="765150" y="2569319"/>
            <a:ext cx="153721" cy="973870"/>
          </a:xfrm>
          <a:prstGeom prst="rect">
            <a:avLst/>
          </a:prstGeom>
          <a:solidFill>
            <a:srgbClr val="2E4237"/>
          </a:solidFill>
          <a:ln w="12700">
            <a:solidFill>
              <a:srgbClr val="2E4237"/>
            </a:solidFill>
            <a:prstDash val="solid"/>
          </a:ln>
        </p:spPr>
      </p:sp>
      <p:sp>
        <p:nvSpPr>
          <p:cNvPr id="9" name="Shape 7"/>
          <p:cNvSpPr/>
          <p:nvPr/>
        </p:nvSpPr>
        <p:spPr>
          <a:xfrm>
            <a:off x="991210" y="2569319"/>
            <a:ext cx="153721" cy="973870"/>
          </a:xfrm>
          <a:prstGeom prst="rect">
            <a:avLst/>
          </a:prstGeom>
          <a:solidFill>
            <a:srgbClr val="2E4237"/>
          </a:solidFill>
          <a:ln w="12700">
            <a:solidFill>
              <a:srgbClr val="2E4237"/>
            </a:solidFill>
            <a:prstDash val="solid"/>
          </a:ln>
        </p:spPr>
      </p:sp>
      <p:sp>
        <p:nvSpPr>
          <p:cNvPr id="10" name="Shape 8"/>
          <p:cNvSpPr/>
          <p:nvPr/>
        </p:nvSpPr>
        <p:spPr>
          <a:xfrm>
            <a:off x="1217270" y="2569319"/>
            <a:ext cx="153721" cy="973870"/>
          </a:xfrm>
          <a:prstGeom prst="rect">
            <a:avLst/>
          </a:prstGeom>
          <a:solidFill>
            <a:srgbClr val="2E4237"/>
          </a:solidFill>
          <a:ln w="12700">
            <a:solidFill>
              <a:srgbClr val="2E4237"/>
            </a:solidFill>
            <a:prstDash val="solid"/>
          </a:ln>
        </p:spPr>
      </p:sp>
      <p:sp>
        <p:nvSpPr>
          <p:cNvPr id="11" name="Shape 9"/>
          <p:cNvSpPr/>
          <p:nvPr/>
        </p:nvSpPr>
        <p:spPr>
          <a:xfrm>
            <a:off x="1443330" y="2569319"/>
            <a:ext cx="153721" cy="973870"/>
          </a:xfrm>
          <a:prstGeom prst="rect">
            <a:avLst/>
          </a:prstGeom>
          <a:solidFill>
            <a:srgbClr val="2E4237"/>
          </a:solidFill>
          <a:ln w="12700">
            <a:solidFill>
              <a:srgbClr val="2E4237"/>
            </a:solidFill>
            <a:prstDash val="solid"/>
          </a:ln>
        </p:spPr>
      </p:sp>
      <p:sp>
        <p:nvSpPr>
          <p:cNvPr id="12" name="Shape 10"/>
          <p:cNvSpPr/>
          <p:nvPr/>
        </p:nvSpPr>
        <p:spPr>
          <a:xfrm>
            <a:off x="1669390" y="2569319"/>
            <a:ext cx="153721" cy="973870"/>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9319"/>
            <a:ext cx="153721" cy="1380889"/>
          </a:xfrm>
          <a:prstGeom prst="rect">
            <a:avLst/>
          </a:prstGeom>
          <a:solidFill>
            <a:srgbClr val="2E4237"/>
          </a:solidFill>
          <a:ln w="12700">
            <a:solidFill>
              <a:srgbClr val="2E4237"/>
            </a:solidFill>
            <a:prstDash val="solid"/>
          </a:ln>
        </p:spPr>
      </p:sp>
      <p:sp>
        <p:nvSpPr>
          <p:cNvPr id="15" name="Shape 13"/>
          <p:cNvSpPr/>
          <p:nvPr/>
        </p:nvSpPr>
        <p:spPr>
          <a:xfrm>
            <a:off x="2121510" y="2569319"/>
            <a:ext cx="153721" cy="1116355"/>
          </a:xfrm>
          <a:prstGeom prst="rect">
            <a:avLst/>
          </a:prstGeom>
          <a:solidFill>
            <a:srgbClr val="2E4237"/>
          </a:solidFill>
          <a:ln w="12700">
            <a:solidFill>
              <a:srgbClr val="2E4237"/>
            </a:solidFill>
            <a:prstDash val="solid"/>
          </a:ln>
        </p:spPr>
      </p:sp>
      <p:sp>
        <p:nvSpPr>
          <p:cNvPr id="16" name="Shape 14"/>
          <p:cNvSpPr/>
          <p:nvPr/>
        </p:nvSpPr>
        <p:spPr>
          <a:xfrm>
            <a:off x="2347570" y="2569319"/>
            <a:ext cx="153721" cy="814032"/>
          </a:xfrm>
          <a:prstGeom prst="rect">
            <a:avLst/>
          </a:prstGeom>
          <a:solidFill>
            <a:srgbClr val="2E4237"/>
          </a:solidFill>
          <a:ln w="12700">
            <a:solidFill>
              <a:srgbClr val="2E4237"/>
            </a:solidFill>
            <a:prstDash val="solid"/>
          </a:ln>
        </p:spPr>
      </p:sp>
      <p:sp>
        <p:nvSpPr>
          <p:cNvPr id="17" name="Shape 15"/>
          <p:cNvSpPr/>
          <p:nvPr/>
        </p:nvSpPr>
        <p:spPr>
          <a:xfrm>
            <a:off x="2573630" y="2569319"/>
            <a:ext cx="153721" cy="587293"/>
          </a:xfrm>
          <a:prstGeom prst="rect">
            <a:avLst/>
          </a:prstGeom>
          <a:solidFill>
            <a:srgbClr val="2E4237"/>
          </a:solidFill>
          <a:ln w="12700">
            <a:solidFill>
              <a:srgbClr val="2E4237"/>
            </a:solidFill>
            <a:prstDash val="solid"/>
          </a:ln>
        </p:spPr>
      </p:sp>
      <p:sp>
        <p:nvSpPr>
          <p:cNvPr id="18" name="Shape 16"/>
          <p:cNvSpPr/>
          <p:nvPr/>
        </p:nvSpPr>
        <p:spPr>
          <a:xfrm>
            <a:off x="2799690" y="2569319"/>
            <a:ext cx="153721" cy="360547"/>
          </a:xfrm>
          <a:prstGeom prst="rect">
            <a:avLst/>
          </a:prstGeom>
          <a:solidFill>
            <a:srgbClr val="2E4237"/>
          </a:solidFill>
          <a:ln w="12700">
            <a:solidFill>
              <a:srgbClr val="2E4237"/>
            </a:solidFill>
            <a:prstDash val="solid"/>
          </a:ln>
        </p:spPr>
      </p:sp>
      <p:sp>
        <p:nvSpPr>
          <p:cNvPr id="19" name="Shape 17"/>
          <p:cNvSpPr/>
          <p:nvPr/>
        </p:nvSpPr>
        <p:spPr>
          <a:xfrm>
            <a:off x="3025750" y="2569319"/>
            <a:ext cx="153721" cy="133809"/>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6381"/>
            <a:ext cx="153721" cy="92938"/>
          </a:xfrm>
          <a:prstGeom prst="rect">
            <a:avLst/>
          </a:prstGeom>
          <a:solidFill>
            <a:srgbClr val="C08D7C"/>
          </a:solidFill>
          <a:ln w="12700">
            <a:solidFill>
              <a:srgbClr val="C08D7C"/>
            </a:solidFill>
            <a:prstDash val="solid"/>
          </a:ln>
        </p:spPr>
      </p:sp>
      <p:sp>
        <p:nvSpPr>
          <p:cNvPr id="22" name="Shape 20"/>
          <p:cNvSpPr/>
          <p:nvPr/>
        </p:nvSpPr>
        <p:spPr>
          <a:xfrm>
            <a:off x="3477870" y="2325219"/>
            <a:ext cx="153721" cy="244099"/>
          </a:xfrm>
          <a:prstGeom prst="rect">
            <a:avLst/>
          </a:prstGeom>
          <a:solidFill>
            <a:srgbClr val="C08D7C"/>
          </a:solidFill>
          <a:ln w="12700">
            <a:solidFill>
              <a:srgbClr val="C08D7C"/>
            </a:solidFill>
            <a:prstDash val="solid"/>
          </a:ln>
        </p:spPr>
      </p:sp>
      <p:sp>
        <p:nvSpPr>
          <p:cNvPr id="23" name="Shape 21"/>
          <p:cNvSpPr/>
          <p:nvPr/>
        </p:nvSpPr>
        <p:spPr>
          <a:xfrm>
            <a:off x="3703930" y="2174058"/>
            <a:ext cx="153721" cy="395261"/>
          </a:xfrm>
          <a:prstGeom prst="rect">
            <a:avLst/>
          </a:prstGeom>
          <a:solidFill>
            <a:srgbClr val="C08D7C"/>
          </a:solidFill>
          <a:ln w="12700">
            <a:solidFill>
              <a:srgbClr val="C08D7C"/>
            </a:solidFill>
            <a:prstDash val="solid"/>
          </a:ln>
        </p:spPr>
      </p:sp>
      <p:sp>
        <p:nvSpPr>
          <p:cNvPr id="24" name="Shape 22"/>
          <p:cNvSpPr/>
          <p:nvPr/>
        </p:nvSpPr>
        <p:spPr>
          <a:xfrm>
            <a:off x="3929990" y="2022896"/>
            <a:ext cx="153721" cy="546422"/>
          </a:xfrm>
          <a:prstGeom prst="rect">
            <a:avLst/>
          </a:prstGeom>
          <a:solidFill>
            <a:srgbClr val="C08D7C"/>
          </a:solidFill>
          <a:ln w="12700">
            <a:solidFill>
              <a:srgbClr val="C08D7C"/>
            </a:solidFill>
            <a:prstDash val="solid"/>
          </a:ln>
        </p:spPr>
      </p:sp>
      <p:sp>
        <p:nvSpPr>
          <p:cNvPr id="25" name="Shape 23"/>
          <p:cNvSpPr/>
          <p:nvPr/>
        </p:nvSpPr>
        <p:spPr>
          <a:xfrm>
            <a:off x="4156050" y="1871735"/>
            <a:ext cx="153721" cy="697584"/>
          </a:xfrm>
          <a:prstGeom prst="rect">
            <a:avLst/>
          </a:prstGeom>
          <a:solidFill>
            <a:srgbClr val="C08D7C"/>
          </a:solidFill>
          <a:ln w="12700">
            <a:solidFill>
              <a:srgbClr val="C08D7C"/>
            </a:solidFill>
            <a:prstDash val="solid"/>
          </a:ln>
        </p:spPr>
      </p:sp>
      <p:sp>
        <p:nvSpPr>
          <p:cNvPr id="26" name="Shape 24"/>
          <p:cNvSpPr/>
          <p:nvPr/>
        </p:nvSpPr>
        <p:spPr>
          <a:xfrm>
            <a:off x="4382110" y="1841840"/>
            <a:ext cx="153721" cy="72747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1938"/>
            <a:ext cx="153721" cy="757380"/>
          </a:xfrm>
          <a:prstGeom prst="rect">
            <a:avLst/>
          </a:prstGeom>
          <a:solidFill>
            <a:srgbClr val="C08D7C"/>
          </a:solidFill>
          <a:ln w="12700">
            <a:solidFill>
              <a:srgbClr val="C08D7C"/>
            </a:solidFill>
            <a:prstDash val="solid"/>
          </a:ln>
        </p:spPr>
      </p:sp>
      <p:sp>
        <p:nvSpPr>
          <p:cNvPr id="29" name="Shape 27"/>
          <p:cNvSpPr/>
          <p:nvPr/>
        </p:nvSpPr>
        <p:spPr>
          <a:xfrm>
            <a:off x="4834230" y="1782044"/>
            <a:ext cx="153721" cy="787275"/>
          </a:xfrm>
          <a:prstGeom prst="rect">
            <a:avLst/>
          </a:prstGeom>
          <a:solidFill>
            <a:srgbClr val="C08D7C"/>
          </a:solidFill>
          <a:ln w="12700">
            <a:solidFill>
              <a:srgbClr val="C08D7C"/>
            </a:solidFill>
            <a:prstDash val="solid"/>
          </a:ln>
        </p:spPr>
      </p:sp>
      <p:sp>
        <p:nvSpPr>
          <p:cNvPr id="30" name="Shape 28"/>
          <p:cNvSpPr/>
          <p:nvPr/>
        </p:nvSpPr>
        <p:spPr>
          <a:xfrm>
            <a:off x="5060290" y="1752150"/>
            <a:ext cx="153721" cy="817169"/>
          </a:xfrm>
          <a:prstGeom prst="rect">
            <a:avLst/>
          </a:prstGeom>
          <a:solidFill>
            <a:srgbClr val="C08D7C"/>
          </a:solidFill>
          <a:ln w="12700">
            <a:solidFill>
              <a:srgbClr val="C08D7C"/>
            </a:solidFill>
            <a:prstDash val="solid"/>
          </a:ln>
        </p:spPr>
      </p:sp>
      <p:sp>
        <p:nvSpPr>
          <p:cNvPr id="31" name="Shape 29"/>
          <p:cNvSpPr/>
          <p:nvPr/>
        </p:nvSpPr>
        <p:spPr>
          <a:xfrm>
            <a:off x="5286350" y="1722247"/>
            <a:ext cx="153721" cy="847071"/>
          </a:xfrm>
          <a:prstGeom prst="rect">
            <a:avLst/>
          </a:prstGeom>
          <a:solidFill>
            <a:srgbClr val="C08D7C"/>
          </a:solidFill>
          <a:ln w="12700">
            <a:solidFill>
              <a:srgbClr val="C08D7C"/>
            </a:solidFill>
            <a:prstDash val="solid"/>
          </a:ln>
        </p:spPr>
      </p:sp>
      <p:sp>
        <p:nvSpPr>
          <p:cNvPr id="32" name="Shape 30"/>
          <p:cNvSpPr/>
          <p:nvPr/>
        </p:nvSpPr>
        <p:spPr>
          <a:xfrm>
            <a:off x="5512410" y="1702321"/>
            <a:ext cx="153721" cy="866998"/>
          </a:xfrm>
          <a:prstGeom prst="rect">
            <a:avLst/>
          </a:prstGeom>
          <a:solidFill>
            <a:srgbClr val="C08D7C"/>
          </a:solidFill>
          <a:ln w="12700">
            <a:solidFill>
              <a:srgbClr val="C08D7C"/>
            </a:solidFill>
            <a:prstDash val="solid"/>
          </a:ln>
        </p:spPr>
      </p:sp>
      <p:sp>
        <p:nvSpPr>
          <p:cNvPr id="33" name="Shape 31"/>
          <p:cNvSpPr/>
          <p:nvPr/>
        </p:nvSpPr>
        <p:spPr>
          <a:xfrm>
            <a:off x="5738470" y="1682386"/>
            <a:ext cx="153721" cy="88693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2459"/>
            <a:ext cx="153721" cy="906860"/>
          </a:xfrm>
          <a:prstGeom prst="rect">
            <a:avLst/>
          </a:prstGeom>
          <a:solidFill>
            <a:srgbClr val="C08D7C"/>
          </a:solidFill>
          <a:ln w="12700">
            <a:solidFill>
              <a:srgbClr val="C08D7C"/>
            </a:solidFill>
            <a:prstDash val="solid"/>
          </a:ln>
        </p:spPr>
      </p:sp>
      <p:sp>
        <p:nvSpPr>
          <p:cNvPr id="36" name="Shape 34"/>
          <p:cNvSpPr/>
          <p:nvPr/>
        </p:nvSpPr>
        <p:spPr>
          <a:xfrm>
            <a:off x="6190590" y="1642524"/>
            <a:ext cx="153721" cy="926795"/>
          </a:xfrm>
          <a:prstGeom prst="rect">
            <a:avLst/>
          </a:prstGeom>
          <a:solidFill>
            <a:srgbClr val="C08D7C"/>
          </a:solidFill>
          <a:ln w="12700">
            <a:solidFill>
              <a:srgbClr val="C08D7C"/>
            </a:solidFill>
            <a:prstDash val="solid"/>
          </a:ln>
        </p:spPr>
      </p:sp>
      <p:sp>
        <p:nvSpPr>
          <p:cNvPr id="37" name="Shape 35"/>
          <p:cNvSpPr/>
          <p:nvPr/>
        </p:nvSpPr>
        <p:spPr>
          <a:xfrm>
            <a:off x="6416650" y="1632564"/>
            <a:ext cx="153721" cy="936754"/>
          </a:xfrm>
          <a:prstGeom prst="rect">
            <a:avLst/>
          </a:prstGeom>
          <a:solidFill>
            <a:srgbClr val="C08D7C"/>
          </a:solidFill>
          <a:ln w="12700">
            <a:solidFill>
              <a:srgbClr val="C08D7C"/>
            </a:solidFill>
            <a:prstDash val="solid"/>
          </a:ln>
        </p:spPr>
      </p:sp>
      <p:sp>
        <p:nvSpPr>
          <p:cNvPr id="38" name="Shape 36"/>
          <p:cNvSpPr/>
          <p:nvPr/>
        </p:nvSpPr>
        <p:spPr>
          <a:xfrm>
            <a:off x="6642710" y="1612630"/>
            <a:ext cx="153721" cy="956689"/>
          </a:xfrm>
          <a:prstGeom prst="rect">
            <a:avLst/>
          </a:prstGeom>
          <a:solidFill>
            <a:srgbClr val="C08D7C"/>
          </a:solidFill>
          <a:ln w="12700">
            <a:solidFill>
              <a:srgbClr val="C08D7C"/>
            </a:solidFill>
            <a:prstDash val="solid"/>
          </a:ln>
        </p:spPr>
      </p:sp>
      <p:sp>
        <p:nvSpPr>
          <p:cNvPr id="39" name="Shape 37"/>
          <p:cNvSpPr/>
          <p:nvPr/>
        </p:nvSpPr>
        <p:spPr>
          <a:xfrm>
            <a:off x="6868770" y="1602662"/>
            <a:ext cx="153721" cy="966656"/>
          </a:xfrm>
          <a:prstGeom prst="rect">
            <a:avLst/>
          </a:prstGeom>
          <a:solidFill>
            <a:srgbClr val="C08D7C"/>
          </a:solidFill>
          <a:ln w="12700">
            <a:solidFill>
              <a:srgbClr val="C08D7C"/>
            </a:solidFill>
            <a:prstDash val="solid"/>
          </a:ln>
        </p:spPr>
      </p:sp>
      <p:sp>
        <p:nvSpPr>
          <p:cNvPr id="40" name="Shape 38"/>
          <p:cNvSpPr/>
          <p:nvPr/>
        </p:nvSpPr>
        <p:spPr>
          <a:xfrm>
            <a:off x="7094830" y="1592703"/>
            <a:ext cx="153721" cy="976616"/>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735"/>
            <a:ext cx="153721" cy="98658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6551"/>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6551"/>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6551"/>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6551"/>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6551"/>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$127,376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$-176,501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-$1,077,963 at month 14, against a $1,395,000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$650,807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-$149,021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$483,026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(6,700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-$36,850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-$355,650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$127,376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$468,581</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$347,779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$-7,871</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$1.53M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$650,807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$483,026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$127,376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$3.15M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$833,032</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$618,273</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$262,623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4.53x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$4.05M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$5.55M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$4,050,000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6,700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2.20x.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$5.55M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$1,077,963 at month 14, not to a round number.</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$1,395,000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$5,550,000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(27%)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$32,063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$58,020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$1,395,000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-$1,308,352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$979,922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$540,498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1.81x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$1,487,751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$696,240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2.14x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$696,244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2.20x at 9.5%   ·   2.12x at 10.5%   ·   2.04x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$1,395,000 reserve inside use of funds is sized against a modeled cash trough of $1,077,963 at month 14.</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1.81x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2.20x at 9.5%, 2.12x at 10.5%, 2.04x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$1.5M private case  ·  $5.55M project  ·  6,700 SF  ·  2.20x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$355,650 a month. Rent is 6,700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chambers (2 units)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6500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(2 units)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$37,300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Ammortal is financed as a single facility covering both chambers: $320,000 of equipment, $32,000 down, $6,500 a month. Aescape cannot be purchased — it is $5,500 a month per unit, plus $10 for every completed massage, which is a variable cost and sits in cost of goods on that service line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 98 hours — so one continuously staffed post is 2.45 FTE, not 1. All figures are fully loaded: base plus payroll tax, workers compensation and benefits.</a:t>
            </a:r>
            <a:endParaRPr lang="en-US" sz="11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$167,781 a month against $650,807 of revenue, a blended 74.2% margin.</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(5,800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$1,395,000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$5,550,000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$36,850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$127,376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$1,528,512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$1,488,312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$1,448,112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$117,326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$1,407,912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2026-08-12T10:01:02Z</dcterms:created>
  <dcterms:modified xsi:type="dcterms:W3CDTF">2026-08-12T10:01:02Z</dcterms:modified>
</cp:coreProperties>
</file>